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3"/>
  </p:sldMasterIdLst>
  <p:notesMasterIdLst>
    <p:notesMasterId r:id="rId5"/>
  </p:notesMasterIdLst>
  <p:handoutMasterIdLst>
    <p:handoutMasterId r:id="rId27"/>
  </p:handoutMasterIdLst>
  <p:sldIdLst>
    <p:sldId id="639" r:id="rId4"/>
    <p:sldId id="773" r:id="rId6"/>
    <p:sldId id="719" r:id="rId7"/>
    <p:sldId id="777" r:id="rId8"/>
    <p:sldId id="831" r:id="rId9"/>
    <p:sldId id="832" r:id="rId10"/>
    <p:sldId id="801" r:id="rId11"/>
    <p:sldId id="833" r:id="rId12"/>
    <p:sldId id="834" r:id="rId13"/>
    <p:sldId id="835" r:id="rId14"/>
    <p:sldId id="837" r:id="rId15"/>
    <p:sldId id="838" r:id="rId16"/>
    <p:sldId id="839" r:id="rId17"/>
    <p:sldId id="836" r:id="rId18"/>
    <p:sldId id="840" r:id="rId19"/>
    <p:sldId id="841" r:id="rId20"/>
    <p:sldId id="842" r:id="rId21"/>
    <p:sldId id="843" r:id="rId22"/>
    <p:sldId id="845" r:id="rId23"/>
    <p:sldId id="846" r:id="rId24"/>
    <p:sldId id="847" r:id="rId25"/>
    <p:sldId id="848" r:id="rId26"/>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93" userDrawn="1">
          <p15:clr>
            <a:srgbClr val="A4A3A4"/>
          </p15:clr>
        </p15:guide>
        <p15:guide id="2" orient="horz" pos="2309" userDrawn="1">
          <p15:clr>
            <a:srgbClr val="A4A3A4"/>
          </p15:clr>
        </p15:guide>
        <p15:guide id="3" pos="38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9AF0"/>
    <a:srgbClr val="0D57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48" autoAdjust="0"/>
    <p:restoredTop sz="88553" autoAdjust="0"/>
  </p:normalViewPr>
  <p:slideViewPr>
    <p:cSldViewPr snapToGrid="0" showGuides="1">
      <p:cViewPr varScale="1">
        <p:scale>
          <a:sx n="98" d="100"/>
          <a:sy n="98" d="100"/>
        </p:scale>
        <p:origin x="216" y="760"/>
      </p:cViewPr>
      <p:guideLst>
        <p:guide orient="horz" pos="1793"/>
        <p:guide orient="horz" pos="2309"/>
        <p:guide pos="3888"/>
      </p:guideLst>
    </p:cSldViewPr>
  </p:slideViewPr>
  <p:notesTextViewPr>
    <p:cViewPr>
      <p:scale>
        <a:sx n="1" d="1"/>
        <a:sy n="1" d="1"/>
      </p:scale>
      <p:origin x="0" y="0"/>
    </p:cViewPr>
  </p:notesTextViewPr>
  <p:sorterViewPr>
    <p:cViewPr>
      <p:scale>
        <a:sx n="66" d="100"/>
        <a:sy n="66" d="100"/>
      </p:scale>
      <p:origin x="0" y="-1037"/>
    </p:cViewPr>
  </p:sorter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1" Type="http://schemas.openxmlformats.org/officeDocument/2006/relationships/tags" Target="tags/tag63.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1DA49E97-3F63-4B07-B443-D97F5AB94D7C}"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0176D025-9C82-4627-AC95-A731BB73F602}" type="slidenum">
              <a:rPr lang="zh-CN" altLang="en-US" smtClean="0"/>
            </a:fld>
            <a:endParaRPr lang="zh-CN" altLang="en-US" dirty="0"/>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lt"/>
              </a:rPr>
              <a:t>因此在理论层面上，为了完善传统流行病模型的部分局限性，我们需要一个</a:t>
            </a:r>
            <a:r>
              <a:rPr lang="en-US" altLang="zh-CN">
                <a:sym typeface="+mn-lt"/>
              </a:rPr>
              <a:t>...</a:t>
            </a:r>
            <a:endParaRPr lang="zh-CN" altLang="en-US">
              <a:sym typeface="+mn-lt"/>
            </a:endParaRPr>
          </a:p>
          <a:p>
            <a:pPr marL="0" lvl="1"/>
            <a:r>
              <a:rPr lang="zh-CN" altLang="en-US">
                <a:sym typeface="+mn-lt"/>
              </a:rPr>
              <a:t>并且在现实需求驱动下，需要能够帮助设计自适应稳定控制策略，应对动态变化的感染率与干预延迟；，需要找到一个更合适的随机流行病模型</a:t>
            </a:r>
            <a:endParaRPr lang="en-US" altLang="zh-CN">
              <a:sym typeface="+mn-l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lt"/>
              </a:rPr>
              <a:t>因此在理论层面上，为了完善传统流行病模型的部分局限性，我们需要一个</a:t>
            </a:r>
            <a:r>
              <a:rPr lang="en-US" altLang="zh-CN" dirty="0">
                <a:sym typeface="+mn-lt"/>
              </a:rPr>
              <a:t>...</a:t>
            </a:r>
            <a:endParaRPr lang="zh-CN" altLang="en-US" dirty="0">
              <a:sym typeface="+mn-lt"/>
            </a:endParaRPr>
          </a:p>
          <a:p>
            <a:pPr marL="0" lvl="1"/>
            <a:r>
              <a:rPr lang="zh-CN" altLang="en-US" dirty="0">
                <a:sym typeface="+mn-lt"/>
              </a:rPr>
              <a:t>并且在现实需求驱动下，需要能够帮助设计自适应稳定控制策略，应对动态变化的感染率与干预延迟；，需要找到一个更合适的随机流行病模型</a:t>
            </a:r>
            <a:endParaRPr lang="en-US" altLang="zh-CN" dirty="0">
              <a:sym typeface="+mn-lt"/>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2" name="日期占位符 3"/>
          <p:cNvSpPr>
            <a:spLocks noGrp="1"/>
          </p:cNvSpPr>
          <p:nvPr>
            <p:ph type="dt" sz="half" idx="2"/>
          </p:nvPr>
        </p:nvSpPr>
        <p:spPr>
          <a:xfrm>
            <a:off x="838200" y="6445954"/>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3" name="页脚占位符 4"/>
          <p:cNvSpPr>
            <a:spLocks noGrp="1"/>
          </p:cNvSpPr>
          <p:nvPr>
            <p:ph type="ftr" sz="quarter" idx="3"/>
          </p:nvPr>
        </p:nvSpPr>
        <p:spPr>
          <a:xfrm>
            <a:off x="4038600" y="6445954"/>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839200" y="6445954"/>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dirty="0">
                <a:latin typeface="微软雅黑" panose="020B0503020204020204" pitchFamily="34" charset="-122"/>
                <a:ea typeface="微软雅黑" panose="020B0503020204020204" pitchFamily="34" charset="-122"/>
              </a:rPr>
              <a:t>第 </a:t>
            </a:r>
            <a:fld id="{84377AA6-5F82-4755-B29C-FAB6A572A0B7}" type="slidenum">
              <a:rPr lang="zh-CN" altLang="en-US" smtClean="0">
                <a:latin typeface="微软雅黑" panose="020B0503020204020204" pitchFamily="34" charset="-122"/>
                <a:ea typeface="微软雅黑" panose="020B0503020204020204" pitchFamily="34" charset="-122"/>
              </a:rPr>
            </a:fld>
            <a:r>
              <a:rPr lang="zh-CN" altLang="en-US" dirty="0">
                <a:latin typeface="微软雅黑" panose="020B0503020204020204" pitchFamily="34" charset="-122"/>
                <a:ea typeface="微软雅黑" panose="020B0503020204020204" pitchFamily="34" charset="-122"/>
              </a:rPr>
              <a:t> 页</a:t>
            </a:r>
            <a:endParaRPr lang="zh-CN" altLang="en-US" dirty="0">
              <a:latin typeface="微软雅黑" panose="020B0503020204020204" pitchFamily="34" charset="-122"/>
              <a:ea typeface="微软雅黑" panose="020B0503020204020204" pitchFamily="34" charset="-122"/>
            </a:endParaRPr>
          </a:p>
        </p:txBody>
      </p:sp>
      <p:sp>
        <p:nvSpPr>
          <p:cNvPr id="7" name="任意多边形: 形状 6"/>
          <p:cNvSpPr/>
          <p:nvPr/>
        </p:nvSpPr>
        <p:spPr>
          <a:xfrm>
            <a:off x="0" y="126581"/>
            <a:ext cx="12192000" cy="4518319"/>
          </a:xfrm>
          <a:custGeom>
            <a:avLst/>
            <a:gdLst>
              <a:gd name="connsiteX0" fmla="*/ 0 w 12192000"/>
              <a:gd name="connsiteY0" fmla="*/ 0 h 4518319"/>
              <a:gd name="connsiteX1" fmla="*/ 12192000 w 12192000"/>
              <a:gd name="connsiteY1" fmla="*/ 0 h 4518319"/>
              <a:gd name="connsiteX2" fmla="*/ 12192000 w 12192000"/>
              <a:gd name="connsiteY2" fmla="*/ 738477 h 4518319"/>
              <a:gd name="connsiteX3" fmla="*/ 12192000 w 12192000"/>
              <a:gd name="connsiteY3" fmla="*/ 2267460 h 4518319"/>
              <a:gd name="connsiteX4" fmla="*/ 12192000 w 12192000"/>
              <a:gd name="connsiteY4" fmla="*/ 3993201 h 4518319"/>
              <a:gd name="connsiteX5" fmla="*/ 12031745 w 12192000"/>
              <a:gd name="connsiteY5" fmla="*/ 4026797 h 4518319"/>
              <a:gd name="connsiteX6" fmla="*/ 6096001 w 12192000"/>
              <a:gd name="connsiteY6" fmla="*/ 4518319 h 4518319"/>
              <a:gd name="connsiteX7" fmla="*/ 160257 w 12192000"/>
              <a:gd name="connsiteY7" fmla="*/ 4026797 h 4518319"/>
              <a:gd name="connsiteX8" fmla="*/ 0 w 12192000"/>
              <a:gd name="connsiteY8" fmla="*/ 3993201 h 4518319"/>
              <a:gd name="connsiteX9" fmla="*/ 0 w 12192000"/>
              <a:gd name="connsiteY9" fmla="*/ 2267460 h 4518319"/>
              <a:gd name="connsiteX10" fmla="*/ 0 w 12192000"/>
              <a:gd name="connsiteY10" fmla="*/ 738478 h 4518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4518319">
                <a:moveTo>
                  <a:pt x="0" y="0"/>
                </a:moveTo>
                <a:lnTo>
                  <a:pt x="12192000" y="0"/>
                </a:lnTo>
                <a:lnTo>
                  <a:pt x="12192000" y="738477"/>
                </a:lnTo>
                <a:lnTo>
                  <a:pt x="12192000" y="2267460"/>
                </a:lnTo>
                <a:lnTo>
                  <a:pt x="12192000" y="3993201"/>
                </a:lnTo>
                <a:lnTo>
                  <a:pt x="12031745" y="4026797"/>
                </a:lnTo>
                <a:cubicBezTo>
                  <a:pt x="10418700" y="4333861"/>
                  <a:pt x="8350738" y="4518319"/>
                  <a:pt x="6096001" y="4518319"/>
                </a:cubicBezTo>
                <a:cubicBezTo>
                  <a:pt x="3841265" y="4518319"/>
                  <a:pt x="1773302" y="4333861"/>
                  <a:pt x="160257" y="4026797"/>
                </a:cubicBezTo>
                <a:lnTo>
                  <a:pt x="0" y="3993201"/>
                </a:lnTo>
                <a:lnTo>
                  <a:pt x="0" y="2267460"/>
                </a:lnTo>
                <a:lnTo>
                  <a:pt x="0" y="738478"/>
                </a:lnTo>
                <a:close/>
              </a:path>
            </a:pathLst>
          </a:custGeom>
          <a:solidFill>
            <a:schemeClr val="accent2">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8" name="任意多边形: 形状 7"/>
          <p:cNvSpPr/>
          <p:nvPr/>
        </p:nvSpPr>
        <p:spPr>
          <a:xfrm>
            <a:off x="0" y="0"/>
            <a:ext cx="12192000" cy="4518319"/>
          </a:xfrm>
          <a:custGeom>
            <a:avLst/>
            <a:gdLst>
              <a:gd name="connsiteX0" fmla="*/ 0 w 12192000"/>
              <a:gd name="connsiteY0" fmla="*/ 0 h 4518319"/>
              <a:gd name="connsiteX1" fmla="*/ 12192000 w 12192000"/>
              <a:gd name="connsiteY1" fmla="*/ 0 h 4518319"/>
              <a:gd name="connsiteX2" fmla="*/ 12192000 w 12192000"/>
              <a:gd name="connsiteY2" fmla="*/ 738477 h 4518319"/>
              <a:gd name="connsiteX3" fmla="*/ 12192000 w 12192000"/>
              <a:gd name="connsiteY3" fmla="*/ 2267460 h 4518319"/>
              <a:gd name="connsiteX4" fmla="*/ 12192000 w 12192000"/>
              <a:gd name="connsiteY4" fmla="*/ 3993201 h 4518319"/>
              <a:gd name="connsiteX5" fmla="*/ 12031745 w 12192000"/>
              <a:gd name="connsiteY5" fmla="*/ 4026797 h 4518319"/>
              <a:gd name="connsiteX6" fmla="*/ 6096001 w 12192000"/>
              <a:gd name="connsiteY6" fmla="*/ 4518319 h 4518319"/>
              <a:gd name="connsiteX7" fmla="*/ 160257 w 12192000"/>
              <a:gd name="connsiteY7" fmla="*/ 4026797 h 4518319"/>
              <a:gd name="connsiteX8" fmla="*/ 0 w 12192000"/>
              <a:gd name="connsiteY8" fmla="*/ 3993201 h 4518319"/>
              <a:gd name="connsiteX9" fmla="*/ 0 w 12192000"/>
              <a:gd name="connsiteY9" fmla="*/ 2267460 h 4518319"/>
              <a:gd name="connsiteX10" fmla="*/ 0 w 12192000"/>
              <a:gd name="connsiteY10" fmla="*/ 738478 h 4518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4518319">
                <a:moveTo>
                  <a:pt x="0" y="0"/>
                </a:moveTo>
                <a:lnTo>
                  <a:pt x="12192000" y="0"/>
                </a:lnTo>
                <a:lnTo>
                  <a:pt x="12192000" y="738477"/>
                </a:lnTo>
                <a:lnTo>
                  <a:pt x="12192000" y="2267460"/>
                </a:lnTo>
                <a:lnTo>
                  <a:pt x="12192000" y="3993201"/>
                </a:lnTo>
                <a:lnTo>
                  <a:pt x="12031745" y="4026797"/>
                </a:lnTo>
                <a:cubicBezTo>
                  <a:pt x="10418700" y="4333861"/>
                  <a:pt x="8350738" y="4518319"/>
                  <a:pt x="6096001" y="4518319"/>
                </a:cubicBezTo>
                <a:cubicBezTo>
                  <a:pt x="3841265" y="4518319"/>
                  <a:pt x="1773302" y="4333861"/>
                  <a:pt x="160257" y="4026797"/>
                </a:cubicBezTo>
                <a:lnTo>
                  <a:pt x="0" y="3993201"/>
                </a:lnTo>
                <a:lnTo>
                  <a:pt x="0" y="2267460"/>
                </a:lnTo>
                <a:lnTo>
                  <a:pt x="0" y="738478"/>
                </a:ln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2" name="日期占位符 3"/>
          <p:cNvSpPr>
            <a:spLocks noGrp="1"/>
          </p:cNvSpPr>
          <p:nvPr>
            <p:ph type="dt" sz="half" idx="2"/>
          </p:nvPr>
        </p:nvSpPr>
        <p:spPr>
          <a:xfrm>
            <a:off x="838200" y="6445954"/>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3" name="页脚占位符 4"/>
          <p:cNvSpPr>
            <a:spLocks noGrp="1"/>
          </p:cNvSpPr>
          <p:nvPr>
            <p:ph type="ftr" sz="quarter" idx="3"/>
          </p:nvPr>
        </p:nvSpPr>
        <p:spPr>
          <a:xfrm>
            <a:off x="4038600" y="6445954"/>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839200" y="6445954"/>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dirty="0">
                <a:latin typeface="微软雅黑" panose="020B0503020204020204" pitchFamily="34" charset="-122"/>
                <a:ea typeface="微软雅黑" panose="020B0503020204020204" pitchFamily="34" charset="-122"/>
              </a:rPr>
              <a:t>第 </a:t>
            </a:r>
            <a:fld id="{84377AA6-5F82-4755-B29C-FAB6A572A0B7}" type="slidenum">
              <a:rPr lang="zh-CN" altLang="en-US" smtClean="0">
                <a:latin typeface="微软雅黑" panose="020B0503020204020204" pitchFamily="34" charset="-122"/>
                <a:ea typeface="微软雅黑" panose="020B0503020204020204" pitchFamily="34" charset="-122"/>
              </a:rPr>
            </a:fld>
            <a:r>
              <a:rPr lang="zh-CN" altLang="en-US" dirty="0">
                <a:latin typeface="微软雅黑" panose="020B0503020204020204" pitchFamily="34" charset="-122"/>
                <a:ea typeface="微软雅黑" panose="020B0503020204020204" pitchFamily="34" charset="-122"/>
              </a:rPr>
              <a:t> 页</a:t>
            </a:r>
            <a:endParaRPr lang="zh-CN" altLang="en-US" dirty="0">
              <a:latin typeface="微软雅黑" panose="020B0503020204020204" pitchFamily="34" charset="-122"/>
              <a:ea typeface="微软雅黑" panose="020B0503020204020204" pitchFamily="34" charset="-122"/>
            </a:endParaRPr>
          </a:p>
        </p:txBody>
      </p:sp>
      <p:sp>
        <p:nvSpPr>
          <p:cNvPr id="7" name="任意多边形: 形状 6"/>
          <p:cNvSpPr/>
          <p:nvPr/>
        </p:nvSpPr>
        <p:spPr>
          <a:xfrm>
            <a:off x="1" y="0"/>
            <a:ext cx="5099335" cy="6858000"/>
          </a:xfrm>
          <a:custGeom>
            <a:avLst/>
            <a:gdLst>
              <a:gd name="connsiteX0" fmla="*/ 0 w 5099335"/>
              <a:gd name="connsiteY0" fmla="*/ 0 h 6858000"/>
              <a:gd name="connsiteX1" fmla="*/ 3926059 w 5099335"/>
              <a:gd name="connsiteY1" fmla="*/ 0 h 6858000"/>
              <a:gd name="connsiteX2" fmla="*/ 3986170 w 5099335"/>
              <a:gd name="connsiteY2" fmla="*/ 76492 h 6858000"/>
              <a:gd name="connsiteX3" fmla="*/ 5099335 w 5099335"/>
              <a:gd name="connsiteY3" fmla="*/ 3429000 h 6858000"/>
              <a:gd name="connsiteX4" fmla="*/ 3986170 w 5099335"/>
              <a:gd name="connsiteY4" fmla="*/ 6781508 h 6858000"/>
              <a:gd name="connsiteX5" fmla="*/ 3926059 w 5099335"/>
              <a:gd name="connsiteY5" fmla="*/ 6858000 h 6858000"/>
              <a:gd name="connsiteX6" fmla="*/ 0 w 509933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99335" h="6858000">
                <a:moveTo>
                  <a:pt x="0" y="0"/>
                </a:moveTo>
                <a:lnTo>
                  <a:pt x="3926059" y="0"/>
                </a:lnTo>
                <a:lnTo>
                  <a:pt x="3986170" y="76492"/>
                </a:lnTo>
                <a:cubicBezTo>
                  <a:pt x="4685309" y="1011352"/>
                  <a:pt x="5099335" y="2171825"/>
                  <a:pt x="5099335" y="3429000"/>
                </a:cubicBezTo>
                <a:cubicBezTo>
                  <a:pt x="5099335" y="4686175"/>
                  <a:pt x="4685309" y="5846649"/>
                  <a:pt x="3986170" y="6781508"/>
                </a:cubicBezTo>
                <a:lnTo>
                  <a:pt x="3926059" y="6858000"/>
                </a:lnTo>
                <a:lnTo>
                  <a:pt x="0" y="6858000"/>
                </a:lnTo>
                <a:close/>
              </a:path>
            </a:pathLst>
          </a:custGeom>
          <a:solidFill>
            <a:schemeClr val="accent2">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8" name="任意多边形: 形状 7"/>
          <p:cNvSpPr/>
          <p:nvPr/>
        </p:nvSpPr>
        <p:spPr>
          <a:xfrm>
            <a:off x="0" y="0"/>
            <a:ext cx="4923484" cy="6858000"/>
          </a:xfrm>
          <a:custGeom>
            <a:avLst/>
            <a:gdLst>
              <a:gd name="connsiteX0" fmla="*/ 0 w 4923484"/>
              <a:gd name="connsiteY0" fmla="*/ 0 h 6858000"/>
              <a:gd name="connsiteX1" fmla="*/ 3750208 w 4923484"/>
              <a:gd name="connsiteY1" fmla="*/ 0 h 6858000"/>
              <a:gd name="connsiteX2" fmla="*/ 3810319 w 4923484"/>
              <a:gd name="connsiteY2" fmla="*/ 76492 h 6858000"/>
              <a:gd name="connsiteX3" fmla="*/ 4923484 w 4923484"/>
              <a:gd name="connsiteY3" fmla="*/ 3429000 h 6858000"/>
              <a:gd name="connsiteX4" fmla="*/ 3810319 w 4923484"/>
              <a:gd name="connsiteY4" fmla="*/ 6781508 h 6858000"/>
              <a:gd name="connsiteX5" fmla="*/ 3750208 w 4923484"/>
              <a:gd name="connsiteY5" fmla="*/ 6858000 h 6858000"/>
              <a:gd name="connsiteX6" fmla="*/ 0 w 492348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23484" h="6858000">
                <a:moveTo>
                  <a:pt x="0" y="0"/>
                </a:moveTo>
                <a:lnTo>
                  <a:pt x="3750208" y="0"/>
                </a:lnTo>
                <a:lnTo>
                  <a:pt x="3810319" y="76492"/>
                </a:lnTo>
                <a:cubicBezTo>
                  <a:pt x="4509458" y="1011352"/>
                  <a:pt x="4923484" y="2171825"/>
                  <a:pt x="4923484" y="3429000"/>
                </a:cubicBezTo>
                <a:cubicBezTo>
                  <a:pt x="4923484" y="4686175"/>
                  <a:pt x="4509458" y="5846649"/>
                  <a:pt x="3810319" y="6781508"/>
                </a:cubicBezTo>
                <a:lnTo>
                  <a:pt x="3750208" y="6858000"/>
                </a:lnTo>
                <a:lnTo>
                  <a:pt x="0" y="6858000"/>
                </a:ln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endParaRPr lang="zh-CN" altLang="en-US"/>
          </a:p>
        </p:txBody>
      </p:sp>
      <p:sp>
        <p:nvSpPr>
          <p:cNvPr id="3" name="Footer Placeholder 2"/>
          <p:cNvSpPr>
            <a:spLocks noGrp="1"/>
          </p:cNvSpPr>
          <p:nvPr>
            <p:ph type="ftr" sz="quarter" idx="1"/>
          </p:nvPr>
        </p:nvSpPr>
        <p:spPr/>
        <p:txBody>
          <a:bodyPr/>
          <a:lstStyle/>
          <a:p>
            <a:endParaRPr lang="zh-CN" altLang="en-US"/>
          </a:p>
        </p:txBody>
      </p:sp>
      <p:sp>
        <p:nvSpPr>
          <p:cNvPr id="4" name="Slide Number Placeholder 3"/>
          <p:cNvSpPr>
            <a:spLocks noGrp="1"/>
          </p:cNvSpPr>
          <p:nvPr>
            <p:ph type="sldNum" sz="quarter" idx="2"/>
          </p:nvPr>
        </p:nvSpPr>
        <p:spPr/>
        <p:txBody>
          <a:bodyPr/>
          <a:lstStyle>
            <a:lvl1pPr>
              <a:defRPr>
                <a:latin typeface="微软雅黑" panose="020B0503020204020204" pitchFamily="34" charset="-122"/>
                <a:ea typeface="微软雅黑" panose="020B0503020204020204" pitchFamily="34" charset="-122"/>
              </a:defRPr>
            </a:lvl1pPr>
          </a:lstStyle>
          <a:p>
            <a:fld id="{93AE1883-0942-4AA3-9DB2-9C7C3A0314B1}" type="slidenum">
              <a:rPr lang="zh-CN" altLang="en-US" smtClean="0"/>
            </a:fld>
            <a:endParaRPr lang="en-US" dirty="0"/>
          </a:p>
        </p:txBody>
      </p:sp>
      <p:sp>
        <p:nvSpPr>
          <p:cNvPr id="5" name="TextBox 4"/>
          <p:cNvSpPr txBox="1"/>
          <p:nvPr/>
        </p:nvSpPr>
        <p:spPr>
          <a:xfrm>
            <a:off x="2965031" y="3367444"/>
            <a:ext cx="45365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00">
              <a:solidFill>
                <a:schemeClr val="tx1">
                  <a:alpha val="0"/>
                </a:schemeClr>
              </a:solidFill>
              <a:latin typeface="微软雅黑" panose="020B0503020204020204" pitchFamily="34" charset="-122"/>
              <a:ea typeface="微软雅黑" panose="020B0503020204020204" pitchFamily="34" charset="-122"/>
            </a:endParaRPr>
          </a:p>
        </p:txBody>
      </p:sp>
      <p:sp>
        <p:nvSpPr>
          <p:cNvPr id="6" name="TextBox 8"/>
          <p:cNvSpPr txBox="1"/>
          <p:nvPr/>
        </p:nvSpPr>
        <p:spPr>
          <a:xfrm>
            <a:off x="7509627" y="2215277"/>
            <a:ext cx="54006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00">
              <a:solidFill>
                <a:schemeClr val="tx1">
                  <a:alpha val="0"/>
                </a:schemeClr>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839788" y="365125"/>
            <a:ext cx="10515600" cy="1325563"/>
          </a:xfrm>
          <a:prstGeom prst="rect">
            <a:avLst/>
          </a:prstGeom>
          <a:noFill/>
          <a:ln w="9525" cap="flat" cmpd="sng" algn="ctr">
            <a:noFill/>
            <a:prstDash val="solid"/>
            <a:round/>
            <a:headEnd type="none" w="med" len="med"/>
            <a:tailEnd type="none" w="med" len="med"/>
          </a:ln>
          <a:effectLst/>
        </p:spPr>
        <p:txBody>
          <a:bodyPr vert="horz" lIns="91440" tIns="45720" rIns="91440" bIns="45720" anchor="ctr"/>
          <a:lstStyle>
            <a:lvl1pPr marL="0" marR="0" indent="0" algn="l" defTabSz="914400" rtl="0" eaLnBrk="1" fontAlgn="auto" latinLnBrk="0" hangingPunct="1">
              <a:lnSpc>
                <a:spcPct val="90000"/>
              </a:lnSpc>
              <a:spcBef>
                <a:spcPct val="0"/>
              </a:spcBef>
              <a:spcAft>
                <a:spcPct val="0"/>
              </a:spcAft>
              <a:buClrTx/>
              <a:buSzTx/>
              <a:buFontTx/>
              <a:buNone/>
              <a:defRPr kumimoji="0" sz="4400" b="0" i="0" u="none" strike="noStrike" kern="1200" cap="none" spc="0" normalizeH="0" baseline="0" noProof="0">
                <a:solidFill>
                  <a:schemeClr val="tx1"/>
                </a:solidFill>
                <a:uLnTx/>
                <a:uFillTx/>
                <a:latin typeface="+mj-lt"/>
                <a:ea typeface="+mj-ea"/>
                <a:cs typeface="+mj-cs"/>
                <a:sym typeface="Wingdings" panose="05000000000000000000"/>
              </a:defRPr>
            </a:lvl1pPr>
            <a:lvl2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90204"/>
                <a:ea typeface="Arial" panose="020B0604020202090204"/>
                <a:cs typeface="Arial" panose="020B0604020202090204"/>
                <a:sym typeface="Wingdings" panose="05000000000000000000"/>
              </a:defRPr>
            </a:lvl2pPr>
            <a:lvl3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90204"/>
                <a:ea typeface="Arial" panose="020B0604020202090204"/>
                <a:cs typeface="Arial" panose="020B0604020202090204"/>
                <a:sym typeface="Wingdings" panose="05000000000000000000"/>
              </a:defRPr>
            </a:lvl3pPr>
            <a:lvl4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90204"/>
                <a:ea typeface="Arial" panose="020B0604020202090204"/>
                <a:cs typeface="Arial" panose="020B0604020202090204"/>
                <a:sym typeface="Wingdings" panose="05000000000000000000"/>
              </a:defRPr>
            </a:lvl4pPr>
            <a:lvl5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90204"/>
                <a:ea typeface="Arial" panose="020B0604020202090204"/>
                <a:cs typeface="Arial" panose="020B0604020202090204"/>
                <a:sym typeface="Wingdings" panose="05000000000000000000"/>
              </a:defRPr>
            </a:lvl5pPr>
            <a:lvl6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90204"/>
                <a:ea typeface="Arial" panose="020B0604020202090204"/>
                <a:cs typeface="Arial" panose="020B0604020202090204"/>
                <a:sym typeface="Wingdings" panose="05000000000000000000"/>
              </a:defRPr>
            </a:lvl6pPr>
            <a:lvl7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90204"/>
                <a:ea typeface="Arial" panose="020B0604020202090204"/>
                <a:cs typeface="Arial" panose="020B0604020202090204"/>
                <a:sym typeface="Wingdings" panose="05000000000000000000"/>
              </a:defRPr>
            </a:lvl7pPr>
            <a:lvl8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90204"/>
                <a:ea typeface="Arial" panose="020B0604020202090204"/>
                <a:cs typeface="Arial" panose="020B0604020202090204"/>
                <a:sym typeface="Wingdings" panose="05000000000000000000"/>
              </a:defRPr>
            </a:lvl8pPr>
            <a:lvl9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90204"/>
                <a:ea typeface="Arial" panose="020B0604020202090204"/>
                <a:cs typeface="Arial" panose="020B0604020202090204"/>
                <a:sym typeface="Wingdings" panose="05000000000000000000"/>
              </a:defRPr>
            </a:lvl9pPr>
          </a:lstStyle>
          <a:p>
            <a:r>
              <a:rPr lang="zh-CN" altLang="en-US" dirty="0">
                <a:latin typeface="华文行楷" panose="02010800040101010101" pitchFamily="2" charset="-122"/>
                <a:ea typeface="华文行楷" panose="02010800040101010101" pitchFamily="2" charset="-122"/>
              </a:rPr>
              <a:t>单击此处编辑母版标题样式</a:t>
            </a:r>
            <a:endParaRPr lang="zh-CN" altLang="en-US" dirty="0">
              <a:latin typeface="华文行楷" panose="02010800040101010101" pitchFamily="2" charset="-122"/>
              <a:ea typeface="华文行楷" panose="02010800040101010101" pitchFamily="2" charset="-122"/>
            </a:endParaRPr>
          </a:p>
        </p:txBody>
      </p:sp>
      <p:sp>
        <p:nvSpPr>
          <p:cNvPr id="8" name="文本占位符 2"/>
          <p:cNvSpPr txBox="1"/>
          <p:nvPr/>
        </p:nvSpPr>
        <p:spPr>
          <a:xfrm>
            <a:off x="839788" y="1681163"/>
            <a:ext cx="5157787" cy="823912"/>
          </a:xfrm>
          <a:prstGeom prst="rect">
            <a:avLst/>
          </a:prstGeom>
          <a:noFill/>
          <a:ln w="9525" cap="flat" cmpd="sng" algn="ctr">
            <a:noFill/>
            <a:prstDash val="solid"/>
            <a:round/>
            <a:headEnd type="none" w="med" len="med"/>
            <a:tailEnd type="none" w="med" len="med"/>
          </a:ln>
          <a:effectLst/>
        </p:spPr>
        <p:txBody>
          <a:bodyPr vert="horz" lIns="91440" tIns="45720" rIns="91440" bIns="45720" anchor="b"/>
          <a:lstStyle>
            <a:lvl1pPr marL="0" marR="0" indent="0" algn="l" defTabSz="914400" rtl="0" eaLnBrk="1" fontAlgn="auto" latinLnBrk="0" hangingPunct="1">
              <a:lnSpc>
                <a:spcPct val="90000"/>
              </a:lnSpc>
              <a:spcBef>
                <a:spcPts val="1000"/>
              </a:spcBef>
              <a:spcAft>
                <a:spcPct val="0"/>
              </a:spcAft>
              <a:buClrTx/>
              <a:buSzTx/>
              <a:buFont typeface="Arial" panose="020B0604020202090204" pitchFamily="34" charset="0"/>
              <a:buNone/>
              <a:defRPr kumimoji="0" sz="2400" b="1" i="0" u="none" strike="noStrike" kern="1200" cap="none" spc="0" normalizeH="0" baseline="0" noProof="0">
                <a:solidFill>
                  <a:schemeClr val="tx1"/>
                </a:solidFill>
                <a:uLnTx/>
                <a:uFillTx/>
                <a:latin typeface="+mn-lt"/>
                <a:ea typeface="+mn-ea"/>
                <a:cs typeface="+mn-cs"/>
                <a:sym typeface="Wingdings" panose="05000000000000000000"/>
              </a:defRPr>
            </a:lvl1pPr>
            <a:lvl2pPr marL="457200" marR="0" indent="0" algn="l" defTabSz="914400" rtl="0" eaLnBrk="1" fontAlgn="auto" latinLnBrk="0" hangingPunct="1">
              <a:lnSpc>
                <a:spcPct val="90000"/>
              </a:lnSpc>
              <a:spcBef>
                <a:spcPts val="500"/>
              </a:spcBef>
              <a:spcAft>
                <a:spcPct val="0"/>
              </a:spcAft>
              <a:buClrTx/>
              <a:buSzTx/>
              <a:buFont typeface="Arial" panose="020B0604020202090204" pitchFamily="34" charset="0"/>
              <a:buNone/>
              <a:defRPr kumimoji="0" sz="2000" b="1" i="0" u="none" strike="noStrike" kern="1200" cap="none" spc="0" normalizeH="0" baseline="0" noProof="0">
                <a:solidFill>
                  <a:schemeClr val="tx1"/>
                </a:solidFill>
                <a:uLnTx/>
                <a:uFillTx/>
                <a:latin typeface="+mn-lt"/>
                <a:ea typeface="+mn-ea"/>
                <a:cs typeface="+mn-cs"/>
                <a:sym typeface="Wingdings" panose="05000000000000000000"/>
              </a:defRPr>
            </a:lvl2pPr>
            <a:lvl3pPr marL="914400" marR="0" indent="0" algn="l" defTabSz="914400" rtl="0" eaLnBrk="1" fontAlgn="auto" latinLnBrk="0" hangingPunct="1">
              <a:lnSpc>
                <a:spcPct val="90000"/>
              </a:lnSpc>
              <a:spcBef>
                <a:spcPts val="500"/>
              </a:spcBef>
              <a:spcAft>
                <a:spcPct val="0"/>
              </a:spcAft>
              <a:buClrTx/>
              <a:buSzTx/>
              <a:buFont typeface="Arial" panose="020B0604020202090204" pitchFamily="34" charset="0"/>
              <a:buNone/>
              <a:defRPr kumimoji="0" sz="1800" b="1" i="0" u="none" strike="noStrike" kern="1200" cap="none" spc="0" normalizeH="0" baseline="0" noProof="0">
                <a:solidFill>
                  <a:schemeClr val="tx1"/>
                </a:solidFill>
                <a:uLnTx/>
                <a:uFillTx/>
                <a:latin typeface="+mn-lt"/>
                <a:ea typeface="+mn-ea"/>
                <a:cs typeface="+mn-cs"/>
                <a:sym typeface="Wingdings" panose="05000000000000000000"/>
              </a:defRPr>
            </a:lvl3pPr>
            <a:lvl4pPr marL="1371600" marR="0" indent="0" algn="l" defTabSz="914400" rtl="0" eaLnBrk="1" fontAlgn="auto" latinLnBrk="0" hangingPunct="1">
              <a:lnSpc>
                <a:spcPct val="90000"/>
              </a:lnSpc>
              <a:spcBef>
                <a:spcPts val="500"/>
              </a:spcBef>
              <a:spcAft>
                <a:spcPct val="0"/>
              </a:spcAft>
              <a:buClrTx/>
              <a:buSzTx/>
              <a:buFont typeface="Arial" panose="020B060402020209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4pPr>
            <a:lvl5pPr marL="1828800" marR="0" indent="0" algn="l" defTabSz="914400" rtl="0" eaLnBrk="1" fontAlgn="auto" latinLnBrk="0" hangingPunct="1">
              <a:lnSpc>
                <a:spcPct val="90000"/>
              </a:lnSpc>
              <a:spcBef>
                <a:spcPts val="500"/>
              </a:spcBef>
              <a:spcAft>
                <a:spcPct val="0"/>
              </a:spcAft>
              <a:buClrTx/>
              <a:buSzTx/>
              <a:buFont typeface="Arial" panose="020B060402020209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5pPr>
            <a:lvl6pPr marL="2286000" marR="0" indent="0" algn="l" defTabSz="914400" rtl="0" eaLnBrk="1" fontAlgn="auto" latinLnBrk="0" hangingPunct="1">
              <a:lnSpc>
                <a:spcPct val="90000"/>
              </a:lnSpc>
              <a:spcBef>
                <a:spcPts val="500"/>
              </a:spcBef>
              <a:spcAft>
                <a:spcPct val="0"/>
              </a:spcAft>
              <a:buClrTx/>
              <a:buSzTx/>
              <a:buFont typeface="Arial" panose="020B060402020209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6pPr>
            <a:lvl7pPr marL="2743200" marR="0" indent="0" algn="l" defTabSz="914400" rtl="0" eaLnBrk="1" fontAlgn="auto" latinLnBrk="0" hangingPunct="1">
              <a:lnSpc>
                <a:spcPct val="90000"/>
              </a:lnSpc>
              <a:spcBef>
                <a:spcPts val="500"/>
              </a:spcBef>
              <a:spcAft>
                <a:spcPct val="0"/>
              </a:spcAft>
              <a:buClrTx/>
              <a:buSzTx/>
              <a:buFont typeface="Arial" panose="020B060402020209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7pPr>
            <a:lvl8pPr marL="3200400" marR="0" indent="0" algn="l" defTabSz="914400" rtl="0" eaLnBrk="1" fontAlgn="auto" latinLnBrk="0" hangingPunct="1">
              <a:lnSpc>
                <a:spcPct val="90000"/>
              </a:lnSpc>
              <a:spcBef>
                <a:spcPts val="500"/>
              </a:spcBef>
              <a:spcAft>
                <a:spcPct val="0"/>
              </a:spcAft>
              <a:buClrTx/>
              <a:buSzTx/>
              <a:buFont typeface="Arial" panose="020B060402020209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8pPr>
            <a:lvl9pPr marL="3657600" marR="0" indent="0" algn="l" defTabSz="914400" rtl="0" eaLnBrk="1" fontAlgn="auto" latinLnBrk="0" hangingPunct="1">
              <a:lnSpc>
                <a:spcPct val="90000"/>
              </a:lnSpc>
              <a:spcBef>
                <a:spcPts val="500"/>
              </a:spcBef>
              <a:spcAft>
                <a:spcPct val="0"/>
              </a:spcAft>
              <a:buClrTx/>
              <a:buSzTx/>
              <a:buFont typeface="Arial" panose="020B060402020209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9pPr>
          </a:lstStyle>
          <a:p>
            <a:pPr lvl="0"/>
            <a:r>
              <a:rPr lang="zh-CN" altLang="en-US" dirty="0">
                <a:latin typeface="微软雅黑" panose="020B0503020204020204" pitchFamily="34" charset="-122"/>
                <a:ea typeface="微软雅黑" panose="020B0503020204020204" pitchFamily="34" charset="-122"/>
              </a:rPr>
              <a:t>单击此处编辑母版文本样式</a:t>
            </a:r>
            <a:endParaRPr lang="zh-CN" altLang="en-US" dirty="0">
              <a:latin typeface="微软雅黑" panose="020B0503020204020204" pitchFamily="34" charset="-122"/>
              <a:ea typeface="微软雅黑" panose="020B0503020204020204" pitchFamily="34" charset="-122"/>
            </a:endParaRPr>
          </a:p>
        </p:txBody>
      </p:sp>
      <p:sp>
        <p:nvSpPr>
          <p:cNvPr id="9" name="内容占位符 3"/>
          <p:cNvSpPr txBox="1"/>
          <p:nvPr/>
        </p:nvSpPr>
        <p:spPr>
          <a:xfrm>
            <a:off x="839788" y="2505075"/>
            <a:ext cx="5157787" cy="3684588"/>
          </a:xfrm>
          <a:prstGeom prst="rect">
            <a:avLst/>
          </a:prstGeom>
          <a:noFill/>
          <a:ln w="9525" cap="flat" cmpd="sng" algn="ctr">
            <a:noFill/>
            <a:prstDash val="solid"/>
            <a:round/>
            <a:headEnd type="none" w="med" len="med"/>
            <a:tailEnd type="none" w="med" len="med"/>
          </a:ln>
          <a:effectLst/>
        </p:spPr>
        <p:txBody>
          <a:bodyPr vert="horz" lIns="91440" tIns="45720" rIns="91440" bIns="45720"/>
          <a:lstStyle>
            <a:lvl1pPr marL="228600" marR="0" indent="-228600" algn="l" defTabSz="914400" rtl="0" eaLnBrk="1" fontAlgn="auto" latinLnBrk="0" hangingPunct="1">
              <a:lnSpc>
                <a:spcPct val="90000"/>
              </a:lnSpc>
              <a:spcBef>
                <a:spcPts val="1000"/>
              </a:spcBef>
              <a:spcAft>
                <a:spcPct val="0"/>
              </a:spcAft>
              <a:buClrTx/>
              <a:buSzTx/>
              <a:buFont typeface="Arial" panose="020B0604020202090204" pitchFamily="34" charset="0"/>
              <a:buChar char="•"/>
              <a:defRPr kumimoji="0" sz="2800" b="0" i="0" u="none" strike="noStrike" kern="1200" cap="none" spc="0" normalizeH="0" baseline="0" noProof="0">
                <a:solidFill>
                  <a:schemeClr val="tx1"/>
                </a:solidFill>
                <a:uLnTx/>
                <a:uFillTx/>
                <a:latin typeface="+mn-lt"/>
                <a:ea typeface="+mn-ea"/>
                <a:cs typeface="+mn-cs"/>
                <a:sym typeface="Wingdings" panose="05000000000000000000"/>
              </a:defRPr>
            </a:lvl1pPr>
            <a:lvl2pPr marL="685800" marR="0" indent="-228600" algn="l" defTabSz="914400" rtl="0" eaLnBrk="1" fontAlgn="auto" latinLnBrk="0" hangingPunct="1">
              <a:lnSpc>
                <a:spcPct val="90000"/>
              </a:lnSpc>
              <a:spcBef>
                <a:spcPts val="500"/>
              </a:spcBef>
              <a:spcAft>
                <a:spcPct val="0"/>
              </a:spcAft>
              <a:buClrTx/>
              <a:buSzTx/>
              <a:buFont typeface="Arial" panose="020B0604020202090204" pitchFamily="34" charset="0"/>
              <a:buChar char="•"/>
              <a:defRPr kumimoji="0" sz="2400" b="0" i="0" u="none" strike="noStrike" kern="1200" cap="none" spc="0" normalizeH="0" baseline="0" noProof="0">
                <a:solidFill>
                  <a:schemeClr val="tx1"/>
                </a:solidFill>
                <a:uLnTx/>
                <a:uFillTx/>
                <a:latin typeface="+mn-lt"/>
                <a:ea typeface="+mn-ea"/>
                <a:cs typeface="+mn-cs"/>
                <a:sym typeface="Wingdings" panose="05000000000000000000"/>
              </a:defRPr>
            </a:lvl2pPr>
            <a:lvl3pPr marL="1143000" marR="0" indent="-228600" algn="l" defTabSz="914400" rtl="0" eaLnBrk="1" fontAlgn="auto" latinLnBrk="0" hangingPunct="1">
              <a:lnSpc>
                <a:spcPct val="90000"/>
              </a:lnSpc>
              <a:spcBef>
                <a:spcPts val="500"/>
              </a:spcBef>
              <a:spcAft>
                <a:spcPct val="0"/>
              </a:spcAft>
              <a:buClrTx/>
              <a:buSzTx/>
              <a:buFont typeface="Arial" panose="020B0604020202090204" pitchFamily="34" charset="0"/>
              <a:buChar char="•"/>
              <a:defRPr kumimoji="0" sz="2000" b="0" i="0" u="none" strike="noStrike" kern="1200" cap="none" spc="0" normalizeH="0" baseline="0" noProof="0">
                <a:solidFill>
                  <a:schemeClr val="tx1"/>
                </a:solidFill>
                <a:uLnTx/>
                <a:uFillTx/>
                <a:latin typeface="+mn-lt"/>
                <a:ea typeface="+mn-ea"/>
                <a:cs typeface="+mn-cs"/>
                <a:sym typeface="Wingdings" panose="05000000000000000000"/>
              </a:defRPr>
            </a:lvl3pPr>
            <a:lvl4pPr marL="1600200" marR="0" indent="-228600" algn="l" defTabSz="914400" rtl="0" eaLnBrk="1" fontAlgn="auto" latinLnBrk="0" hangingPunct="1">
              <a:lnSpc>
                <a:spcPct val="90000"/>
              </a:lnSpc>
              <a:spcBef>
                <a:spcPts val="500"/>
              </a:spcBef>
              <a:spcAft>
                <a:spcPct val="0"/>
              </a:spcAft>
              <a:buClrTx/>
              <a:buSzTx/>
              <a:buFont typeface="Arial" panose="020B060402020209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4pPr>
            <a:lvl5pPr marL="2057400" marR="0" indent="-228600" algn="l" defTabSz="914400" rtl="0" eaLnBrk="1" fontAlgn="auto" latinLnBrk="0" hangingPunct="1">
              <a:lnSpc>
                <a:spcPct val="90000"/>
              </a:lnSpc>
              <a:spcBef>
                <a:spcPts val="500"/>
              </a:spcBef>
              <a:spcAft>
                <a:spcPct val="0"/>
              </a:spcAft>
              <a:buClrTx/>
              <a:buSzTx/>
              <a:buFont typeface="Arial" panose="020B060402020209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5pPr>
            <a:lvl6pPr marL="2514600" marR="0" indent="-228600" algn="l" defTabSz="914400" rtl="0" eaLnBrk="1" fontAlgn="auto" latinLnBrk="0" hangingPunct="1">
              <a:lnSpc>
                <a:spcPct val="90000"/>
              </a:lnSpc>
              <a:spcBef>
                <a:spcPts val="500"/>
              </a:spcBef>
              <a:spcAft>
                <a:spcPct val="0"/>
              </a:spcAft>
              <a:buClrTx/>
              <a:buSzTx/>
              <a:buFont typeface="Arial" panose="020B060402020209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6pPr>
            <a:lvl7pPr marL="2971800" marR="0" indent="-228600" algn="l" defTabSz="914400" rtl="0" eaLnBrk="1" fontAlgn="auto" latinLnBrk="0" hangingPunct="1">
              <a:lnSpc>
                <a:spcPct val="90000"/>
              </a:lnSpc>
              <a:spcBef>
                <a:spcPts val="500"/>
              </a:spcBef>
              <a:spcAft>
                <a:spcPct val="0"/>
              </a:spcAft>
              <a:buClrTx/>
              <a:buSzTx/>
              <a:buFont typeface="Arial" panose="020B060402020209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7pPr>
            <a:lvl8pPr marL="3429000" marR="0" indent="-228600" algn="l" defTabSz="914400" rtl="0" eaLnBrk="1" fontAlgn="auto" latinLnBrk="0" hangingPunct="1">
              <a:lnSpc>
                <a:spcPct val="90000"/>
              </a:lnSpc>
              <a:spcBef>
                <a:spcPts val="500"/>
              </a:spcBef>
              <a:spcAft>
                <a:spcPct val="0"/>
              </a:spcAft>
              <a:buClrTx/>
              <a:buSzTx/>
              <a:buFont typeface="Arial" panose="020B060402020209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8pPr>
            <a:lvl9pPr marL="3886200" marR="0" indent="-228600" algn="l" defTabSz="914400" rtl="0" eaLnBrk="1" fontAlgn="auto" latinLnBrk="0" hangingPunct="1">
              <a:lnSpc>
                <a:spcPct val="90000"/>
              </a:lnSpc>
              <a:spcBef>
                <a:spcPts val="500"/>
              </a:spcBef>
              <a:spcAft>
                <a:spcPct val="0"/>
              </a:spcAft>
              <a:buClrTx/>
              <a:buSzTx/>
              <a:buFont typeface="Arial" panose="020B060402020209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9pPr>
          </a:lstStyle>
          <a:p>
            <a:pPr lvl="0"/>
            <a:r>
              <a:rPr lang="zh-CN" altLang="en-US" dirty="0">
                <a:latin typeface="微软雅黑" panose="020B0503020204020204" pitchFamily="34" charset="-122"/>
                <a:ea typeface="微软雅黑" panose="020B0503020204020204" pitchFamily="34" charset="-122"/>
              </a:rPr>
              <a:t>单击此处编辑母版文本样式</a:t>
            </a:r>
            <a:endParaRPr lang="zh-CN" altLang="en-US"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二级</a:t>
            </a:r>
            <a:endParaRPr lang="zh-CN" altLang="en-US" dirty="0">
              <a:latin typeface="微软雅黑" panose="020B0503020204020204" pitchFamily="34" charset="-122"/>
              <a:ea typeface="微软雅黑" panose="020B0503020204020204" pitchFamily="34" charset="-122"/>
            </a:endParaRPr>
          </a:p>
          <a:p>
            <a:pPr lvl="2"/>
            <a:r>
              <a:rPr lang="zh-CN" altLang="en-US" dirty="0">
                <a:latin typeface="微软雅黑" panose="020B0503020204020204" pitchFamily="34" charset="-122"/>
                <a:ea typeface="微软雅黑" panose="020B0503020204020204" pitchFamily="34" charset="-122"/>
              </a:rPr>
              <a:t>三级</a:t>
            </a:r>
            <a:endParaRPr lang="zh-CN" altLang="en-US" dirty="0">
              <a:latin typeface="微软雅黑" panose="020B0503020204020204" pitchFamily="34" charset="-122"/>
              <a:ea typeface="微软雅黑" panose="020B0503020204020204" pitchFamily="34" charset="-122"/>
            </a:endParaRPr>
          </a:p>
          <a:p>
            <a:pPr lvl="3"/>
            <a:r>
              <a:rPr lang="zh-CN" altLang="en-US" dirty="0">
                <a:latin typeface="微软雅黑" panose="020B0503020204020204" pitchFamily="34" charset="-122"/>
                <a:ea typeface="微软雅黑" panose="020B0503020204020204" pitchFamily="34" charset="-122"/>
              </a:rPr>
              <a:t>四级</a:t>
            </a:r>
            <a:endParaRPr lang="zh-CN" altLang="en-US" dirty="0">
              <a:latin typeface="微软雅黑" panose="020B0503020204020204" pitchFamily="34" charset="-122"/>
              <a:ea typeface="微软雅黑" panose="020B0503020204020204" pitchFamily="34" charset="-122"/>
            </a:endParaRPr>
          </a:p>
          <a:p>
            <a:pPr lvl="4"/>
            <a:r>
              <a:rPr lang="zh-CN" altLang="en-US" dirty="0">
                <a:latin typeface="微软雅黑" panose="020B0503020204020204" pitchFamily="34" charset="-122"/>
                <a:ea typeface="微软雅黑" panose="020B0503020204020204" pitchFamily="34" charset="-122"/>
              </a:rPr>
              <a:t>五级</a:t>
            </a:r>
            <a:endParaRPr lang="zh-CN" altLang="en-US" dirty="0">
              <a:latin typeface="微软雅黑" panose="020B0503020204020204" pitchFamily="34" charset="-122"/>
              <a:ea typeface="微软雅黑" panose="020B0503020204020204" pitchFamily="34" charset="-122"/>
            </a:endParaRPr>
          </a:p>
        </p:txBody>
      </p:sp>
      <p:sp>
        <p:nvSpPr>
          <p:cNvPr id="10" name="文本占位符 4"/>
          <p:cNvSpPr>
            <a:spLocks noGrp="1"/>
          </p:cNvSpPr>
          <p:nvPr>
            <p:ph type="body" sz="quarter" idx="3"/>
          </p:nvPr>
        </p:nvSpPr>
        <p:spPr>
          <a:xfrm>
            <a:off x="6172200" y="1681163"/>
            <a:ext cx="5183188" cy="823912"/>
          </a:xfrm>
        </p:spPr>
        <p:txBody>
          <a:bodyPr anchor="b"/>
          <a:lstStyle>
            <a:lvl1pPr marL="0" indent="0">
              <a:buNone/>
              <a:defRPr sz="2400" b="1">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11" name="内容占位符 5"/>
          <p:cNvSpPr>
            <a:spLocks noGrp="1"/>
          </p:cNvSpPr>
          <p:nvPr>
            <p:ph sz="quarter" idx="4"/>
          </p:nvPr>
        </p:nvSpPr>
        <p:spPr>
          <a:xfrm>
            <a:off x="6172200" y="2505075"/>
            <a:ext cx="5183188" cy="3684588"/>
          </a:xfrm>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12" name="页脚占位符 7"/>
          <p:cNvSpPr>
            <a:spLocks noGrp="1"/>
          </p:cNvSpPr>
          <p:nvPr>
            <p:ph type="ftr" sz="quarter" idx="11"/>
          </p:nvPr>
        </p:nvSpPr>
        <p:spPr>
          <a:xfrm>
            <a:off x="4038600" y="6356350"/>
            <a:ext cx="4114800" cy="365125"/>
          </a:xfrm>
        </p:spPr>
        <p:txBody>
          <a:bodyPr/>
          <a:lstStyle/>
          <a:p>
            <a:endParaRPr lang="zh-CN" altLang="en-US"/>
          </a:p>
        </p:txBody>
      </p:sp>
      <p:sp>
        <p:nvSpPr>
          <p:cNvPr id="13" name="灯片编号占位符 8"/>
          <p:cNvSpPr>
            <a:spLocks noGrp="1"/>
          </p:cNvSpPr>
          <p:nvPr>
            <p:ph type="sldNum" sz="quarter" idx="12"/>
          </p:nvPr>
        </p:nvSpPr>
        <p:spPr>
          <a:xfrm>
            <a:off x="8610600" y="6356350"/>
            <a:ext cx="2743200" cy="365125"/>
          </a:xfrm>
        </p:spPr>
        <p:txBody>
          <a:bodyPr/>
          <a:lstStyle>
            <a:lvl1pPr>
              <a:defRPr>
                <a:latin typeface="微软雅黑" panose="020B0503020204020204" pitchFamily="34" charset="-122"/>
                <a:ea typeface="微软雅黑" panose="020B0503020204020204" pitchFamily="34" charset="-122"/>
              </a:defRPr>
            </a:lvl1pPr>
          </a:lstStyle>
          <a:p>
            <a:fld id="{E9B957CC-A438-4D82-B305-22914934740F}" type="slidenum">
              <a:rPr lang="zh-CN" altLang="en-US" smtClean="0"/>
            </a:fld>
            <a:endParaRPr lang="zh-CN" altLang="en-US" dirty="0"/>
          </a:p>
        </p:txBody>
      </p:sp>
    </p:spTree>
  </p:cSld>
  <p:clrMapOvr>
    <a:masterClrMapping/>
  </p:clrMapOvr>
  <p:transition/>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sp>
        <p:nvSpPr>
          <p:cNvPr id="19" name="矩形 18"/>
          <p:cNvSpPr/>
          <p:nvPr userDrawn="1"/>
        </p:nvSpPr>
        <p:spPr>
          <a:xfrm>
            <a:off x="0" y="6400800"/>
            <a:ext cx="12192000" cy="457200"/>
          </a:xfrm>
          <a:prstGeom prst="rect">
            <a:avLst/>
          </a:prstGeom>
          <a:solidFill>
            <a:schemeClr val="bg1">
              <a:lumMod val="95000"/>
              <a:alpha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5" name="矩形 14"/>
          <p:cNvSpPr/>
          <p:nvPr userDrawn="1"/>
        </p:nvSpPr>
        <p:spPr>
          <a:xfrm>
            <a:off x="0" y="0"/>
            <a:ext cx="12192000" cy="821232"/>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 name="日期占位符 1"/>
          <p:cNvSpPr>
            <a:spLocks noGrp="1"/>
          </p:cNvSpPr>
          <p:nvPr>
            <p:ph type="dt" sz="half" idx="10"/>
          </p:nvPr>
        </p:nvSpPr>
        <p:spPr>
          <a:xfrm>
            <a:off x="838200" y="6445954"/>
            <a:ext cx="2743200" cy="365125"/>
          </a:xfrm>
        </p:spPr>
        <p:txBody>
          <a:bodyPr/>
          <a:lstStyle/>
          <a:p>
            <a:endParaRPr lang="zh-CN" altLang="en-US"/>
          </a:p>
        </p:txBody>
      </p:sp>
      <p:sp>
        <p:nvSpPr>
          <p:cNvPr id="3" name="页脚占位符 2"/>
          <p:cNvSpPr>
            <a:spLocks noGrp="1"/>
          </p:cNvSpPr>
          <p:nvPr>
            <p:ph type="ftr" sz="quarter" idx="11"/>
          </p:nvPr>
        </p:nvSpPr>
        <p:spPr>
          <a:xfrm>
            <a:off x="4038600" y="6445954"/>
            <a:ext cx="4114800" cy="365125"/>
          </a:xfrm>
        </p:spPr>
        <p:txBody>
          <a:bodyPr/>
          <a:lstStyle/>
          <a:p>
            <a:endParaRPr lang="zh-CN" altLang="en-US"/>
          </a:p>
        </p:txBody>
      </p:sp>
      <p:sp>
        <p:nvSpPr>
          <p:cNvPr id="6" name="文本占位符 5"/>
          <p:cNvSpPr>
            <a:spLocks noGrp="1"/>
          </p:cNvSpPr>
          <p:nvPr>
            <p:ph type="body" sz="quarter" idx="13"/>
          </p:nvPr>
        </p:nvSpPr>
        <p:spPr>
          <a:xfrm>
            <a:off x="538480" y="222453"/>
            <a:ext cx="6464300" cy="511175"/>
          </a:xfrm>
          <a:prstGeom prst="rect">
            <a:avLst/>
          </a:prstGeom>
        </p:spPr>
        <p:txBody>
          <a:bodyPr/>
          <a:lstStyle>
            <a:lvl1pPr marL="0" indent="0">
              <a:buNone/>
              <a:defRPr sz="2400" b="1">
                <a:solidFill>
                  <a:schemeClr val="bg1"/>
                </a:solidFill>
                <a:latin typeface="华文行楷" panose="02010800040101010101" pitchFamily="2" charset="-122"/>
                <a:ea typeface="华文行楷" panose="02010800040101010101" pitchFamily="2" charset="-122"/>
              </a:defRPr>
            </a:lvl1pPr>
          </a:lstStyle>
          <a:p>
            <a:pPr lvl="0"/>
            <a:r>
              <a:rPr lang="zh-CN" altLang="en-US" dirty="0"/>
              <a:t>单击此处编辑母版文本样式</a:t>
            </a:r>
            <a:endParaRPr lang="zh-CN" altLang="en-US" dirty="0"/>
          </a:p>
        </p:txBody>
      </p:sp>
      <p:sp>
        <p:nvSpPr>
          <p:cNvPr id="14" name="灯片编号占位符 5"/>
          <p:cNvSpPr>
            <a:spLocks noGrp="1"/>
          </p:cNvSpPr>
          <p:nvPr>
            <p:ph type="sldNum" sz="quarter" idx="4"/>
          </p:nvPr>
        </p:nvSpPr>
        <p:spPr>
          <a:xfrm>
            <a:off x="8839200" y="6445954"/>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dirty="0">
                <a:latin typeface="微软雅黑" panose="020B0503020204020204" pitchFamily="34" charset="-122"/>
                <a:ea typeface="微软雅黑" panose="020B0503020204020204" pitchFamily="34" charset="-122"/>
              </a:rPr>
              <a:t>第 </a:t>
            </a:r>
            <a:fld id="{84377AA6-5F82-4755-B29C-FAB6A572A0B7}" type="slidenum">
              <a:rPr lang="zh-CN" altLang="en-US" smtClean="0">
                <a:latin typeface="微软雅黑" panose="020B0503020204020204" pitchFamily="34" charset="-122"/>
                <a:ea typeface="微软雅黑" panose="020B0503020204020204" pitchFamily="34" charset="-122"/>
              </a:rPr>
            </a:fld>
            <a:r>
              <a:rPr lang="zh-CN" altLang="en-US" dirty="0">
                <a:latin typeface="微软雅黑" panose="020B0503020204020204" pitchFamily="34" charset="-122"/>
                <a:ea typeface="微软雅黑" panose="020B0503020204020204" pitchFamily="34" charset="-122"/>
              </a:rPr>
              <a:t> 页</a:t>
            </a:r>
            <a:endParaRPr lang="zh-CN" altLang="en-US" dirty="0">
              <a:latin typeface="微软雅黑" panose="020B0503020204020204" pitchFamily="34" charset="-122"/>
              <a:ea typeface="微软雅黑" panose="020B0503020204020204" pitchFamily="34" charset="-122"/>
            </a:endParaRPr>
          </a:p>
        </p:txBody>
      </p:sp>
      <p:cxnSp>
        <p:nvCxnSpPr>
          <p:cNvPr id="20" name="直接连接符 19"/>
          <p:cNvCxnSpPr/>
          <p:nvPr userDrawn="1"/>
        </p:nvCxnSpPr>
        <p:spPr>
          <a:xfrm>
            <a:off x="0" y="6629400"/>
            <a:ext cx="1074928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nvCxnSpPr>
        <p:spPr>
          <a:xfrm>
            <a:off x="11704320" y="6629400"/>
            <a:ext cx="48768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日期占位符 3"/>
          <p:cNvSpPr>
            <a:spLocks noGrp="1"/>
          </p:cNvSpPr>
          <p:nvPr>
            <p:ph type="dt" sz="half" idx="2"/>
          </p:nvPr>
        </p:nvSpPr>
        <p:spPr>
          <a:xfrm>
            <a:off x="838200" y="6445954"/>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3" name="页脚占位符 4"/>
          <p:cNvSpPr>
            <a:spLocks noGrp="1"/>
          </p:cNvSpPr>
          <p:nvPr>
            <p:ph type="ftr" sz="quarter" idx="3"/>
          </p:nvPr>
        </p:nvSpPr>
        <p:spPr>
          <a:xfrm>
            <a:off x="4038600" y="6445954"/>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nvPr>
        </p:nvSpPr>
        <p:spPr>
          <a:xfrm>
            <a:off x="8839200" y="6445954"/>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dirty="0">
                <a:latin typeface="微软雅黑" panose="020B0503020204020204" pitchFamily="34" charset="-122"/>
                <a:ea typeface="微软雅黑" panose="020B0503020204020204" pitchFamily="34" charset="-122"/>
              </a:rPr>
              <a:t>第 </a:t>
            </a:r>
            <a:fld id="{84377AA6-5F82-4755-B29C-FAB6A572A0B7}" type="slidenum">
              <a:rPr lang="zh-CN" altLang="en-US" smtClean="0">
                <a:latin typeface="微软雅黑" panose="020B0503020204020204" pitchFamily="34" charset="-122"/>
                <a:ea typeface="微软雅黑" panose="020B0503020204020204" pitchFamily="34" charset="-122"/>
              </a:rPr>
            </a:fld>
            <a:r>
              <a:rPr lang="zh-CN" altLang="en-US" dirty="0">
                <a:latin typeface="微软雅黑" panose="020B0503020204020204" pitchFamily="34" charset="-122"/>
                <a:ea typeface="微软雅黑" panose="020B0503020204020204" pitchFamily="34" charset="-122"/>
              </a:rPr>
              <a:t> 页</a:t>
            </a:r>
            <a:endParaRPr lang="zh-CN" altLang="en-US" dirty="0">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4"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2.png"/><Relationship Id="rId3" Type="http://schemas.openxmlformats.org/officeDocument/2006/relationships/tags" Target="../tags/tag2.xml"/><Relationship Id="rId2" Type="http://schemas.openxmlformats.org/officeDocument/2006/relationships/image" Target="../media/image1.png"/><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3.png"/><Relationship Id="rId2" Type="http://schemas.openxmlformats.org/officeDocument/2006/relationships/tags" Target="../tags/tag5.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4.png"/><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tags" Target="../tags/tag8.xml"/><Relationship Id="rId2" Type="http://schemas.openxmlformats.org/officeDocument/2006/relationships/image" Target="../media/image5.png"/><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image" Target="../media/image13.png"/><Relationship Id="rId6" Type="http://schemas.openxmlformats.org/officeDocument/2006/relationships/tags" Target="../tags/tag15.xml"/><Relationship Id="rId5" Type="http://schemas.openxmlformats.org/officeDocument/2006/relationships/image" Target="../media/image12.png"/><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image" Target="../media/image11.png"/><Relationship Id="rId1" Type="http://schemas.openxmlformats.org/officeDocument/2006/relationships/tags" Target="../tags/tag12.xml"/></Relationships>
</file>

<file path=ppt/slides/_rels/slide10.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tags" Target="../tags/tag19.xml"/><Relationship Id="rId7" Type="http://schemas.openxmlformats.org/officeDocument/2006/relationships/image" Target="../media/image17.png"/><Relationship Id="rId6" Type="http://schemas.openxmlformats.org/officeDocument/2006/relationships/tags" Target="../tags/tag18.xml"/><Relationship Id="rId5" Type="http://schemas.openxmlformats.org/officeDocument/2006/relationships/image" Target="../media/image16.png"/><Relationship Id="rId4" Type="http://schemas.openxmlformats.org/officeDocument/2006/relationships/tags" Target="../tags/tag17.xml"/><Relationship Id="rId3" Type="http://schemas.openxmlformats.org/officeDocument/2006/relationships/image" Target="../media/image15.png"/><Relationship Id="rId22" Type="http://schemas.openxmlformats.org/officeDocument/2006/relationships/slideLayout" Target="../slideLayouts/slideLayout4.xml"/><Relationship Id="rId21" Type="http://schemas.openxmlformats.org/officeDocument/2006/relationships/tags" Target="../tags/tag26.xml"/><Relationship Id="rId20" Type="http://schemas.openxmlformats.org/officeDocument/2006/relationships/image" Target="../media/image23.png"/><Relationship Id="rId2" Type="http://schemas.openxmlformats.org/officeDocument/2006/relationships/tags" Target="../tags/tag16.xml"/><Relationship Id="rId19" Type="http://schemas.openxmlformats.org/officeDocument/2006/relationships/tags" Target="../tags/tag25.xml"/><Relationship Id="rId18" Type="http://schemas.openxmlformats.org/officeDocument/2006/relationships/image" Target="../media/image22.png"/><Relationship Id="rId17" Type="http://schemas.openxmlformats.org/officeDocument/2006/relationships/tags" Target="../tags/tag24.xml"/><Relationship Id="rId16" Type="http://schemas.openxmlformats.org/officeDocument/2006/relationships/image" Target="../media/image21.png"/><Relationship Id="rId15" Type="http://schemas.openxmlformats.org/officeDocument/2006/relationships/tags" Target="../tags/tag23.xml"/><Relationship Id="rId14" Type="http://schemas.openxmlformats.org/officeDocument/2006/relationships/image" Target="../media/image20.png"/><Relationship Id="rId13" Type="http://schemas.openxmlformats.org/officeDocument/2006/relationships/tags" Target="../tags/tag22.xml"/><Relationship Id="rId12" Type="http://schemas.openxmlformats.org/officeDocument/2006/relationships/tags" Target="../tags/tag21.xml"/><Relationship Id="rId11" Type="http://schemas.openxmlformats.org/officeDocument/2006/relationships/image" Target="../media/image19.png"/><Relationship Id="rId10" Type="http://schemas.openxmlformats.org/officeDocument/2006/relationships/tags" Target="../tags/tag20.xml"/><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image" Target="../media/image27.png"/><Relationship Id="rId7" Type="http://schemas.openxmlformats.org/officeDocument/2006/relationships/tags" Target="../tags/tag30.xml"/><Relationship Id="rId6" Type="http://schemas.openxmlformats.org/officeDocument/2006/relationships/image" Target="../media/image26.png"/><Relationship Id="rId5" Type="http://schemas.openxmlformats.org/officeDocument/2006/relationships/tags" Target="../tags/tag29.xml"/><Relationship Id="rId4" Type="http://schemas.openxmlformats.org/officeDocument/2006/relationships/image" Target="../media/image25.png"/><Relationship Id="rId3" Type="http://schemas.openxmlformats.org/officeDocument/2006/relationships/tags" Target="../tags/tag28.xml"/><Relationship Id="rId25" Type="http://schemas.openxmlformats.org/officeDocument/2006/relationships/slideLayout" Target="../slideLayouts/slideLayout4.xml"/><Relationship Id="rId24" Type="http://schemas.openxmlformats.org/officeDocument/2006/relationships/image" Target="../media/image35.png"/><Relationship Id="rId23" Type="http://schemas.openxmlformats.org/officeDocument/2006/relationships/tags" Target="../tags/tag38.xml"/><Relationship Id="rId22" Type="http://schemas.openxmlformats.org/officeDocument/2006/relationships/image" Target="../media/image34.png"/><Relationship Id="rId21" Type="http://schemas.openxmlformats.org/officeDocument/2006/relationships/tags" Target="../tags/tag37.xml"/><Relationship Id="rId20" Type="http://schemas.openxmlformats.org/officeDocument/2006/relationships/image" Target="../media/image33.png"/><Relationship Id="rId2" Type="http://schemas.openxmlformats.org/officeDocument/2006/relationships/image" Target="../media/image24.png"/><Relationship Id="rId19" Type="http://schemas.openxmlformats.org/officeDocument/2006/relationships/tags" Target="../tags/tag36.xml"/><Relationship Id="rId18" Type="http://schemas.openxmlformats.org/officeDocument/2006/relationships/image" Target="../media/image32.png"/><Relationship Id="rId17" Type="http://schemas.openxmlformats.org/officeDocument/2006/relationships/tags" Target="../tags/tag35.xml"/><Relationship Id="rId16" Type="http://schemas.openxmlformats.org/officeDocument/2006/relationships/image" Target="../media/image31.png"/><Relationship Id="rId15" Type="http://schemas.openxmlformats.org/officeDocument/2006/relationships/tags" Target="../tags/tag34.xml"/><Relationship Id="rId14" Type="http://schemas.openxmlformats.org/officeDocument/2006/relationships/image" Target="../media/image30.png"/><Relationship Id="rId13" Type="http://schemas.openxmlformats.org/officeDocument/2006/relationships/tags" Target="../tags/tag33.xml"/><Relationship Id="rId12" Type="http://schemas.openxmlformats.org/officeDocument/2006/relationships/image" Target="../media/image29.png"/><Relationship Id="rId11" Type="http://schemas.openxmlformats.org/officeDocument/2006/relationships/tags" Target="../tags/tag32.xml"/><Relationship Id="rId10" Type="http://schemas.openxmlformats.org/officeDocument/2006/relationships/image" Target="../media/image28.png"/><Relationship Id="rId1" Type="http://schemas.openxmlformats.org/officeDocument/2006/relationships/tags" Target="../tags/tag27.xml"/></Relationships>
</file>

<file path=ppt/slides/_rels/slide12.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image" Target="../media/image38.png"/><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image" Target="../media/image37.png"/><Relationship Id="rId4" Type="http://schemas.openxmlformats.org/officeDocument/2006/relationships/tags" Target="../tags/tag41.xml"/><Relationship Id="rId3" Type="http://schemas.openxmlformats.org/officeDocument/2006/relationships/image" Target="../media/image36.png"/><Relationship Id="rId2" Type="http://schemas.openxmlformats.org/officeDocument/2006/relationships/tags" Target="../tags/tag40.xml"/><Relationship Id="rId15" Type="http://schemas.openxmlformats.org/officeDocument/2006/relationships/slideLayout" Target="../slideLayouts/slideLayout4.xml"/><Relationship Id="rId14" Type="http://schemas.openxmlformats.org/officeDocument/2006/relationships/image" Target="../media/image41.png"/><Relationship Id="rId13" Type="http://schemas.openxmlformats.org/officeDocument/2006/relationships/tags" Target="../tags/tag46.xml"/><Relationship Id="rId12" Type="http://schemas.openxmlformats.org/officeDocument/2006/relationships/image" Target="../media/image40.png"/><Relationship Id="rId11" Type="http://schemas.openxmlformats.org/officeDocument/2006/relationships/tags" Target="../tags/tag45.xml"/><Relationship Id="rId10" Type="http://schemas.openxmlformats.org/officeDocument/2006/relationships/image" Target="../media/image39.png"/><Relationship Id="rId1" Type="http://schemas.openxmlformats.org/officeDocument/2006/relationships/tags" Target="../tags/tag39.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42.png"/><Relationship Id="rId1" Type="http://schemas.openxmlformats.org/officeDocument/2006/relationships/tags" Target="../tags/tag47.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tags" Target="../tags/tag49.xml"/><Relationship Id="rId1" Type="http://schemas.openxmlformats.org/officeDocument/2006/relationships/tags" Target="../tags/tag48.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45.png"/><Relationship Id="rId2" Type="http://schemas.openxmlformats.org/officeDocument/2006/relationships/tags" Target="../tags/tag51.xml"/><Relationship Id="rId1" Type="http://schemas.openxmlformats.org/officeDocument/2006/relationships/tags" Target="../tags/tag50.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46.png"/><Relationship Id="rId2" Type="http://schemas.openxmlformats.org/officeDocument/2006/relationships/tags" Target="../tags/tag53.xml"/><Relationship Id="rId1" Type="http://schemas.openxmlformats.org/officeDocument/2006/relationships/tags" Target="../tags/tag52.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openxmlformats.org/officeDocument/2006/relationships/image" Target="../media/image48.png"/><Relationship Id="rId4" Type="http://schemas.openxmlformats.org/officeDocument/2006/relationships/tags" Target="../tags/tag56.xml"/><Relationship Id="rId3" Type="http://schemas.openxmlformats.org/officeDocument/2006/relationships/image" Target="../media/image47.png"/><Relationship Id="rId2" Type="http://schemas.openxmlformats.org/officeDocument/2006/relationships/tags" Target="../tags/tag55.xml"/><Relationship Id="rId1" Type="http://schemas.openxmlformats.org/officeDocument/2006/relationships/tags" Target="../tags/tag54.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49.png"/><Relationship Id="rId1" Type="http://schemas.openxmlformats.org/officeDocument/2006/relationships/tags" Target="../tags/tag5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58.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59.xml"/></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51.png"/><Relationship Id="rId3" Type="http://schemas.openxmlformats.org/officeDocument/2006/relationships/tags" Target="../tags/tag61.xml"/><Relationship Id="rId2" Type="http://schemas.openxmlformats.org/officeDocument/2006/relationships/image" Target="../media/image50.png"/><Relationship Id="rId1" Type="http://schemas.openxmlformats.org/officeDocument/2006/relationships/tags" Target="../tags/tag60.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52.png"/><Relationship Id="rId1" Type="http://schemas.openxmlformats.org/officeDocument/2006/relationships/tags" Target="../tags/tag6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稻壳儿智宇https://www.docer.com/works?userid=328340712"/>
          <p:cNvSpPr/>
          <p:nvPr/>
        </p:nvSpPr>
        <p:spPr>
          <a:xfrm>
            <a:off x="381000" y="1617980"/>
            <a:ext cx="11661140" cy="2954655"/>
          </a:xfrm>
          <a:prstGeom prst="rect">
            <a:avLst/>
          </a:prstGeom>
        </p:spPr>
        <p:txBody>
          <a:bodyPr wrap="square" lIns="0" tIns="0" rIns="0" bIns="0">
            <a:spAutoFit/>
          </a:bodyPr>
          <a:lstStyle/>
          <a:p>
            <a:pPr algn="ctr" fontAlgn="base"/>
            <a:r>
              <a:rPr lang="zh-CN" altLang="en-US" sz="4800" dirty="0">
                <a:solidFill>
                  <a:schemeClr val="bg1"/>
                </a:solidFill>
                <a:latin typeface="Times New Roman Regular" panose="02020603050405020304" charset="0"/>
                <a:ea typeface="宋体" pitchFamily="2" charset="-122"/>
                <a:cs typeface="Times New Roman Regular" panose="02020603050405020304" charset="0"/>
              </a:rPr>
              <a:t>Physics-informed deep learning for infectious disease forecasting</a:t>
            </a:r>
            <a:endParaRPr lang="zh-CN" altLang="en-US" sz="4800" dirty="0">
              <a:solidFill>
                <a:schemeClr val="bg1"/>
              </a:solidFill>
              <a:latin typeface="Times New Roman Regular" panose="02020603050405020304" charset="0"/>
              <a:ea typeface="宋体" pitchFamily="2" charset="-122"/>
              <a:cs typeface="Times New Roman Regular" panose="02020603050405020304" charset="0"/>
            </a:endParaRPr>
          </a:p>
          <a:p>
            <a:pPr algn="ctr" fontAlgn="base"/>
            <a:r>
              <a:rPr lang="zh-CN" altLang="en-US" sz="4800" dirty="0">
                <a:solidFill>
                  <a:schemeClr val="bg1"/>
                </a:solidFill>
                <a:latin typeface="Times New Roman Regular" panose="02020603050405020304" charset="0"/>
                <a:ea typeface="宋体" pitchFamily="2" charset="-122"/>
                <a:cs typeface="Times New Roman Regular" panose="02020603050405020304" charset="0"/>
              </a:rPr>
              <a:t>基于物理</a:t>
            </a:r>
            <a:r>
              <a:rPr lang="zh-CN" altLang="en-US" sz="4800" dirty="0">
                <a:solidFill>
                  <a:schemeClr val="bg1"/>
                </a:solidFill>
                <a:latin typeface="Times New Roman Regular" panose="02020603050405020304" charset="0"/>
                <a:ea typeface="宋体" pitchFamily="2" charset="-122"/>
                <a:cs typeface="Times New Roman Regular" panose="02020603050405020304" charset="0"/>
              </a:rPr>
              <a:t>信息的深度学习在传染病预测中的应用</a:t>
            </a:r>
            <a:endParaRPr lang="zh-CN" altLang="en-US" sz="4800" dirty="0">
              <a:solidFill>
                <a:schemeClr val="bg1"/>
              </a:solidFill>
              <a:latin typeface="Times New Roman Regular" panose="02020603050405020304" charset="0"/>
              <a:ea typeface="宋体" pitchFamily="2" charset="-122"/>
              <a:cs typeface="Times New Roman Regular" panose="02020603050405020304" charset="0"/>
            </a:endParaRPr>
          </a:p>
        </p:txBody>
      </p:sp>
      <p:sp>
        <p:nvSpPr>
          <p:cNvPr id="10" name="文本框 9"/>
          <p:cNvSpPr txBox="1"/>
          <p:nvPr/>
        </p:nvSpPr>
        <p:spPr>
          <a:xfrm>
            <a:off x="4179570" y="5172710"/>
            <a:ext cx="4064000" cy="551815"/>
          </a:xfrm>
          <a:prstGeom prst="rect">
            <a:avLst/>
          </a:prstGeom>
          <a:solidFill>
            <a:schemeClr val="bg1"/>
          </a:solidFill>
        </p:spPr>
        <p:txBody>
          <a:bodyPr wrap="square" rtlCol="0">
            <a:noAutofit/>
          </a:bodyPr>
          <a:lstStyle/>
          <a:p>
            <a:pPr algn="ctr"/>
            <a:r>
              <a:rPr lang="zh-CN" altLang="en-US" sz="2400" b="1" dirty="0">
                <a:latin typeface="宋体" pitchFamily="2" charset="-122"/>
                <a:ea typeface="宋体" pitchFamily="2" charset="-122"/>
              </a:rPr>
              <a:t>汇报人：</a:t>
            </a:r>
            <a:r>
              <a:rPr lang="en-US" altLang="zh-CN" sz="2400" b="1" dirty="0">
                <a:latin typeface="宋体" pitchFamily="2" charset="-122"/>
                <a:ea typeface="宋体" pitchFamily="2" charset="-122"/>
              </a:rPr>
              <a:t>Adrain</a:t>
            </a:r>
            <a:endParaRPr lang="en-US" altLang="zh-CN" sz="2400" b="1" dirty="0">
              <a:latin typeface="宋体" pitchFamily="2" charset="-122"/>
              <a:ea typeface="宋体" pitchFamily="2" charset="-122"/>
            </a:endParaRPr>
          </a:p>
        </p:txBody>
      </p:sp>
      <p:sp>
        <p:nvSpPr>
          <p:cNvPr id="9" name="文本框 8"/>
          <p:cNvSpPr txBox="1"/>
          <p:nvPr/>
        </p:nvSpPr>
        <p:spPr>
          <a:xfrm>
            <a:off x="11430" y="-26035"/>
            <a:ext cx="12180570" cy="1451610"/>
          </a:xfrm>
          <a:prstGeom prst="rect">
            <a:avLst/>
          </a:prstGeom>
          <a:solidFill>
            <a:schemeClr val="bg1"/>
          </a:solidFill>
        </p:spPr>
        <p:txBody>
          <a:bodyPr wrap="square" rtlCol="0">
            <a:noAutofit/>
          </a:bodyPr>
          <a:lstStyle/>
          <a:p>
            <a:endParaRPr lang="zh-CN" altLang="en-US">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custDataLst>
              <p:tags r:id="rId1"/>
            </p:custDataLst>
          </p:nvPr>
        </p:nvPicPr>
        <p:blipFill>
          <a:blip r:embed="rId2"/>
          <a:stretch>
            <a:fillRect/>
          </a:stretch>
        </p:blipFill>
        <p:spPr>
          <a:xfrm>
            <a:off x="3101340" y="1178560"/>
            <a:ext cx="9090660" cy="4726940"/>
          </a:xfrm>
          <a:prstGeom prst="rect">
            <a:avLst/>
          </a:prstGeom>
        </p:spPr>
      </p:pic>
      <p:pic>
        <p:nvPicPr>
          <p:cNvPr id="9" name="图片 8"/>
          <p:cNvPicPr>
            <a:picLocks noChangeAspect="1"/>
          </p:cNvPicPr>
          <p:nvPr>
            <p:custDataLst>
              <p:tags r:id="rId3"/>
            </p:custDataLst>
          </p:nvPr>
        </p:nvPicPr>
        <p:blipFill>
          <a:blip r:embed="rId4"/>
          <a:stretch>
            <a:fillRect/>
          </a:stretch>
        </p:blipFill>
        <p:spPr>
          <a:xfrm>
            <a:off x="168275" y="1308100"/>
            <a:ext cx="2999105" cy="42411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稻壳儿智宇https://www.docer.com/works?userid=328340712"/>
          <p:cNvCxnSpPr/>
          <p:nvPr/>
        </p:nvCxnSpPr>
        <p:spPr>
          <a:xfrm>
            <a:off x="182253" y="1429004"/>
            <a:ext cx="2119630" cy="381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14935" y="823913"/>
            <a:ext cx="5080000" cy="730885"/>
          </a:xfrm>
          <a:prstGeom prst="rect">
            <a:avLst/>
          </a:prstGeom>
        </p:spPr>
        <p:txBody>
          <a:bodyPr>
            <a:spAutoFit/>
          </a:bodyPr>
          <a:lstStyle/>
          <a:p>
            <a:pPr marL="0" algn="l">
              <a:lnSpc>
                <a:spcPct val="130000"/>
              </a:lnSpc>
              <a:buClrTx/>
              <a:buSzTx/>
              <a:buFontTx/>
            </a:pPr>
            <a:r>
              <a:rPr lang="zh-CN" altLang="en-US" sz="3200" dirty="0">
                <a:latin typeface="宋体" pitchFamily="2" charset="-122"/>
                <a:ea typeface="宋体" pitchFamily="2" charset="-122"/>
              </a:rPr>
              <a:t>摘要</a:t>
            </a:r>
            <a:r>
              <a:rPr lang="en-US" altLang="zh-CN" sz="3200" dirty="0">
                <a:latin typeface="宋体" pitchFamily="2" charset="-122"/>
                <a:ea typeface="宋体" pitchFamily="2" charset="-122"/>
              </a:rPr>
              <a:t>:</a:t>
            </a:r>
            <a:endParaRPr lang="zh-CN" altLang="en-US" sz="3200" i="0" dirty="0">
              <a:latin typeface="华文行楷" panose="02010800040101010101" pitchFamily="2" charset="-122"/>
              <a:ea typeface="华文行楷" panose="02010800040101010101" pitchFamily="2" charset="-122"/>
            </a:endParaRPr>
          </a:p>
        </p:txBody>
      </p:sp>
      <p:sp>
        <p:nvSpPr>
          <p:cNvPr id="36" name="文本框 35"/>
          <p:cNvSpPr txBox="1"/>
          <p:nvPr/>
        </p:nvSpPr>
        <p:spPr>
          <a:xfrm>
            <a:off x="356434" y="1729815"/>
            <a:ext cx="11478555" cy="4399915"/>
          </a:xfrm>
          <a:prstGeom prst="rect">
            <a:avLst/>
          </a:prstGeom>
          <a:noFill/>
        </p:spPr>
        <p:txBody>
          <a:bodyPr wrap="square" rtlCol="0">
            <a:spAutoFit/>
          </a:bodyPr>
          <a:lstStyle/>
          <a:p>
            <a:pPr algn="just"/>
            <a:r>
              <a:rPr lang="zh-CN" sz="2000" b="1" i="0" dirty="0">
                <a:effectLst/>
                <a:latin typeface="宋体" pitchFamily="2" charset="-122"/>
                <a:ea typeface="宋体" pitchFamily="2" charset="-122"/>
              </a:rPr>
              <a:t>背景：</a:t>
            </a:r>
            <a:r>
              <a:rPr sz="2000" i="0" dirty="0">
                <a:effectLst/>
                <a:latin typeface="宋体" pitchFamily="2" charset="-122"/>
                <a:ea typeface="宋体" pitchFamily="2" charset="-122"/>
              </a:rPr>
              <a:t>准确预测传染病对公共卫生政策制定变得越来越重要，</a:t>
            </a:r>
            <a:r>
              <a:rPr lang="zh-CN" sz="2000" i="0" dirty="0">
                <a:effectLst/>
                <a:latin typeface="宋体" pitchFamily="2" charset="-122"/>
                <a:ea typeface="宋体" pitchFamily="2" charset="-122"/>
              </a:rPr>
              <a:t>精确</a:t>
            </a:r>
            <a:r>
              <a:rPr sz="2000" i="0" dirty="0">
                <a:effectLst/>
                <a:latin typeface="宋体" pitchFamily="2" charset="-122"/>
                <a:ea typeface="宋体" pitchFamily="2" charset="-122"/>
              </a:rPr>
              <a:t>的预测可以防止数百万人的</a:t>
            </a:r>
            <a:r>
              <a:rPr lang="zh-CN" sz="2000" i="0" dirty="0">
                <a:effectLst/>
                <a:latin typeface="宋体" pitchFamily="2" charset="-122"/>
                <a:ea typeface="宋体" pitchFamily="2" charset="-122"/>
              </a:rPr>
              <a:t>丧生</a:t>
            </a:r>
            <a:r>
              <a:rPr sz="2000" i="0" dirty="0">
                <a:effectLst/>
                <a:latin typeface="宋体" pitchFamily="2" charset="-122"/>
                <a:ea typeface="宋体" pitchFamily="2" charset="-122"/>
              </a:rPr>
              <a:t>。为了更好地</a:t>
            </a:r>
            <a:r>
              <a:rPr lang="zh-CN" sz="2000" i="0" dirty="0">
                <a:effectLst/>
                <a:latin typeface="宋体" pitchFamily="2" charset="-122"/>
                <a:ea typeface="宋体" pitchFamily="2" charset="-122"/>
              </a:rPr>
              <a:t>应对</a:t>
            </a:r>
            <a:r>
              <a:rPr sz="2000" i="0" dirty="0">
                <a:effectLst/>
                <a:latin typeface="宋体" pitchFamily="2" charset="-122"/>
                <a:ea typeface="宋体" pitchFamily="2" charset="-122"/>
              </a:rPr>
              <a:t>未来的大流行，提高预测方法和能力是至关重要的。</a:t>
            </a:r>
            <a:endParaRPr sz="2000" i="0" dirty="0">
              <a:effectLst/>
              <a:latin typeface="宋体" pitchFamily="2" charset="-122"/>
              <a:ea typeface="宋体" pitchFamily="2" charset="-122"/>
            </a:endParaRPr>
          </a:p>
          <a:p>
            <a:pPr algn="just"/>
            <a:endParaRPr sz="2000" i="0" dirty="0">
              <a:effectLst/>
              <a:latin typeface="宋体" pitchFamily="2" charset="-122"/>
              <a:ea typeface="宋体" pitchFamily="2" charset="-122"/>
            </a:endParaRPr>
          </a:p>
          <a:p>
            <a:pPr algn="just"/>
            <a:r>
              <a:rPr lang="zh-CN" sz="2000" b="1" i="0" dirty="0">
                <a:effectLst/>
                <a:latin typeface="宋体" pitchFamily="2" charset="-122"/>
                <a:ea typeface="宋体" pitchFamily="2" charset="-122"/>
              </a:rPr>
              <a:t>方法：</a:t>
            </a:r>
            <a:r>
              <a:rPr lang="zh-CN" sz="2000" i="0" dirty="0">
                <a:effectLst/>
                <a:latin typeface="宋体" pitchFamily="2" charset="-122"/>
                <a:ea typeface="宋体" pitchFamily="2" charset="-122"/>
              </a:rPr>
              <a:t>使用</a:t>
            </a:r>
            <a:r>
              <a:rPr sz="2000" i="0" dirty="0">
                <a:effectLst/>
                <a:latin typeface="宋体" pitchFamily="2" charset="-122"/>
                <a:ea typeface="宋体" pitchFamily="2" charset="-122"/>
              </a:rPr>
              <a:t>物理信息神经网络（PINNs），将疾病传播的动</a:t>
            </a:r>
            <a:r>
              <a:rPr lang="zh-CN" sz="2000" i="0" dirty="0">
                <a:effectLst/>
                <a:latin typeface="宋体" pitchFamily="2" charset="-122"/>
                <a:ea typeface="宋体" pitchFamily="2" charset="-122"/>
              </a:rPr>
              <a:t>力</a:t>
            </a:r>
            <a:r>
              <a:rPr sz="2000" i="0" dirty="0">
                <a:effectLst/>
                <a:latin typeface="宋体" pitchFamily="2" charset="-122"/>
                <a:ea typeface="宋体" pitchFamily="2" charset="-122"/>
              </a:rPr>
              <a:t>系统纳入损失函数中，从而利用神经网络</a:t>
            </a:r>
            <a:r>
              <a:rPr lang="zh-CN" sz="2000" i="0" dirty="0">
                <a:effectLst/>
                <a:latin typeface="宋体" pitchFamily="2" charset="-122"/>
                <a:ea typeface="宋体" pitchFamily="2" charset="-122"/>
              </a:rPr>
              <a:t>结合</a:t>
            </a:r>
            <a:r>
              <a:rPr sz="2000" i="0" dirty="0">
                <a:effectLst/>
                <a:latin typeface="宋体" pitchFamily="2" charset="-122"/>
                <a:ea typeface="宋体" pitchFamily="2" charset="-122"/>
              </a:rPr>
              <a:t>流行病学理论和数据。</a:t>
            </a:r>
            <a:r>
              <a:rPr lang="zh-CN" sz="2000" i="0" dirty="0">
                <a:effectLst/>
                <a:latin typeface="宋体" pitchFamily="2" charset="-122"/>
                <a:ea typeface="宋体" pitchFamily="2" charset="-122"/>
              </a:rPr>
              <a:t>为了</a:t>
            </a:r>
            <a:r>
              <a:rPr sz="2000" i="0" dirty="0">
                <a:effectLst/>
                <a:latin typeface="宋体" pitchFamily="2" charset="-122"/>
                <a:ea typeface="宋体" pitchFamily="2" charset="-122"/>
              </a:rPr>
              <a:t>防止模型过拟合，使用一个额外的子网络来考虑</a:t>
            </a:r>
            <a:r>
              <a:rPr lang="zh-CN" sz="2000" dirty="0">
                <a:effectLst/>
                <a:latin typeface="宋体" pitchFamily="2" charset="-122"/>
                <a:ea typeface="宋体" pitchFamily="2" charset="-122"/>
                <a:sym typeface="+mn-ea"/>
              </a:rPr>
              <a:t>仓</a:t>
            </a:r>
            <a:r>
              <a:rPr sz="2000" dirty="0">
                <a:effectLst/>
                <a:latin typeface="宋体" pitchFamily="2" charset="-122"/>
                <a:ea typeface="宋体" pitchFamily="2" charset="-122"/>
                <a:sym typeface="+mn-ea"/>
              </a:rPr>
              <a:t>室模型中的关键参数</a:t>
            </a:r>
            <a:r>
              <a:rPr lang="zh-CN" sz="2000" dirty="0">
                <a:effectLst/>
                <a:latin typeface="宋体" pitchFamily="2" charset="-122"/>
                <a:ea typeface="宋体" pitchFamily="2" charset="-122"/>
                <a:sym typeface="+mn-ea"/>
              </a:rPr>
              <a:t>，包括</a:t>
            </a:r>
            <a:r>
              <a:rPr sz="2000" i="0" dirty="0">
                <a:effectLst/>
                <a:latin typeface="宋体" pitchFamily="2" charset="-122"/>
                <a:ea typeface="宋体" pitchFamily="2" charset="-122"/>
              </a:rPr>
              <a:t>流动性、累积疫苗剂量和其他影响传播率的协变量。</a:t>
            </a:r>
            <a:endParaRPr sz="2000" i="0" dirty="0">
              <a:effectLst/>
              <a:latin typeface="宋体" pitchFamily="2" charset="-122"/>
              <a:ea typeface="宋体" pitchFamily="2" charset="-122"/>
            </a:endParaRPr>
          </a:p>
          <a:p>
            <a:pPr algn="just"/>
            <a:endParaRPr sz="2000" i="0" dirty="0">
              <a:effectLst/>
              <a:latin typeface="宋体" pitchFamily="2" charset="-122"/>
              <a:ea typeface="宋体" pitchFamily="2" charset="-122"/>
            </a:endParaRPr>
          </a:p>
          <a:p>
            <a:pPr algn="just"/>
            <a:r>
              <a:rPr lang="zh-CN" sz="2000" b="1" i="0" dirty="0">
                <a:effectLst/>
                <a:latin typeface="宋体" pitchFamily="2" charset="-122"/>
                <a:ea typeface="宋体" pitchFamily="2" charset="-122"/>
              </a:rPr>
              <a:t>结果：</a:t>
            </a:r>
            <a:r>
              <a:rPr sz="2000" i="0" dirty="0">
                <a:effectLst/>
                <a:latin typeface="宋体" pitchFamily="2" charset="-122"/>
                <a:ea typeface="宋体" pitchFamily="2" charset="-122"/>
              </a:rPr>
              <a:t>使用加利福尼亚州州级COVID-19数据检验</a:t>
            </a:r>
            <a:r>
              <a:rPr lang="zh-CN" sz="2000" i="0" dirty="0">
                <a:effectLst/>
                <a:latin typeface="宋体" pitchFamily="2" charset="-122"/>
                <a:ea typeface="宋体" pitchFamily="2" charset="-122"/>
              </a:rPr>
              <a:t>模型</a:t>
            </a:r>
            <a:r>
              <a:rPr sz="2000" i="0" dirty="0">
                <a:effectLst/>
                <a:latin typeface="宋体" pitchFamily="2" charset="-122"/>
                <a:ea typeface="宋体" pitchFamily="2" charset="-122"/>
              </a:rPr>
              <a:t>表现。结果表明，PINNs模型对病例数、死亡和住院的预测与</a:t>
            </a:r>
            <a:r>
              <a:rPr lang="zh-CN" sz="2000" i="0" dirty="0">
                <a:effectLst/>
                <a:latin typeface="宋体" pitchFamily="2" charset="-122"/>
                <a:ea typeface="宋体" pitchFamily="2" charset="-122"/>
              </a:rPr>
              <a:t>真实数据相符</a:t>
            </a:r>
            <a:r>
              <a:rPr sz="2000" i="0" dirty="0">
                <a:effectLst/>
                <a:latin typeface="宋体" pitchFamily="2" charset="-122"/>
                <a:ea typeface="宋体" pitchFamily="2" charset="-122"/>
              </a:rPr>
              <a:t>。特别是，PINNs模型优于简单的基线预测和各种</a:t>
            </a:r>
            <a:r>
              <a:rPr lang="zh-CN" sz="2000" i="0" dirty="0">
                <a:effectLst/>
                <a:latin typeface="宋体" pitchFamily="2" charset="-122"/>
                <a:ea typeface="宋体" pitchFamily="2" charset="-122"/>
              </a:rPr>
              <a:t>时序</a:t>
            </a:r>
            <a:r>
              <a:rPr sz="2000" i="0" dirty="0">
                <a:effectLst/>
                <a:latin typeface="宋体" pitchFamily="2" charset="-122"/>
                <a:ea typeface="宋体" pitchFamily="2" charset="-122"/>
              </a:rPr>
              <a:t>深度学习模型，如</a:t>
            </a:r>
            <a:r>
              <a:rPr lang="en-US" sz="2000" i="0" dirty="0">
                <a:effectLst/>
                <a:latin typeface="宋体" pitchFamily="2" charset="-122"/>
                <a:ea typeface="宋体" pitchFamily="2" charset="-122"/>
              </a:rPr>
              <a:t>RNN</a:t>
            </a:r>
            <a:r>
              <a:rPr sz="2000" i="0" dirty="0">
                <a:effectLst/>
                <a:latin typeface="宋体" pitchFamily="2" charset="-122"/>
                <a:ea typeface="宋体" pitchFamily="2" charset="-122"/>
              </a:rPr>
              <a:t>、</a:t>
            </a:r>
            <a:r>
              <a:rPr lang="en-US" sz="2000" i="0" dirty="0">
                <a:effectLst/>
                <a:latin typeface="宋体" pitchFamily="2" charset="-122"/>
                <a:ea typeface="宋体" pitchFamily="2" charset="-122"/>
              </a:rPr>
              <a:t>LSTM</a:t>
            </a:r>
            <a:r>
              <a:rPr sz="2000" i="0" dirty="0">
                <a:effectLst/>
                <a:latin typeface="宋体" pitchFamily="2" charset="-122"/>
                <a:ea typeface="宋体" pitchFamily="2" charset="-122"/>
              </a:rPr>
              <a:t>、Transformer</a:t>
            </a:r>
            <a:r>
              <a:rPr lang="zh-CN" sz="2000" i="0" dirty="0">
                <a:effectLst/>
                <a:latin typeface="宋体" pitchFamily="2" charset="-122"/>
                <a:ea typeface="宋体" pitchFamily="2" charset="-122"/>
              </a:rPr>
              <a:t>等</a:t>
            </a:r>
            <a:r>
              <a:rPr sz="2000" i="0" dirty="0">
                <a:effectLst/>
                <a:latin typeface="宋体" pitchFamily="2" charset="-122"/>
                <a:ea typeface="宋体" pitchFamily="2" charset="-122"/>
              </a:rPr>
              <a:t>。我们还表明，PINNs模型的表现与复杂高斯感染状态预测模型相当。尽管如此，PINNs模型提供了一个更简单的结构，并且更容易实现。</a:t>
            </a:r>
            <a:endParaRPr sz="2000" i="0" dirty="0">
              <a:effectLst/>
              <a:latin typeface="宋体" pitchFamily="2" charset="-122"/>
              <a:ea typeface="宋体" pitchFamily="2" charset="-122"/>
            </a:endParaRPr>
          </a:p>
          <a:p>
            <a:pPr algn="just"/>
            <a:endParaRPr sz="2000" i="0" dirty="0">
              <a:effectLst/>
              <a:latin typeface="宋体" pitchFamily="2" charset="-122"/>
              <a:ea typeface="宋体" pitchFamily="2" charset="-122"/>
            </a:endParaRPr>
          </a:p>
          <a:p>
            <a:pPr algn="just"/>
            <a:r>
              <a:rPr sz="2000" i="0" dirty="0">
                <a:effectLst/>
                <a:latin typeface="宋体" pitchFamily="2" charset="-122"/>
                <a:ea typeface="宋体" pitchFamily="2" charset="-122"/>
              </a:rPr>
              <a:t>总之，对PINNs模型在预测传染病动态方面的预测能力进行了系统研究，展示了所提出模型作为提高当前传染病预测能力的有效计算工具的潜力。</a:t>
            </a:r>
            <a:endParaRPr sz="2000" i="0" dirty="0">
              <a:effectLst/>
              <a:latin typeface="宋体" pitchFamily="2" charset="-122"/>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77294" y="938636"/>
            <a:ext cx="5211774" cy="733519"/>
            <a:chOff x="1182" y="1825"/>
            <a:chExt cx="3044" cy="679"/>
          </a:xfrm>
        </p:grpSpPr>
        <p:sp>
          <p:nvSpPr>
            <p:cNvPr id="38" name="稻壳儿智宇https://www.docer.com/works?userid=328340712"/>
            <p:cNvSpPr txBox="1"/>
            <p:nvPr/>
          </p:nvSpPr>
          <p:spPr>
            <a:xfrm>
              <a:off x="1182" y="1825"/>
              <a:ext cx="3044" cy="54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dirty="0">
                  <a:solidFill>
                    <a:schemeClr val="tx1"/>
                  </a:solidFill>
                  <a:latin typeface="宋体" pitchFamily="2" charset="-122"/>
                  <a:ea typeface="宋体" pitchFamily="2" charset="-122"/>
                  <a:cs typeface="+mn-ea"/>
                  <a:sym typeface="Segoe UI" panose="020B0502040204020203" pitchFamily="34" charset="0"/>
                </a:rPr>
                <a:t>研究</a:t>
              </a:r>
              <a:r>
                <a:rPr lang="zh-CN" altLang="en-US" sz="3200" dirty="0">
                  <a:solidFill>
                    <a:schemeClr val="tx1"/>
                  </a:solidFill>
                  <a:latin typeface="宋体" pitchFamily="2" charset="-122"/>
                  <a:ea typeface="宋体" pitchFamily="2" charset="-122"/>
                  <a:cs typeface="+mn-ea"/>
                  <a:sym typeface="Segoe UI" panose="020B0502040204020203" pitchFamily="34" charset="0"/>
                </a:rPr>
                <a:t>背景</a:t>
              </a:r>
              <a:endParaRPr lang="zh-CN" altLang="en-US" sz="3200" dirty="0">
                <a:solidFill>
                  <a:schemeClr val="tx1"/>
                </a:solidFill>
                <a:latin typeface="宋体" pitchFamily="2" charset="-122"/>
                <a:ea typeface="宋体" pitchFamily="2" charset="-122"/>
                <a:cs typeface="+mn-ea"/>
                <a:sym typeface="Segoe UI" panose="020B0502040204020203" pitchFamily="34" charset="0"/>
              </a:endParaRPr>
            </a:p>
          </p:txBody>
        </p:sp>
        <p:sp>
          <p:nvSpPr>
            <p:cNvPr id="36" name="稻壳儿智宇https://www.docer.com/works?userid=328340712"/>
            <p:cNvSpPr/>
            <p:nvPr/>
          </p:nvSpPr>
          <p:spPr>
            <a:xfrm>
              <a:off x="1231" y="2384"/>
              <a:ext cx="1454" cy="12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grpSp>
      <p:sp>
        <p:nvSpPr>
          <p:cNvPr id="2" name="文本框 1"/>
          <p:cNvSpPr txBox="1"/>
          <p:nvPr/>
        </p:nvSpPr>
        <p:spPr>
          <a:xfrm>
            <a:off x="361315" y="2057400"/>
            <a:ext cx="3585845" cy="4241165"/>
          </a:xfrm>
          <a:prstGeom prst="rect">
            <a:avLst/>
          </a:prstGeom>
          <a:noFill/>
          <a:ln w="12700" cmpd="sng">
            <a:solidFill>
              <a:schemeClr val="accent1">
                <a:shade val="50000"/>
              </a:schemeClr>
            </a:solidFill>
            <a:prstDash val="solid"/>
          </a:ln>
        </p:spPr>
        <p:txBody>
          <a:bodyPr wrap="square" rtlCol="0">
            <a:noAutofit/>
          </a:bodyPr>
          <a:p>
            <a:pPr algn="ctr"/>
            <a:endParaRPr lang="zh-CN" altLang="en-US">
              <a:latin typeface="宋体" charset="0"/>
              <a:ea typeface="宋体" charset="0"/>
              <a:cs typeface="宋体" charset="0"/>
            </a:endParaRPr>
          </a:p>
          <a:p>
            <a:pPr algn="ctr"/>
            <a:r>
              <a:rPr lang="zh-CN" altLang="en-US">
                <a:latin typeface="宋体" charset="0"/>
                <a:ea typeface="宋体" charset="0"/>
                <a:cs typeface="宋体" charset="0"/>
              </a:rPr>
              <a:t>传染病预测的紧迫性</a:t>
            </a:r>
            <a:endParaRPr lang="zh-CN" altLang="en-US">
              <a:latin typeface="宋体" charset="0"/>
              <a:ea typeface="宋体" charset="0"/>
              <a:cs typeface="宋体" charset="0"/>
            </a:endParaRPr>
          </a:p>
          <a:p>
            <a:endParaRPr lang="zh-CN" altLang="en-US">
              <a:latin typeface="宋体" charset="0"/>
              <a:ea typeface="宋体" charset="0"/>
              <a:cs typeface="宋体" charset="0"/>
            </a:endParaRPr>
          </a:p>
          <a:p>
            <a:pPr marL="285750" indent="-285750">
              <a:buFont typeface="Arial" panose="020B0604020202090204" pitchFamily="34" charset="0"/>
              <a:buChar char="•"/>
            </a:pPr>
            <a:r>
              <a:rPr lang="zh-CN" altLang="en-US">
                <a:latin typeface="宋体" charset="0"/>
                <a:ea typeface="宋体" charset="0"/>
                <a:cs typeface="宋体" charset="0"/>
              </a:rPr>
              <a:t>COVID-19已成为2022年美国第三大死因。</a:t>
            </a:r>
            <a:endParaRPr lang="zh-CN" altLang="en-US">
              <a:latin typeface="宋体" charset="0"/>
              <a:ea typeface="宋体" charset="0"/>
              <a:cs typeface="宋体" charset="0"/>
            </a:endParaRPr>
          </a:p>
          <a:p>
            <a:endParaRPr lang="zh-CN" altLang="en-US">
              <a:latin typeface="宋体" charset="0"/>
              <a:ea typeface="宋体" charset="0"/>
              <a:cs typeface="宋体" charset="0"/>
            </a:endParaRPr>
          </a:p>
          <a:p>
            <a:pPr marL="285750" indent="-285750">
              <a:buFont typeface="Arial" panose="020B0604020202090204" pitchFamily="34" charset="0"/>
              <a:buChar char="•"/>
            </a:pPr>
            <a:r>
              <a:rPr lang="zh-CN" altLang="en-US">
                <a:latin typeface="宋体" charset="0"/>
                <a:ea typeface="宋体" charset="0"/>
                <a:cs typeface="宋体" charset="0"/>
              </a:rPr>
              <a:t>气候变化预计将加剧疾病传播风险</a:t>
            </a:r>
            <a:endParaRPr lang="zh-CN" altLang="en-US">
              <a:latin typeface="宋体" charset="0"/>
              <a:ea typeface="宋体" charset="0"/>
              <a:cs typeface="宋体" charset="0"/>
            </a:endParaRPr>
          </a:p>
          <a:p>
            <a:endParaRPr lang="zh-CN" altLang="en-US">
              <a:latin typeface="宋体" charset="0"/>
              <a:ea typeface="宋体" charset="0"/>
              <a:cs typeface="宋体" charset="0"/>
            </a:endParaRPr>
          </a:p>
          <a:p>
            <a:pPr marL="285750" indent="-285750">
              <a:buFont typeface="Arial" panose="020B0604020202090204" pitchFamily="34" charset="0"/>
              <a:buChar char="•"/>
            </a:pPr>
            <a:r>
              <a:rPr lang="zh-CN" altLang="en-US">
                <a:latin typeface="宋体" charset="0"/>
                <a:ea typeface="宋体" charset="0"/>
                <a:cs typeface="宋体" charset="0"/>
              </a:rPr>
              <a:t>准确预测可为公共卫生决策提供关键支撑，</a:t>
            </a:r>
            <a:r>
              <a:rPr lang="zh-CN" altLang="en-US">
                <a:latin typeface="宋体" charset="0"/>
                <a:ea typeface="宋体" charset="0"/>
                <a:cs typeface="宋体" charset="0"/>
              </a:rPr>
              <a:t>如资源分配、干预措施、疫苗试验等</a:t>
            </a:r>
            <a:endParaRPr lang="zh-CN" altLang="en-US">
              <a:latin typeface="宋体" charset="0"/>
              <a:ea typeface="宋体" charset="0"/>
              <a:cs typeface="宋体" charset="0"/>
            </a:endParaRPr>
          </a:p>
        </p:txBody>
      </p:sp>
      <p:sp>
        <p:nvSpPr>
          <p:cNvPr id="3" name="文本框 2"/>
          <p:cNvSpPr txBox="1"/>
          <p:nvPr/>
        </p:nvSpPr>
        <p:spPr>
          <a:xfrm>
            <a:off x="4303395" y="2057400"/>
            <a:ext cx="3585845" cy="4242435"/>
          </a:xfrm>
          <a:prstGeom prst="rect">
            <a:avLst/>
          </a:prstGeom>
          <a:noFill/>
          <a:ln w="12700" cmpd="sng">
            <a:solidFill>
              <a:schemeClr val="accent1">
                <a:shade val="50000"/>
              </a:schemeClr>
            </a:solidFill>
            <a:prstDash val="solid"/>
          </a:ln>
        </p:spPr>
        <p:txBody>
          <a:bodyPr wrap="square" rtlCol="0">
            <a:noAutofit/>
          </a:bodyPr>
          <a:p>
            <a:pPr algn="ctr"/>
            <a:endParaRPr lang="zh-CN" altLang="en-US">
              <a:latin typeface="宋体" charset="0"/>
              <a:ea typeface="宋体" charset="0"/>
              <a:cs typeface="宋体" charset="0"/>
            </a:endParaRPr>
          </a:p>
          <a:p>
            <a:pPr algn="ctr"/>
            <a:r>
              <a:rPr lang="zh-CN" altLang="en-US">
                <a:latin typeface="宋体" charset="0"/>
                <a:ea typeface="宋体" charset="0"/>
                <a:cs typeface="宋体" charset="0"/>
              </a:rPr>
              <a:t>传统方法的局限</a:t>
            </a:r>
            <a:endParaRPr lang="zh-CN" altLang="en-US">
              <a:latin typeface="宋体" charset="0"/>
              <a:ea typeface="宋体" charset="0"/>
              <a:cs typeface="宋体" charset="0"/>
            </a:endParaRPr>
          </a:p>
          <a:p>
            <a:endParaRPr lang="zh-CN" altLang="en-US">
              <a:latin typeface="宋体" charset="0"/>
              <a:ea typeface="宋体" charset="0"/>
              <a:cs typeface="宋体" charset="0"/>
            </a:endParaRPr>
          </a:p>
          <a:p>
            <a:pPr marL="285750" indent="-285750">
              <a:buFont typeface="Arial" panose="020B0604020202090204" pitchFamily="34" charset="0"/>
              <a:buChar char="•"/>
            </a:pPr>
            <a:r>
              <a:rPr lang="zh-CN" altLang="en-US">
                <a:latin typeface="宋体" charset="0"/>
                <a:ea typeface="宋体" charset="0"/>
                <a:cs typeface="宋体" charset="0"/>
              </a:rPr>
              <a:t>仓室模型通常假设传播率、恢复率等参数固定不变，</a:t>
            </a:r>
            <a:r>
              <a:rPr lang="zh-CN" altLang="en-US">
                <a:latin typeface="宋体" charset="0"/>
                <a:ea typeface="宋体" charset="0"/>
                <a:cs typeface="宋体" charset="0"/>
              </a:rPr>
              <a:t>但实际疫情中，参数常因疫苗接种、病毒变异、干预政策等因素动态变化，固定假设难以成立。</a:t>
            </a:r>
            <a:endParaRPr lang="zh-CN" altLang="en-US">
              <a:latin typeface="宋体" charset="0"/>
              <a:ea typeface="宋体" charset="0"/>
              <a:cs typeface="宋体" charset="0"/>
            </a:endParaRPr>
          </a:p>
          <a:p>
            <a:pPr marL="285750" indent="-285750">
              <a:buFont typeface="Arial" panose="020B0604020202090204" pitchFamily="34" charset="0"/>
              <a:buChar char="•"/>
            </a:pPr>
            <a:r>
              <a:rPr lang="zh-CN" altLang="en-US">
                <a:latin typeface="宋体" charset="0"/>
                <a:ea typeface="宋体" charset="0"/>
                <a:cs typeface="宋体" charset="0"/>
              </a:rPr>
              <a:t>机器学习能从数据中高效识别规律，可融合多源数据，</a:t>
            </a:r>
            <a:r>
              <a:rPr lang="zh-CN" altLang="en-US">
                <a:latin typeface="宋体" charset="0"/>
                <a:ea typeface="宋体" charset="0"/>
                <a:cs typeface="宋体" charset="0"/>
              </a:rPr>
              <a:t>但需要大量标注训练数据，缺乏传播机制约束，可能产生不合理预测，难以区分真实趋势与数据噪声，预测非平稳系统时表现不佳。</a:t>
            </a:r>
            <a:endParaRPr lang="zh-CN" altLang="en-US">
              <a:latin typeface="宋体" charset="0"/>
              <a:ea typeface="宋体" charset="0"/>
              <a:cs typeface="宋体" charset="0"/>
            </a:endParaRPr>
          </a:p>
        </p:txBody>
      </p:sp>
      <p:sp>
        <p:nvSpPr>
          <p:cNvPr id="4" name="文本框 3"/>
          <p:cNvSpPr txBox="1"/>
          <p:nvPr>
            <p:custDataLst>
              <p:tags r:id="rId1"/>
            </p:custDataLst>
          </p:nvPr>
        </p:nvSpPr>
        <p:spPr>
          <a:xfrm>
            <a:off x="8245475" y="2057400"/>
            <a:ext cx="3585845" cy="4242435"/>
          </a:xfrm>
          <a:prstGeom prst="rect">
            <a:avLst/>
          </a:prstGeom>
          <a:noFill/>
          <a:ln w="12700" cmpd="sng">
            <a:solidFill>
              <a:schemeClr val="accent1">
                <a:shade val="50000"/>
              </a:schemeClr>
            </a:solidFill>
            <a:prstDash val="solid"/>
          </a:ln>
        </p:spPr>
        <p:txBody>
          <a:bodyPr wrap="square" rtlCol="0">
            <a:noAutofit/>
          </a:bodyPr>
          <a:p>
            <a:pPr algn="ctr"/>
            <a:endParaRPr lang="zh-CN" altLang="en-US">
              <a:latin typeface="宋体" charset="0"/>
              <a:ea typeface="宋体" charset="0"/>
              <a:cs typeface="宋体" charset="0"/>
            </a:endParaRPr>
          </a:p>
          <a:p>
            <a:pPr algn="ctr"/>
            <a:r>
              <a:rPr lang="zh-CN" altLang="en-US">
                <a:latin typeface="宋体" charset="0"/>
                <a:ea typeface="宋体" charset="0"/>
                <a:cs typeface="宋体" charset="0"/>
              </a:rPr>
              <a:t>科学机器学习的兴起：PINNs</a:t>
            </a:r>
            <a:endParaRPr lang="zh-CN" altLang="en-US">
              <a:latin typeface="宋体" charset="0"/>
              <a:ea typeface="宋体" charset="0"/>
              <a:cs typeface="宋体" charset="0"/>
            </a:endParaRPr>
          </a:p>
          <a:p>
            <a:pPr algn="ctr"/>
            <a:endParaRPr lang="zh-CN" altLang="en-US">
              <a:latin typeface="宋体" charset="0"/>
              <a:ea typeface="宋体" charset="0"/>
              <a:cs typeface="宋体" charset="0"/>
            </a:endParaRPr>
          </a:p>
          <a:p>
            <a:pPr marL="285750" indent="-285750" algn="l">
              <a:buFont typeface="Arial" panose="020B0604020202090204" pitchFamily="34" charset="0"/>
              <a:buChar char="•"/>
            </a:pPr>
            <a:r>
              <a:rPr lang="zh-CN" altLang="en-US">
                <a:latin typeface="宋体" charset="0"/>
                <a:ea typeface="宋体" charset="0"/>
                <a:cs typeface="宋体" charset="0"/>
              </a:rPr>
              <a:t>物理信息神经网络将领域知识（如仓室模型ODE）嵌入损失函数</a:t>
            </a:r>
            <a:endParaRPr lang="zh-CN" altLang="en-US">
              <a:latin typeface="宋体" charset="0"/>
              <a:ea typeface="宋体" charset="0"/>
              <a:cs typeface="宋体" charset="0"/>
            </a:endParaRPr>
          </a:p>
          <a:p>
            <a:pPr marL="285750" indent="-285750" algn="l">
              <a:buFont typeface="Arial" panose="020B0604020202090204" pitchFamily="34" charset="0"/>
              <a:buChar char="•"/>
            </a:pPr>
            <a:r>
              <a:rPr lang="zh-CN" altLang="en-US">
                <a:latin typeface="宋体" charset="0"/>
                <a:ea typeface="宋体" charset="0"/>
                <a:cs typeface="宋体" charset="0"/>
              </a:rPr>
              <a:t>融合数据与机理，实现"小数据"学习。</a:t>
            </a:r>
            <a:endParaRPr lang="zh-CN" altLang="en-US">
              <a:latin typeface="宋体" charset="0"/>
              <a:ea typeface="宋体" charset="0"/>
              <a:cs typeface="宋体" charset="0"/>
            </a:endParaRPr>
          </a:p>
          <a:p>
            <a:pPr marL="285750" indent="-285750" algn="l">
              <a:buFont typeface="Arial" panose="020B0604020202090204" pitchFamily="34" charset="0"/>
              <a:buChar char="•"/>
            </a:pPr>
            <a:r>
              <a:rPr lang="zh-CN" altLang="en-US">
                <a:latin typeface="宋体" charset="0"/>
                <a:ea typeface="宋体" charset="0"/>
                <a:cs typeface="宋体" charset="0"/>
              </a:rPr>
              <a:t>可利用物理/生物规律约束，防止过拟合</a:t>
            </a:r>
            <a:endParaRPr lang="zh-CN" altLang="en-US">
              <a:latin typeface="宋体" charset="0"/>
              <a:ea typeface="宋体" charset="0"/>
              <a:cs typeface="宋体" charset="0"/>
            </a:endParaRPr>
          </a:p>
          <a:p>
            <a:pPr marL="285750" indent="-285750" algn="l">
              <a:buFont typeface="Arial" panose="020B0604020202090204" pitchFamily="34" charset="0"/>
              <a:buChar char="•"/>
            </a:pPr>
            <a:r>
              <a:rPr lang="zh-CN" altLang="en-US">
                <a:latin typeface="宋体" charset="0"/>
                <a:ea typeface="宋体" charset="0"/>
                <a:cs typeface="宋体" charset="0"/>
              </a:rPr>
              <a:t>能同时推断未知参数并预测未观测到的动态</a:t>
            </a:r>
            <a:endParaRPr lang="zh-CN" altLang="en-US">
              <a:latin typeface="宋体" charset="0"/>
              <a:ea typeface="宋体" charset="0"/>
              <a:cs typeface="宋体" charset="0"/>
            </a:endParaRPr>
          </a:p>
          <a:p>
            <a:pPr algn="ctr"/>
            <a:endParaRPr lang="zh-CN" altLang="en-US">
              <a:latin typeface="宋体" charset="0"/>
              <a:ea typeface="宋体" charset="0"/>
              <a:cs typeface="宋体" charset="0"/>
            </a:endParaRPr>
          </a:p>
        </p:txBody>
      </p:sp>
      <p:sp>
        <p:nvSpPr>
          <p:cNvPr id="7" name="文本框 6"/>
          <p:cNvSpPr txBox="1"/>
          <p:nvPr/>
        </p:nvSpPr>
        <p:spPr>
          <a:xfrm>
            <a:off x="3305175" y="1033780"/>
            <a:ext cx="8526145" cy="829945"/>
          </a:xfrm>
          <a:prstGeom prst="rect">
            <a:avLst/>
          </a:prstGeom>
          <a:noFill/>
        </p:spPr>
        <p:txBody>
          <a:bodyPr wrap="square" rtlCol="0">
            <a:spAutoFit/>
          </a:bodyPr>
          <a:p>
            <a:r>
              <a:rPr lang="zh-CN" altLang="en-US" sz="2400" b="1">
                <a:latin typeface="宋体" charset="0"/>
                <a:ea typeface="宋体" charset="0"/>
                <a:cs typeface="宋体" charset="0"/>
              </a:rPr>
              <a:t>将PINNs与主流时序深度学习模型的预测性能对比，评估PINNs在传染病多步预测中的优势与局限</a:t>
            </a:r>
            <a:endParaRPr lang="zh-CN" altLang="en-US" sz="2400" b="1">
              <a:latin typeface="宋体" charset="0"/>
              <a:ea typeface="宋体" charset="0"/>
              <a:cs typeface="宋体"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3"/>
          </p:nvPr>
        </p:nvSpPr>
        <p:spPr/>
        <p:txBody>
          <a:bodyPr/>
          <a:p>
            <a:r>
              <a:rPr lang="zh-CN" altLang="en-US" sz="3200">
                <a:latin typeface="宋体" charset="0"/>
                <a:ea typeface="宋体" charset="0"/>
              </a:rPr>
              <a:t>数据来源及</a:t>
            </a:r>
            <a:r>
              <a:rPr lang="zh-CN" altLang="en-US" sz="3200">
                <a:latin typeface="宋体" charset="0"/>
                <a:ea typeface="宋体" charset="0"/>
              </a:rPr>
              <a:t>处理</a:t>
            </a:r>
            <a:endParaRPr lang="zh-CN" altLang="en-US" sz="3200">
              <a:latin typeface="宋体" charset="0"/>
              <a:ea typeface="宋体" charset="0"/>
            </a:endParaRPr>
          </a:p>
        </p:txBody>
      </p:sp>
      <p:sp>
        <p:nvSpPr>
          <p:cNvPr id="3" name="文本框 2"/>
          <p:cNvSpPr txBox="1"/>
          <p:nvPr/>
        </p:nvSpPr>
        <p:spPr>
          <a:xfrm>
            <a:off x="137160" y="1098550"/>
            <a:ext cx="5571490" cy="2541270"/>
          </a:xfrm>
          <a:prstGeom prst="rect">
            <a:avLst/>
          </a:prstGeom>
          <a:noFill/>
        </p:spPr>
        <p:txBody>
          <a:bodyPr wrap="square" rtlCol="0">
            <a:noAutofit/>
          </a:bodyPr>
          <a:p>
            <a:pPr algn="ctr"/>
            <a:r>
              <a:rPr lang="zh-CN" altLang="en-US" b="1">
                <a:latin typeface="宋体" charset="0"/>
                <a:ea typeface="宋体" charset="0"/>
                <a:cs typeface="宋体" charset="0"/>
              </a:rPr>
              <a:t> 数据来源</a:t>
            </a:r>
            <a:endParaRPr lang="zh-CN" altLang="en-US" b="1">
              <a:latin typeface="宋体" charset="0"/>
              <a:ea typeface="宋体" charset="0"/>
              <a:cs typeface="宋体" charset="0"/>
            </a:endParaRPr>
          </a:p>
          <a:p>
            <a:endParaRPr lang="zh-CN" altLang="en-US">
              <a:latin typeface="宋体" charset="0"/>
              <a:ea typeface="宋体" charset="0"/>
              <a:cs typeface="宋体" charset="0"/>
            </a:endParaRPr>
          </a:p>
          <a:p>
            <a:pPr indent="-285750" algn="just" fontAlgn="auto">
              <a:lnSpc>
                <a:spcPts val="2400"/>
              </a:lnSpc>
              <a:buFont typeface="Arial" panose="020B0604020202090204" pitchFamily="34" charset="0"/>
              <a:buChar char="•"/>
            </a:pPr>
            <a:r>
              <a:rPr lang="zh-CN" altLang="en-US">
                <a:latin typeface="宋体" charset="0"/>
                <a:ea typeface="宋体" charset="0"/>
                <a:cs typeface="宋体" charset="0"/>
              </a:rPr>
              <a:t>每日病例与死亡</a:t>
            </a:r>
            <a:r>
              <a:rPr lang="zh-CN" altLang="en-US">
                <a:latin typeface="宋体" charset="0"/>
                <a:ea typeface="宋体" charset="0"/>
                <a:cs typeface="宋体" charset="0"/>
              </a:rPr>
              <a:t>数：约翰霍普金斯大学CSSE COVID-19数据。</a:t>
            </a:r>
            <a:endParaRPr lang="zh-CN" altLang="en-US">
              <a:latin typeface="宋体" charset="0"/>
              <a:ea typeface="宋体" charset="0"/>
              <a:cs typeface="宋体" charset="0"/>
            </a:endParaRPr>
          </a:p>
          <a:p>
            <a:pPr indent="-285750" algn="just" fontAlgn="auto">
              <a:lnSpc>
                <a:spcPts val="2400"/>
              </a:lnSpc>
              <a:buFont typeface="Arial" panose="020B0604020202090204" pitchFamily="34" charset="0"/>
              <a:buChar char="•"/>
            </a:pPr>
            <a:r>
              <a:rPr lang="zh-CN" altLang="en-US">
                <a:latin typeface="宋体" charset="0"/>
                <a:ea typeface="宋体" charset="0"/>
                <a:cs typeface="宋体" charset="0"/>
              </a:rPr>
              <a:t>每日住院</a:t>
            </a:r>
            <a:r>
              <a:rPr lang="zh-CN" altLang="en-US">
                <a:latin typeface="宋体" charset="0"/>
                <a:ea typeface="宋体" charset="0"/>
                <a:cs typeface="宋体" charset="0"/>
              </a:rPr>
              <a:t>数：美国卫生与公众服务部。</a:t>
            </a:r>
            <a:endParaRPr lang="zh-CN" altLang="en-US">
              <a:latin typeface="宋体" charset="0"/>
              <a:ea typeface="宋体" charset="0"/>
              <a:cs typeface="宋体" charset="0"/>
            </a:endParaRPr>
          </a:p>
          <a:p>
            <a:pPr indent="-285750" algn="just" fontAlgn="auto">
              <a:lnSpc>
                <a:spcPts val="2400"/>
              </a:lnSpc>
              <a:buFont typeface="Arial" panose="020B0604020202090204" pitchFamily="34" charset="0"/>
              <a:buChar char="•"/>
            </a:pPr>
            <a:r>
              <a:rPr lang="zh-CN" altLang="en-US">
                <a:latin typeface="宋体" charset="0"/>
                <a:ea typeface="宋体" charset="0"/>
                <a:cs typeface="宋体" charset="0"/>
              </a:rPr>
              <a:t>移动性：谷歌社区移动报告，住宅停留时间百分比。</a:t>
            </a:r>
            <a:endParaRPr lang="zh-CN" altLang="en-US">
              <a:latin typeface="宋体" charset="0"/>
              <a:ea typeface="宋体" charset="0"/>
              <a:cs typeface="宋体" charset="0"/>
            </a:endParaRPr>
          </a:p>
          <a:p>
            <a:pPr indent="-285750" algn="just" fontAlgn="auto">
              <a:lnSpc>
                <a:spcPts val="2400"/>
              </a:lnSpc>
              <a:buFont typeface="Arial" panose="020B0604020202090204" pitchFamily="34" charset="0"/>
              <a:buChar char="•"/>
            </a:pPr>
            <a:r>
              <a:rPr lang="zh-CN" altLang="en-US">
                <a:latin typeface="宋体" charset="0"/>
                <a:ea typeface="宋体" charset="0"/>
                <a:cs typeface="宋体" charset="0"/>
              </a:rPr>
              <a:t>累积疫苗接种</a:t>
            </a:r>
            <a:r>
              <a:rPr lang="zh-CN" altLang="en-US">
                <a:latin typeface="宋体" charset="0"/>
                <a:ea typeface="宋体" charset="0"/>
                <a:cs typeface="宋体" charset="0"/>
              </a:rPr>
              <a:t>数：约翰霍普金斯大学。</a:t>
            </a:r>
            <a:endParaRPr lang="zh-CN" altLang="en-US">
              <a:latin typeface="宋体" charset="0"/>
              <a:ea typeface="宋体" charset="0"/>
              <a:cs typeface="宋体" charset="0"/>
            </a:endParaRPr>
          </a:p>
          <a:p>
            <a:endParaRPr lang="zh-CN" altLang="en-US">
              <a:latin typeface="宋体" charset="0"/>
              <a:ea typeface="宋体" charset="0"/>
              <a:cs typeface="宋体" charset="0"/>
            </a:endParaRPr>
          </a:p>
          <a:p>
            <a:endParaRPr lang="zh-CN" altLang="en-US">
              <a:latin typeface="宋体" charset="0"/>
              <a:ea typeface="宋体" charset="0"/>
              <a:cs typeface="宋体" charset="0"/>
            </a:endParaRPr>
          </a:p>
        </p:txBody>
      </p:sp>
      <p:sp>
        <p:nvSpPr>
          <p:cNvPr id="5" name="文本框 4"/>
          <p:cNvSpPr txBox="1"/>
          <p:nvPr/>
        </p:nvSpPr>
        <p:spPr>
          <a:xfrm>
            <a:off x="6377305" y="1098550"/>
            <a:ext cx="5431155" cy="2793365"/>
          </a:xfrm>
          <a:prstGeom prst="rect">
            <a:avLst/>
          </a:prstGeom>
          <a:noFill/>
        </p:spPr>
        <p:txBody>
          <a:bodyPr wrap="square" rtlCol="0">
            <a:noAutofit/>
          </a:bodyPr>
          <a:p>
            <a:pPr algn="ctr"/>
            <a:r>
              <a:rPr lang="zh-CN" altLang="en-US" b="1">
                <a:latin typeface="宋体" charset="0"/>
                <a:ea typeface="宋体" charset="0"/>
                <a:cs typeface="宋体" charset="0"/>
              </a:rPr>
              <a:t>数据预处理</a:t>
            </a:r>
            <a:endParaRPr lang="zh-CN" altLang="en-US" b="1">
              <a:latin typeface="宋体" charset="0"/>
              <a:ea typeface="宋体" charset="0"/>
              <a:cs typeface="宋体" charset="0"/>
            </a:endParaRPr>
          </a:p>
          <a:p>
            <a:endParaRPr lang="zh-CN" altLang="en-US">
              <a:latin typeface="宋体" charset="0"/>
              <a:ea typeface="宋体" charset="0"/>
              <a:cs typeface="宋体" charset="0"/>
            </a:endParaRPr>
          </a:p>
          <a:p>
            <a:pPr marL="285750" indent="-285750" fontAlgn="auto">
              <a:lnSpc>
                <a:spcPts val="2400"/>
              </a:lnSpc>
              <a:buFont typeface="Arial" panose="020B0604020202090204" pitchFamily="34" charset="0"/>
              <a:buChar char="•"/>
            </a:pPr>
            <a:r>
              <a:rPr lang="zh-CN" altLang="en-US">
                <a:latin typeface="宋体" charset="0"/>
                <a:ea typeface="宋体" charset="0"/>
                <a:cs typeface="宋体" charset="0"/>
              </a:rPr>
              <a:t>7天移动平均后聚合为周数据。</a:t>
            </a:r>
            <a:endParaRPr lang="zh-CN" altLang="en-US">
              <a:latin typeface="宋体" charset="0"/>
              <a:ea typeface="宋体" charset="0"/>
              <a:cs typeface="宋体" charset="0"/>
            </a:endParaRPr>
          </a:p>
          <a:p>
            <a:pPr marL="285750" indent="-285750" fontAlgn="auto">
              <a:lnSpc>
                <a:spcPts val="2400"/>
              </a:lnSpc>
              <a:buFont typeface="Arial" panose="020B0604020202090204" pitchFamily="34" charset="0"/>
              <a:buChar char="•"/>
            </a:pPr>
            <a:r>
              <a:rPr lang="zh-CN" altLang="en-US">
                <a:latin typeface="宋体" charset="0"/>
                <a:ea typeface="宋体" charset="0"/>
                <a:cs typeface="宋体" charset="0"/>
              </a:rPr>
              <a:t>缺失值：疫苗早期缺失值填0，其余线性插值。</a:t>
            </a:r>
            <a:endParaRPr lang="zh-CN" altLang="en-US">
              <a:latin typeface="宋体" charset="0"/>
              <a:ea typeface="宋体" charset="0"/>
              <a:cs typeface="宋体" charset="0"/>
            </a:endParaRPr>
          </a:p>
          <a:p>
            <a:pPr marL="285750" indent="-285750" fontAlgn="auto">
              <a:lnSpc>
                <a:spcPts val="2400"/>
              </a:lnSpc>
              <a:buFont typeface="Arial" panose="020B0604020202090204" pitchFamily="34" charset="0"/>
              <a:buChar char="•"/>
            </a:pPr>
            <a:r>
              <a:rPr lang="zh-CN" altLang="en-US">
                <a:latin typeface="宋体" charset="0"/>
                <a:ea typeface="宋体" charset="0"/>
                <a:cs typeface="宋体" charset="0"/>
              </a:rPr>
              <a:t>线性归一化至[0,1]区间，便于训练与可视化。</a:t>
            </a:r>
            <a:endParaRPr lang="zh-CN" altLang="en-US">
              <a:latin typeface="宋体" charset="0"/>
              <a:ea typeface="宋体" charset="0"/>
              <a:cs typeface="宋体" charset="0"/>
            </a:endParaRPr>
          </a:p>
        </p:txBody>
      </p:sp>
      <p:sp>
        <p:nvSpPr>
          <p:cNvPr id="8" name="文本框 7"/>
          <p:cNvSpPr txBox="1"/>
          <p:nvPr>
            <p:custDataLst>
              <p:tags r:id="rId1"/>
            </p:custDataLst>
          </p:nvPr>
        </p:nvSpPr>
        <p:spPr>
          <a:xfrm>
            <a:off x="137160" y="3639820"/>
            <a:ext cx="5346700" cy="2541905"/>
          </a:xfrm>
          <a:prstGeom prst="rect">
            <a:avLst/>
          </a:prstGeom>
          <a:noFill/>
        </p:spPr>
        <p:txBody>
          <a:bodyPr wrap="square" rtlCol="0">
            <a:noAutofit/>
          </a:bodyPr>
          <a:p>
            <a:pPr algn="ctr"/>
            <a:r>
              <a:rPr lang="zh-CN" altLang="en-US" b="1">
                <a:latin typeface="宋体" charset="0"/>
                <a:ea typeface="宋体" charset="0"/>
                <a:cs typeface="宋体" charset="0"/>
              </a:rPr>
              <a:t>目标变量与时间范围</a:t>
            </a:r>
            <a:endParaRPr lang="zh-CN" altLang="en-US" b="1">
              <a:latin typeface="宋体" charset="0"/>
              <a:ea typeface="宋体" charset="0"/>
              <a:cs typeface="宋体" charset="0"/>
            </a:endParaRPr>
          </a:p>
          <a:p>
            <a:endParaRPr lang="zh-CN" altLang="en-US">
              <a:latin typeface="宋体" charset="0"/>
              <a:ea typeface="宋体" charset="0"/>
              <a:cs typeface="宋体" charset="0"/>
            </a:endParaRPr>
          </a:p>
          <a:p>
            <a:pPr marL="285750" indent="-285750" fontAlgn="auto">
              <a:lnSpc>
                <a:spcPts val="2400"/>
              </a:lnSpc>
              <a:buFont typeface="Arial" panose="020B0604020202090204" pitchFamily="34" charset="0"/>
              <a:buChar char="•"/>
            </a:pPr>
            <a:r>
              <a:rPr lang="zh-CN" altLang="en-US">
                <a:latin typeface="宋体" charset="0"/>
                <a:ea typeface="宋体" charset="0"/>
                <a:cs typeface="宋体" charset="0"/>
              </a:rPr>
              <a:t>预测目标：每周总报告病例数、死亡数、住院数。</a:t>
            </a:r>
            <a:endParaRPr lang="zh-CN" altLang="en-US">
              <a:latin typeface="宋体" charset="0"/>
              <a:ea typeface="宋体" charset="0"/>
              <a:cs typeface="宋体" charset="0"/>
            </a:endParaRPr>
          </a:p>
          <a:p>
            <a:pPr marL="285750" indent="-285750" fontAlgn="auto">
              <a:lnSpc>
                <a:spcPts val="2400"/>
              </a:lnSpc>
              <a:buFont typeface="Arial" panose="020B0604020202090204" pitchFamily="34" charset="0"/>
              <a:buChar char="•"/>
            </a:pPr>
            <a:r>
              <a:rPr lang="zh-CN" altLang="en-US">
                <a:latin typeface="宋体" charset="0"/>
                <a:ea typeface="宋体" charset="0"/>
                <a:cs typeface="宋体" charset="0"/>
              </a:rPr>
              <a:t>时间区间：2020年7月–2022年4月，聚焦Beta变异和Delta</a:t>
            </a:r>
            <a:r>
              <a:rPr lang="zh-CN" altLang="en-US">
                <a:latin typeface="宋体" charset="0"/>
                <a:ea typeface="宋体" charset="0"/>
                <a:cs typeface="宋体" charset="0"/>
              </a:rPr>
              <a:t>变异两个主要疫情高峰。</a:t>
            </a:r>
            <a:endParaRPr lang="zh-CN" altLang="en-US">
              <a:latin typeface="宋体" charset="0"/>
              <a:ea typeface="宋体" charset="0"/>
              <a:cs typeface="宋体" charset="0"/>
            </a:endParaRPr>
          </a:p>
          <a:p>
            <a:pPr marL="285750" indent="-285750" fontAlgn="auto">
              <a:lnSpc>
                <a:spcPts val="2400"/>
              </a:lnSpc>
              <a:buFont typeface="Arial" panose="020B0604020202090204" pitchFamily="34" charset="0"/>
              <a:buChar char="•"/>
            </a:pPr>
            <a:r>
              <a:rPr lang="zh-CN" altLang="en-US">
                <a:latin typeface="宋体" charset="0"/>
                <a:ea typeface="宋体" charset="0"/>
                <a:cs typeface="宋体" charset="0"/>
              </a:rPr>
              <a:t>住院记录的提供时间晚于病例和死亡数据，可靠的报告始于2020年7月。第110周后数据被舍弃，避免未完整发展的第三峰干扰建模</a:t>
            </a:r>
            <a:endParaRPr lang="zh-CN" altLang="en-US">
              <a:latin typeface="宋体" charset="0"/>
              <a:ea typeface="宋体" charset="0"/>
              <a:cs typeface="宋体" charset="0"/>
            </a:endParaRPr>
          </a:p>
        </p:txBody>
      </p:sp>
      <p:pic>
        <p:nvPicPr>
          <p:cNvPr id="9" name="图片 8"/>
          <p:cNvPicPr>
            <a:picLocks noChangeAspect="1"/>
          </p:cNvPicPr>
          <p:nvPr>
            <p:custDataLst>
              <p:tags r:id="rId2"/>
            </p:custDataLst>
          </p:nvPr>
        </p:nvPicPr>
        <p:blipFill>
          <a:blip r:embed="rId3"/>
          <a:stretch>
            <a:fillRect/>
          </a:stretch>
        </p:blipFill>
        <p:spPr>
          <a:xfrm>
            <a:off x="5483860" y="3149600"/>
            <a:ext cx="6593840" cy="30321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3"/>
          </p:nvPr>
        </p:nvSpPr>
        <p:spPr/>
        <p:txBody>
          <a:bodyPr/>
          <a:p>
            <a:r>
              <a:rPr lang="zh-CN" altLang="en-US" sz="3200">
                <a:latin typeface="宋体" charset="0"/>
                <a:ea typeface="宋体" charset="0"/>
              </a:rPr>
              <a:t>仓室模型</a:t>
            </a:r>
            <a:endParaRPr lang="zh-CN" altLang="en-US" sz="3200">
              <a:latin typeface="宋体" charset="0"/>
              <a:ea typeface="宋体" charset="0"/>
            </a:endParaRPr>
          </a:p>
        </p:txBody>
      </p:sp>
      <p:pic>
        <p:nvPicPr>
          <p:cNvPr id="3" name="图片 2"/>
          <p:cNvPicPr>
            <a:picLocks noChangeAspect="1"/>
          </p:cNvPicPr>
          <p:nvPr>
            <p:custDataLst>
              <p:tags r:id="rId1"/>
            </p:custDataLst>
          </p:nvPr>
        </p:nvPicPr>
        <p:blipFill>
          <a:blip r:embed="rId2"/>
          <a:srcRect r="1625"/>
          <a:stretch>
            <a:fillRect/>
          </a:stretch>
        </p:blipFill>
        <p:spPr>
          <a:xfrm>
            <a:off x="99695" y="941705"/>
            <a:ext cx="11993880" cy="4350385"/>
          </a:xfrm>
          <a:prstGeom prst="rect">
            <a:avLst/>
          </a:prstGeom>
        </p:spPr>
      </p:pic>
      <p:sp>
        <p:nvSpPr>
          <p:cNvPr id="4" name="文本框 3"/>
          <p:cNvSpPr txBox="1"/>
          <p:nvPr/>
        </p:nvSpPr>
        <p:spPr>
          <a:xfrm>
            <a:off x="541655" y="5500370"/>
            <a:ext cx="11109960" cy="706755"/>
          </a:xfrm>
          <a:prstGeom prst="rect">
            <a:avLst/>
          </a:prstGeom>
          <a:noFill/>
        </p:spPr>
        <p:txBody>
          <a:bodyPr wrap="square" rtlCol="0">
            <a:spAutoFit/>
          </a:bodyPr>
          <a:p>
            <a:r>
              <a:rPr lang="zh-CN" altLang="en-US" sz="2000">
                <a:latin typeface="Times New Roman Regular" panose="02020603050405020304" charset="0"/>
                <a:cs typeface="Times New Roman Regular" panose="02020603050405020304" charset="0"/>
              </a:rPr>
              <a:t>O</a:t>
            </a:r>
            <a:r>
              <a:rPr lang="en-US" altLang="zh-CN" sz="2000">
                <a:latin typeface="Times New Roman Regular" panose="02020603050405020304" charset="0"/>
                <a:cs typeface="Times New Roman Regular" panose="02020603050405020304" charset="0"/>
              </a:rPr>
              <a:t>’</a:t>
            </a:r>
            <a:r>
              <a:rPr lang="zh-CN" altLang="en-US" sz="2000">
                <a:latin typeface="Times New Roman Regular" panose="02020603050405020304" charset="0"/>
                <a:cs typeface="Times New Roman Regular" panose="02020603050405020304" charset="0"/>
              </a:rPr>
              <a:t>Dea EB, Drake JM. 2022 A semi-parametric, state-space compartmental model with time-dependent parameters for forecasting COVID-19 cases, hospitalizations and deaths. J. R.Soc.Interface 19, 20210702.</a:t>
            </a:r>
            <a:endParaRPr lang="zh-CN" altLang="en-US" sz="2000">
              <a:latin typeface="Times New Roman Regular" panose="02020603050405020304" charset="0"/>
              <a:cs typeface="Times New Roman Regular"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34431" y="833847"/>
            <a:ext cx="4029619" cy="593725"/>
            <a:chOff x="1215" y="1728"/>
            <a:chExt cx="2822" cy="935"/>
          </a:xfrm>
        </p:grpSpPr>
        <p:sp>
          <p:nvSpPr>
            <p:cNvPr id="38" name="稻壳儿智宇https://www.docer.com/works?userid=328340712"/>
            <p:cNvSpPr txBox="1"/>
            <p:nvPr/>
          </p:nvSpPr>
          <p:spPr>
            <a:xfrm>
              <a:off x="1215" y="1728"/>
              <a:ext cx="2822" cy="72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solidFill>
                    <a:schemeClr val="tx1"/>
                  </a:solidFill>
                  <a:latin typeface="宋体" pitchFamily="2" charset="-122"/>
                  <a:ea typeface="宋体" pitchFamily="2" charset="-122"/>
                  <a:cs typeface="+mn-ea"/>
                  <a:sym typeface="Segoe UI" panose="020B0502040204020203" pitchFamily="34" charset="0"/>
                </a:rPr>
                <a:t>仓室</a:t>
              </a:r>
              <a:r>
                <a:rPr lang="zh-CN" altLang="en-US" sz="2400" dirty="0">
                  <a:solidFill>
                    <a:schemeClr val="tx1"/>
                  </a:solidFill>
                  <a:latin typeface="宋体" pitchFamily="2" charset="-122"/>
                  <a:ea typeface="宋体" pitchFamily="2" charset="-122"/>
                  <a:cs typeface="+mn-ea"/>
                  <a:sym typeface="Segoe UI" panose="020B0502040204020203" pitchFamily="34" charset="0"/>
                </a:rPr>
                <a:t>模型</a:t>
              </a:r>
              <a:endParaRPr lang="zh-CN" altLang="en-US" sz="2400" dirty="0">
                <a:solidFill>
                  <a:schemeClr val="tx1"/>
                </a:solidFill>
                <a:latin typeface="宋体" pitchFamily="2" charset="-122"/>
                <a:ea typeface="宋体" pitchFamily="2" charset="-122"/>
                <a:cs typeface="+mn-ea"/>
                <a:sym typeface="Segoe UI" panose="020B0502040204020203" pitchFamily="34" charset="0"/>
              </a:endParaRPr>
            </a:p>
          </p:txBody>
        </p:sp>
        <p:sp>
          <p:nvSpPr>
            <p:cNvPr id="36" name="稻壳儿智宇https://www.docer.com/works?userid=328340712"/>
            <p:cNvSpPr/>
            <p:nvPr/>
          </p:nvSpPr>
          <p:spPr>
            <a:xfrm>
              <a:off x="1281" y="2543"/>
              <a:ext cx="1454" cy="12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grpSp>
      <p:pic>
        <p:nvPicPr>
          <p:cNvPr id="9" name="图片 8"/>
          <p:cNvPicPr>
            <a:picLocks noChangeAspect="1"/>
          </p:cNvPicPr>
          <p:nvPr>
            <p:custDataLst>
              <p:tags r:id="rId1"/>
            </p:custDataLst>
          </p:nvPr>
        </p:nvPicPr>
        <p:blipFill>
          <a:blip r:embed="rId2"/>
          <a:stretch>
            <a:fillRect/>
          </a:stretch>
        </p:blipFill>
        <p:spPr>
          <a:xfrm>
            <a:off x="248285" y="1498600"/>
            <a:ext cx="2971800" cy="4937760"/>
          </a:xfrm>
          <a:prstGeom prst="rect">
            <a:avLst/>
          </a:prstGeom>
        </p:spPr>
      </p:pic>
      <p:pic>
        <p:nvPicPr>
          <p:cNvPr id="12" name="图片 11"/>
          <p:cNvPicPr>
            <a:picLocks noChangeAspect="1"/>
          </p:cNvPicPr>
          <p:nvPr>
            <p:custDataLst>
              <p:tags r:id="rId3"/>
            </p:custDataLst>
          </p:nvPr>
        </p:nvPicPr>
        <p:blipFill>
          <a:blip r:embed="rId4"/>
          <a:stretch>
            <a:fillRect/>
          </a:stretch>
        </p:blipFill>
        <p:spPr>
          <a:xfrm>
            <a:off x="3220085" y="2478405"/>
            <a:ext cx="8348345" cy="3718560"/>
          </a:xfrm>
          <a:prstGeom prst="rect">
            <a:avLst/>
          </a:prstGeom>
        </p:spPr>
      </p:pic>
      <mc:AlternateContent xmlns:mc="http://schemas.openxmlformats.org/markup-compatibility/2006">
        <mc:Choice xmlns:a14="http://schemas.microsoft.com/office/drawing/2010/main" Requires="a14">
          <p:sp>
            <p:nvSpPr>
              <p:cNvPr id="14" name="文本框 13"/>
              <p:cNvSpPr txBox="1"/>
              <p:nvPr/>
            </p:nvSpPr>
            <p:spPr>
              <a:xfrm>
                <a:off x="3103880" y="1166495"/>
                <a:ext cx="8580120" cy="1311910"/>
              </a:xfrm>
              <a:prstGeom prst="rect">
                <a:avLst/>
              </a:prstGeom>
              <a:noFill/>
            </p:spPr>
            <p:txBody>
              <a:bodyPr wrap="square" rtlCol="0">
                <a:noAutofit/>
              </a:bodyPr>
              <a:p>
                <a:pPr indent="0" algn="just" fontAlgn="auto">
                  <a:lnSpc>
                    <a:spcPts val="2400"/>
                  </a:lnSpc>
                </a:pPr>
                <a:r>
                  <a:rPr lang="zh-CN" altLang="en-US">
                    <a:solidFill>
                      <a:schemeClr val="tx1"/>
                    </a:solidFill>
                    <a:uFillTx/>
                    <a:latin typeface="Times New Roman" panose="02020603050405020304" pitchFamily="18" charset="0"/>
                    <a:ea typeface="宋体" charset="0"/>
                    <a:cs typeface="宋体" charset="0"/>
                    <a:sym typeface="+mn-ea"/>
                  </a:rPr>
                  <a:t>采用</a:t>
                </a:r>
                <a:r>
                  <a:rPr lang="zh-CN" altLang="en-US">
                    <a:solidFill>
                      <a:schemeClr val="tx1"/>
                    </a:solidFill>
                    <a:uFillTx/>
                    <a:latin typeface="Times New Roman" panose="02020603050405020304" pitchFamily="18" charset="0"/>
                    <a:ea typeface="宋体" charset="0"/>
                    <a:cs typeface="Times New Roman Regular" panose="02020603050405020304" charset="0"/>
                    <a:sym typeface="+mn-ea"/>
                  </a:rPr>
                  <a:t>O'Dea &amp; Drake (2022)</a:t>
                </a:r>
                <a:r>
                  <a:rPr lang="zh-CN" altLang="en-US">
                    <a:solidFill>
                      <a:schemeClr val="tx1"/>
                    </a:solidFill>
                    <a:uFillTx/>
                    <a:latin typeface="Times New Roman" panose="02020603050405020304" pitchFamily="18" charset="0"/>
                    <a:ea typeface="宋体" charset="0"/>
                    <a:cs typeface="宋体" charset="0"/>
                    <a:sym typeface="+mn-ea"/>
                  </a:rPr>
                  <a:t> 提出的 </a:t>
                </a:r>
                <a:r>
                  <a:rPr lang="zh-CN" altLang="en-US">
                    <a:solidFill>
                      <a:schemeClr val="tx1"/>
                    </a:solidFill>
                    <a:uFillTx/>
                    <a:latin typeface="Times New Roman" panose="02020603050405020304" pitchFamily="18" charset="0"/>
                    <a:ea typeface="宋体" charset="0"/>
                    <a:cs typeface="Times New Roman Regular" panose="02020603050405020304" charset="0"/>
                    <a:sym typeface="+mn-ea"/>
                  </a:rPr>
                  <a:t>COVID-19 </a:t>
                </a:r>
                <a:r>
                  <a:rPr lang="zh-CN" altLang="en-US">
                    <a:solidFill>
                      <a:schemeClr val="tx1"/>
                    </a:solidFill>
                    <a:uFillTx/>
                    <a:latin typeface="Times New Roman" panose="02020603050405020304" pitchFamily="18" charset="0"/>
                    <a:ea typeface="宋体" charset="0"/>
                    <a:cs typeface="宋体" charset="0"/>
                    <a:sym typeface="+mn-ea"/>
                  </a:rPr>
                  <a:t>半参数状态空间仓室模型，</a:t>
                </a:r>
                <a:r>
                  <a:rPr lang="en-US" altLang="zh-CN">
                    <a:solidFill>
                      <a:schemeClr val="tx1"/>
                    </a:solidFill>
                    <a:uFillTx/>
                    <a:latin typeface="Times New Roman" panose="02020603050405020304" pitchFamily="18" charset="0"/>
                    <a:ea typeface="宋体" charset="0"/>
                    <a:cs typeface="宋体" charset="0"/>
                    <a:sym typeface="+mn-ea"/>
                  </a:rPr>
                  <a:t>S</a:t>
                </a:r>
                <a:r>
                  <a:rPr lang="zh-CN" altLang="en-US">
                    <a:solidFill>
                      <a:schemeClr val="tx1"/>
                    </a:solidFill>
                    <a:uFillTx/>
                    <a:latin typeface="Times New Roman" panose="02020603050405020304" pitchFamily="18" charset="0"/>
                    <a:ea typeface="宋体" charset="0"/>
                    <a:cs typeface="宋体" charset="0"/>
                    <a:sym typeface="+mn-ea"/>
                  </a:rPr>
                  <a:t>是易感者，</a:t>
                </a:r>
                <a:r>
                  <a:rPr lang="en-US" altLang="zh-CN">
                    <a:solidFill>
                      <a:schemeClr val="tx1"/>
                    </a:solidFill>
                    <a:uFillTx/>
                    <a:latin typeface="Times New Roman" panose="02020603050405020304" pitchFamily="18" charset="0"/>
                    <a:ea typeface="宋体" charset="0"/>
                    <a:cs typeface="宋体" charset="0"/>
                    <a:sym typeface="+mn-ea"/>
                  </a:rPr>
                  <a:t>L</a:t>
                </a:r>
                <a:r>
                  <a:rPr lang="zh-CN" altLang="en-US">
                    <a:solidFill>
                      <a:schemeClr val="tx1"/>
                    </a:solidFill>
                    <a:uFillTx/>
                    <a:latin typeface="Times New Roman" panose="02020603050405020304" pitchFamily="18" charset="0"/>
                    <a:ea typeface="宋体" charset="0"/>
                    <a:cs typeface="宋体" charset="0"/>
                    <a:sym typeface="+mn-ea"/>
                  </a:rPr>
                  <a:t>是潜伏者但不具备感染性，</a:t>
                </a:r>
                <a:r>
                  <a:rPr lang="en-US" altLang="zh-CN">
                    <a:solidFill>
                      <a:schemeClr val="tx1"/>
                    </a:solidFill>
                    <a:uFillTx/>
                    <a:latin typeface="Times New Roman" panose="02020603050405020304" pitchFamily="18" charset="0"/>
                    <a:ea typeface="宋体" charset="0"/>
                    <a:cs typeface="宋体" charset="0"/>
                    <a:sym typeface="+mn-ea"/>
                  </a:rPr>
                  <a:t>I</a:t>
                </a:r>
                <a:r>
                  <a:rPr lang="zh-CN" altLang="en-US">
                    <a:solidFill>
                      <a:schemeClr val="tx1"/>
                    </a:solidFill>
                    <a:uFillTx/>
                    <a:latin typeface="Times New Roman" panose="02020603050405020304" pitchFamily="18" charset="0"/>
                    <a:ea typeface="宋体" charset="0"/>
                    <a:cs typeface="宋体" charset="0"/>
                    <a:sym typeface="+mn-ea"/>
                  </a:rPr>
                  <a:t>是感染者，</a:t>
                </a:r>
                <a:r>
                  <a:rPr lang="en-US" altLang="zh-CN">
                    <a:solidFill>
                      <a:schemeClr val="tx1"/>
                    </a:solidFill>
                    <a:uFillTx/>
                    <a:latin typeface="Times New Roman" panose="02020603050405020304" pitchFamily="18" charset="0"/>
                    <a:ea typeface="宋体" charset="0"/>
                    <a:cs typeface="宋体" charset="0"/>
                    <a:sym typeface="+mn-ea"/>
                  </a:rPr>
                  <a:t>C</a:t>
                </a:r>
                <a:r>
                  <a:rPr lang="zh-CN" altLang="en-US">
                    <a:solidFill>
                      <a:schemeClr val="tx1"/>
                    </a:solidFill>
                    <a:uFillTx/>
                    <a:latin typeface="Times New Roman" panose="02020603050405020304" pitchFamily="18" charset="0"/>
                    <a:ea typeface="宋体" charset="0"/>
                    <a:cs typeface="宋体" charset="0"/>
                    <a:sym typeface="+mn-ea"/>
                  </a:rPr>
                  <a:t>是被确诊还尚未报告的人，</a:t>
                </a:r>
                <a14:m>
                  <m:oMath xmlns:m="http://schemas.openxmlformats.org/officeDocument/2006/math">
                    <m:sSub>
                      <m:sSubPr>
                        <m:ctrlPr>
                          <a:rPr lang="en-US" altLang="zh-CN" i="1">
                            <a:solidFill>
                              <a:schemeClr val="tx1"/>
                            </a:solidFill>
                            <a:uFillTx/>
                            <a:latin typeface="DejaVu Math TeX Gyre" panose="02000503000000000000" charset="0"/>
                            <a:ea typeface="宋体" charset="0"/>
                            <a:cs typeface="DejaVu Math TeX Gyre" panose="02000503000000000000" charset="0"/>
                            <a:sym typeface="+mn-ea"/>
                          </a:rPr>
                        </m:ctrlPr>
                      </m:sSubPr>
                      <m:e>
                        <m:r>
                          <a:rPr lang="en-US" altLang="zh-CN" i="1">
                            <a:solidFill>
                              <a:schemeClr val="tx1"/>
                            </a:solidFill>
                            <a:uFillTx/>
                            <a:latin typeface="DejaVu Math TeX Gyre" panose="02000503000000000000" charset="0"/>
                            <a:ea typeface="宋体" charset="0"/>
                            <a:cs typeface="DejaVu Math TeX Gyre" panose="02000503000000000000" charset="0"/>
                            <a:sym typeface="+mn-ea"/>
                          </a:rPr>
                          <m:t>𝐶</m:t>
                        </m:r>
                      </m:e>
                      <m:sub>
                        <m:r>
                          <a:rPr lang="en-US" altLang="zh-CN" i="1">
                            <a:solidFill>
                              <a:schemeClr val="tx1"/>
                            </a:solidFill>
                            <a:uFillTx/>
                            <a:latin typeface="DejaVu Math TeX Gyre" panose="02000503000000000000" charset="0"/>
                            <a:ea typeface="宋体" charset="0"/>
                            <a:cs typeface="DejaVu Math TeX Gyre" panose="02000503000000000000" charset="0"/>
                            <a:sym typeface="+mn-ea"/>
                          </a:rPr>
                          <m:t>𝑟</m:t>
                        </m:r>
                      </m:sub>
                    </m:sSub>
                  </m:oMath>
                </a14:m>
                <a:r>
                  <a:rPr lang="zh-CN" altLang="en-US">
                    <a:solidFill>
                      <a:schemeClr val="tx1"/>
                    </a:solidFill>
                    <a:uFillTx/>
                    <a:latin typeface="Times New Roman" panose="02020603050405020304" pitchFamily="18" charset="0"/>
                    <a:ea typeface="宋体" charset="0"/>
                    <a:cs typeface="宋体" charset="0"/>
                    <a:sym typeface="+mn-ea"/>
                  </a:rPr>
                  <a:t>是新报告的病例数，</a:t>
                </a:r>
                <a:r>
                  <a:rPr lang="en-US" altLang="zh-CN">
                    <a:solidFill>
                      <a:schemeClr val="tx1"/>
                    </a:solidFill>
                    <a:uFillTx/>
                    <a:latin typeface="Times New Roman" panose="02020603050405020304" pitchFamily="18" charset="0"/>
                    <a:ea typeface="宋体" charset="0"/>
                    <a:cs typeface="宋体" charset="0"/>
                    <a:sym typeface="+mn-ea"/>
                  </a:rPr>
                  <a:t>H</a:t>
                </a:r>
                <a:r>
                  <a:rPr lang="zh-CN" altLang="en-US">
                    <a:solidFill>
                      <a:schemeClr val="tx1"/>
                    </a:solidFill>
                    <a:uFillTx/>
                    <a:latin typeface="Times New Roman" panose="02020603050405020304" pitchFamily="18" charset="0"/>
                    <a:ea typeface="宋体" charset="0"/>
                    <a:cs typeface="宋体" charset="0"/>
                    <a:sym typeface="+mn-ea"/>
                  </a:rPr>
                  <a:t>是住院的人数，</a:t>
                </a:r>
                <a:r>
                  <a:rPr lang="en-US" altLang="zh-CN">
                    <a:solidFill>
                      <a:schemeClr val="tx1"/>
                    </a:solidFill>
                    <a:uFillTx/>
                    <a:latin typeface="Times New Roman" panose="02020603050405020304" pitchFamily="18" charset="0"/>
                    <a:ea typeface="宋体" charset="0"/>
                    <a:cs typeface="宋体" charset="0"/>
                    <a:sym typeface="+mn-ea"/>
                  </a:rPr>
                  <a:t>A</a:t>
                </a:r>
                <a:r>
                  <a:rPr lang="zh-CN" altLang="en-US">
                    <a:solidFill>
                      <a:schemeClr val="tx1"/>
                    </a:solidFill>
                    <a:uFillTx/>
                    <a:latin typeface="Times New Roman" panose="02020603050405020304" pitchFamily="18" charset="0"/>
                    <a:ea typeface="宋体" charset="0"/>
                    <a:cs typeface="宋体" charset="0"/>
                    <a:sym typeface="+mn-ea"/>
                  </a:rPr>
                  <a:t>是新住院人数，</a:t>
                </a:r>
                <a:r>
                  <a:rPr lang="en-US" altLang="zh-CN">
                    <a:solidFill>
                      <a:schemeClr val="tx1"/>
                    </a:solidFill>
                    <a:uFillTx/>
                    <a:latin typeface="Times New Roman" panose="02020603050405020304" pitchFamily="18" charset="0"/>
                    <a:ea typeface="宋体" charset="0"/>
                    <a:cs typeface="宋体" charset="0"/>
                    <a:sym typeface="+mn-ea"/>
                  </a:rPr>
                  <a:t>D</a:t>
                </a:r>
                <a:r>
                  <a:rPr lang="zh-CN" altLang="en-US">
                    <a:solidFill>
                      <a:schemeClr val="tx1"/>
                    </a:solidFill>
                    <a:uFillTx/>
                    <a:latin typeface="Times New Roman" panose="02020603050405020304" pitchFamily="18" charset="0"/>
                    <a:ea typeface="宋体" charset="0"/>
                    <a:cs typeface="宋体" charset="0"/>
                    <a:sym typeface="+mn-ea"/>
                  </a:rPr>
                  <a:t>是已死亡还尚未报告人数，</a:t>
                </a:r>
                <a14:m>
                  <m:oMath xmlns:m="http://schemas.openxmlformats.org/officeDocument/2006/math">
                    <m:sSub>
                      <m:sSubPr>
                        <m:ctrlPr>
                          <a:rPr lang="en-US" altLang="zh-CN" i="1">
                            <a:solidFill>
                              <a:schemeClr val="tx1"/>
                            </a:solidFill>
                            <a:uFillTx/>
                            <a:latin typeface="DejaVu Math TeX Gyre" panose="02000503000000000000" charset="0"/>
                            <a:ea typeface="宋体" charset="0"/>
                            <a:cs typeface="DejaVu Math TeX Gyre" panose="02000503000000000000" charset="0"/>
                            <a:sym typeface="+mn-ea"/>
                          </a:rPr>
                        </m:ctrlPr>
                      </m:sSubPr>
                      <m:e>
                        <m:r>
                          <a:rPr lang="en-US" altLang="zh-CN" i="1">
                            <a:solidFill>
                              <a:schemeClr val="tx1"/>
                            </a:solidFill>
                            <a:uFillTx/>
                            <a:latin typeface="DejaVu Math TeX Gyre" panose="02000503000000000000" charset="0"/>
                            <a:ea typeface="宋体" charset="0"/>
                            <a:cs typeface="DejaVu Math TeX Gyre" panose="02000503000000000000" charset="0"/>
                            <a:sym typeface="+mn-ea"/>
                          </a:rPr>
                          <m:t>𝐷</m:t>
                        </m:r>
                      </m:e>
                      <m:sub>
                        <m:r>
                          <a:rPr lang="en-US" altLang="zh-CN" i="1">
                            <a:solidFill>
                              <a:schemeClr val="tx1"/>
                            </a:solidFill>
                            <a:uFillTx/>
                            <a:latin typeface="DejaVu Math TeX Gyre" panose="02000503000000000000" charset="0"/>
                            <a:ea typeface="宋体" charset="0"/>
                            <a:cs typeface="DejaVu Math TeX Gyre" panose="02000503000000000000" charset="0"/>
                            <a:sym typeface="+mn-ea"/>
                          </a:rPr>
                          <m:t>𝑟</m:t>
                        </m:r>
                      </m:sub>
                    </m:sSub>
                  </m:oMath>
                </a14:m>
                <a:r>
                  <a:rPr lang="zh-CN" altLang="en-US">
                    <a:solidFill>
                      <a:schemeClr val="tx1"/>
                    </a:solidFill>
                    <a:uFillTx/>
                    <a:latin typeface="Times New Roman" panose="02020603050405020304" pitchFamily="18" charset="0"/>
                    <a:ea typeface="宋体" charset="0"/>
                    <a:cs typeface="DejaVu Math TeX Gyre" panose="02000503000000000000" charset="0"/>
                    <a:sym typeface="+mn-ea"/>
                  </a:rPr>
                  <a:t>是新报告的死亡人数。</a:t>
                </a:r>
                <a:endParaRPr lang="zh-CN" altLang="en-US">
                  <a:solidFill>
                    <a:schemeClr val="tx1"/>
                  </a:solidFill>
                  <a:uFillTx/>
                  <a:latin typeface="Times New Roman" panose="02020603050405020304" pitchFamily="18" charset="0"/>
                  <a:ea typeface="宋体" charset="0"/>
                  <a:cs typeface="DejaVu Math TeX Gyre" panose="02000503000000000000" charset="0"/>
                  <a:sym typeface="+mn-ea"/>
                </a:endParaRPr>
              </a:p>
            </p:txBody>
          </p:sp>
        </mc:Choice>
        <mc:Fallback>
          <p:sp>
            <p:nvSpPr>
              <p:cNvPr id="14" name="文本框 13"/>
              <p:cNvSpPr txBox="1">
                <a:spLocks noRot="1" noChangeAspect="1" noMove="1" noResize="1" noEditPoints="1" noAdjustHandles="1" noChangeArrowheads="1" noChangeShapeType="1" noTextEdit="1"/>
              </p:cNvSpPr>
              <p:nvPr/>
            </p:nvSpPr>
            <p:spPr>
              <a:xfrm>
                <a:off x="3103880" y="1166495"/>
                <a:ext cx="8580120" cy="1311910"/>
              </a:xfrm>
              <a:prstGeom prst="rect">
                <a:avLst/>
              </a:prstGeom>
              <a:blipFill rotWithShape="1">
                <a:blip r:embed="rId5"/>
                <a:stretch>
                  <a:fillRect/>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3"/>
          </p:nvPr>
        </p:nvSpPr>
        <p:spPr/>
        <p:txBody>
          <a:bodyPr/>
          <a:p>
            <a:r>
              <a:rPr lang="zh-CN" altLang="en-US" sz="3200">
                <a:latin typeface="宋体" charset="0"/>
                <a:ea typeface="宋体" charset="0"/>
              </a:rPr>
              <a:t>物理信息神经网络</a:t>
            </a:r>
            <a:endParaRPr lang="zh-CN" altLang="en-US" sz="3200">
              <a:latin typeface="宋体" charset="0"/>
              <a:ea typeface="宋体" charset="0"/>
            </a:endParaRPr>
          </a:p>
        </p:txBody>
      </p:sp>
      <p:sp>
        <p:nvSpPr>
          <p:cNvPr id="3" name="文本框 2"/>
          <p:cNvSpPr txBox="1"/>
          <p:nvPr/>
        </p:nvSpPr>
        <p:spPr>
          <a:xfrm>
            <a:off x="154940" y="942340"/>
            <a:ext cx="11777345" cy="829945"/>
          </a:xfrm>
          <a:prstGeom prst="rect">
            <a:avLst/>
          </a:prstGeom>
          <a:noFill/>
        </p:spPr>
        <p:txBody>
          <a:bodyPr wrap="square" rtlCol="0">
            <a:spAutoFit/>
          </a:bodyPr>
          <a:p>
            <a:r>
              <a:rPr lang="zh-CN" altLang="en-US" sz="2400" b="1">
                <a:latin typeface="宋体" charset="0"/>
                <a:ea typeface="宋体" charset="0"/>
                <a:cs typeface="宋体" charset="0"/>
              </a:rPr>
              <a:t>核心思想</a:t>
            </a:r>
            <a:r>
              <a:rPr lang="zh-CN" altLang="en-US" sz="2400">
                <a:latin typeface="宋体" charset="0"/>
                <a:ea typeface="宋体" charset="0"/>
                <a:cs typeface="宋体" charset="0"/>
              </a:rPr>
              <a:t>：将仓室模型与观测数据同时嵌入神经网络的损失函数中，实现机理驱动与数据驱动的融合</a:t>
            </a:r>
            <a:r>
              <a:rPr lang="zh-CN" altLang="en-US"/>
              <a:t>。</a:t>
            </a:r>
            <a:endParaRPr lang="zh-CN" altLang="en-US"/>
          </a:p>
        </p:txBody>
      </p:sp>
      <p:pic>
        <p:nvPicPr>
          <p:cNvPr id="4" name="图片 3"/>
          <p:cNvPicPr>
            <a:picLocks noChangeAspect="1"/>
          </p:cNvPicPr>
          <p:nvPr>
            <p:custDataLst>
              <p:tags r:id="rId1"/>
            </p:custDataLst>
          </p:nvPr>
        </p:nvPicPr>
        <p:blipFill>
          <a:blip r:embed="rId2"/>
          <a:stretch>
            <a:fillRect/>
          </a:stretch>
        </p:blipFill>
        <p:spPr>
          <a:xfrm>
            <a:off x="0" y="1788795"/>
            <a:ext cx="7723505" cy="4575810"/>
          </a:xfrm>
          <a:prstGeom prst="rect">
            <a:avLst/>
          </a:prstGeom>
        </p:spPr>
      </p:pic>
      <mc:AlternateContent xmlns:mc="http://schemas.openxmlformats.org/markup-compatibility/2006">
        <mc:Choice xmlns:a14="http://schemas.microsoft.com/office/drawing/2010/main" Requires="a14">
          <p:sp>
            <p:nvSpPr>
              <p:cNvPr id="5" name="文本框 4"/>
              <p:cNvSpPr txBox="1"/>
              <p:nvPr/>
            </p:nvSpPr>
            <p:spPr>
              <a:xfrm>
                <a:off x="7733030" y="1602740"/>
                <a:ext cx="4199255" cy="2272665"/>
              </a:xfrm>
              <a:prstGeom prst="rect">
                <a:avLst/>
              </a:prstGeom>
              <a:noFill/>
              <a:ln w="12700" cmpd="sng">
                <a:solidFill>
                  <a:schemeClr val="accent1">
                    <a:shade val="50000"/>
                  </a:schemeClr>
                </a:solidFill>
                <a:prstDash val="solid"/>
              </a:ln>
            </p:spPr>
            <p:txBody>
              <a:bodyPr wrap="square" rtlCol="0">
                <a:noAutofit/>
              </a:bodyPr>
              <a:p>
                <a:pPr indent="0" algn="just" fontAlgn="auto">
                  <a:lnSpc>
                    <a:spcPts val="2400"/>
                  </a:lnSpc>
                </a:pPr>
                <a:r>
                  <a:rPr lang="zh-CN" altLang="en-US" sz="2400">
                    <a:solidFill>
                      <a:schemeClr val="tx1"/>
                    </a:solidFill>
                    <a:uFillTx/>
                    <a:latin typeface="Times New Roman" panose="02020603050405020304" pitchFamily="18" charset="0"/>
                    <a:ea typeface="宋体" charset="0"/>
                    <a:cs typeface="宋体" charset="0"/>
                  </a:rPr>
                  <a:t>上层子网络（状态变量</a:t>
                </a:r>
                <a:r>
                  <a:rPr lang="zh-CN" altLang="en-US" sz="2400">
                    <a:solidFill>
                      <a:schemeClr val="tx1"/>
                    </a:solidFill>
                    <a:uFillTx/>
                    <a:latin typeface="Times New Roman" panose="02020603050405020304" pitchFamily="18" charset="0"/>
                    <a:ea typeface="宋体" charset="0"/>
                    <a:cs typeface="宋体" charset="0"/>
                  </a:rPr>
                  <a:t>预测）</a:t>
                </a:r>
                <a:endParaRPr lang="zh-CN" altLang="en-US" sz="2400">
                  <a:solidFill>
                    <a:schemeClr val="tx1"/>
                  </a:solidFill>
                  <a:uFillTx/>
                  <a:latin typeface="Times New Roman" panose="02020603050405020304" pitchFamily="18" charset="0"/>
                  <a:ea typeface="宋体" charset="0"/>
                  <a:cs typeface="宋体" charset="0"/>
                </a:endParaRPr>
              </a:p>
              <a:p>
                <a:pPr indent="0" algn="just" fontAlgn="auto">
                  <a:lnSpc>
                    <a:spcPts val="2400"/>
                  </a:lnSpc>
                </a:pPr>
                <a:endParaRPr lang="zh-CN" altLang="en-US" sz="2400">
                  <a:solidFill>
                    <a:schemeClr val="tx1"/>
                  </a:solidFill>
                  <a:uFillTx/>
                  <a:latin typeface="Times New Roman" panose="02020603050405020304" pitchFamily="18" charset="0"/>
                  <a:ea typeface="宋体" charset="0"/>
                  <a:cs typeface="宋体" charset="0"/>
                </a:endParaRPr>
              </a:p>
              <a:p>
                <a:pPr indent="0" algn="just" fontAlgn="auto">
                  <a:lnSpc>
                    <a:spcPts val="2400"/>
                  </a:lnSpc>
                </a:pPr>
                <a:r>
                  <a:rPr lang="zh-CN" altLang="en-US" sz="2400">
                    <a:solidFill>
                      <a:schemeClr val="tx1"/>
                    </a:solidFill>
                    <a:uFillTx/>
                    <a:latin typeface="Times New Roman" panose="02020603050405020304" pitchFamily="18" charset="0"/>
                    <a:ea typeface="宋体" charset="0"/>
                    <a:cs typeface="宋体" charset="0"/>
                  </a:rPr>
                  <a:t>输入时间</a:t>
                </a:r>
                <a:r>
                  <a:rPr lang="en-US" altLang="zh-CN" sz="2400">
                    <a:solidFill>
                      <a:schemeClr val="tx1"/>
                    </a:solidFill>
                    <a:uFillTx/>
                    <a:latin typeface="Times New Roman" panose="02020603050405020304" pitchFamily="18" charset="0"/>
                    <a:ea typeface="宋体" charset="0"/>
                    <a:cs typeface="宋体" charset="0"/>
                  </a:rPr>
                  <a:t>t</a:t>
                </a:r>
                <a:r>
                  <a:rPr lang="zh-CN" altLang="en-US" sz="2400">
                    <a:solidFill>
                      <a:schemeClr val="tx1"/>
                    </a:solidFill>
                    <a:uFillTx/>
                    <a:latin typeface="Times New Roman" panose="02020603050405020304" pitchFamily="18" charset="0"/>
                    <a:ea typeface="宋体" charset="0"/>
                    <a:cs typeface="宋体" charset="0"/>
                  </a:rPr>
                  <a:t>，3个隐藏层，每层50个神经元，输出</a:t>
                </a:r>
                <a:r>
                  <a:rPr lang="en-US" altLang="zh-CN" sz="2400">
                    <a:solidFill>
                      <a:schemeClr val="tx1"/>
                    </a:solidFill>
                    <a:uFillTx/>
                    <a:latin typeface="Times New Roman" panose="02020603050405020304" pitchFamily="18" charset="0"/>
                    <a:ea typeface="宋体" charset="0"/>
                    <a:cs typeface="宋体" charset="0"/>
                  </a:rPr>
                  <a:t>9</a:t>
                </a:r>
                <a:r>
                  <a:rPr lang="zh-CN" altLang="en-US" sz="2400">
                    <a:solidFill>
                      <a:schemeClr val="tx1"/>
                    </a:solidFill>
                    <a:uFillTx/>
                    <a:latin typeface="Times New Roman" panose="02020603050405020304" pitchFamily="18" charset="0"/>
                    <a:ea typeface="宋体" charset="0"/>
                    <a:cs typeface="宋体" charset="0"/>
                  </a:rPr>
                  <a:t>个仓室状态变量，输出经指数变换确保正值，全部9个变量参与计算ODE损失</a:t>
                </a:r>
                <a14:m>
                  <m:oMath xmlns:m="http://schemas.openxmlformats.org/officeDocument/2006/math">
                    <m:sSub>
                      <m:sSubPr>
                        <m:ctrlPr>
                          <a:rPr lang="en-US" altLang="zh-CN" sz="2400" i="1">
                            <a:solidFill>
                              <a:schemeClr val="tx1"/>
                            </a:solidFill>
                            <a:uFillTx/>
                            <a:latin typeface="DejaVu Math TeX Gyre" panose="02000503000000000000" charset="0"/>
                            <a:ea typeface="宋体" charset="0"/>
                            <a:cs typeface="DejaVu Math TeX Gyre" panose="02000503000000000000" charset="0"/>
                          </a:rPr>
                        </m:ctrlPr>
                      </m:sSubPr>
                      <m:e>
                        <m:r>
                          <a:rPr lang="en-US" altLang="zh-CN" sz="2400" i="1">
                            <a:solidFill>
                              <a:schemeClr val="tx1"/>
                            </a:solidFill>
                            <a:uFillTx/>
                            <a:latin typeface="DejaVu Math TeX Gyre" panose="02000503000000000000" charset="0"/>
                            <a:ea typeface="宋体" charset="0"/>
                            <a:cs typeface="DejaVu Math TeX Gyre" panose="02000503000000000000" charset="0"/>
                          </a:rPr>
                          <m:t>𝐿</m:t>
                        </m:r>
                      </m:e>
                      <m:sub>
                        <m:r>
                          <a:rPr lang="en-US" altLang="zh-CN" sz="2400" i="1">
                            <a:solidFill>
                              <a:schemeClr val="tx1"/>
                            </a:solidFill>
                            <a:uFillTx/>
                            <a:latin typeface="DejaVu Math TeX Gyre" panose="02000503000000000000" charset="0"/>
                            <a:ea typeface="宋体" charset="0"/>
                            <a:cs typeface="DejaVu Math TeX Gyre" panose="02000503000000000000" charset="0"/>
                          </a:rPr>
                          <m:t>𝑂𝐷𝐸</m:t>
                        </m:r>
                      </m:sub>
                    </m:sSub>
                  </m:oMath>
                </a14:m>
                <a:endParaRPr lang="en-US" altLang="zh-CN" sz="2400" i="1">
                  <a:solidFill>
                    <a:schemeClr val="tx1"/>
                  </a:solidFill>
                  <a:uFillTx/>
                  <a:latin typeface="DejaVu Math TeX Gyre" panose="02000503000000000000" charset="0"/>
                  <a:ea typeface="宋体" charset="0"/>
                  <a:cs typeface="DejaVu Math TeX Gyre" panose="02000503000000000000"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7733030" y="1602740"/>
                <a:ext cx="4199255" cy="2272665"/>
              </a:xfrm>
              <a:prstGeom prst="rect">
                <a:avLst/>
              </a:prstGeom>
              <a:blipFill rotWithShape="1">
                <a:blip r:embed="rId3"/>
                <a:stretch>
                  <a:fillRect l="-151" t="-279" r="-151" b="-279"/>
                </a:stretch>
              </a:blipFill>
              <a:ln w="12700" cmpd="sng">
                <a:solidFill>
                  <a:schemeClr val="accent1">
                    <a:shade val="50000"/>
                  </a:schemeClr>
                </a:solidFill>
                <a:prstDash val="solid"/>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custDataLst>
                  <p:tags r:id="rId4"/>
                </p:custDataLst>
              </p:nvPr>
            </p:nvSpPr>
            <p:spPr>
              <a:xfrm>
                <a:off x="7733030" y="4093210"/>
                <a:ext cx="4199255" cy="2254885"/>
              </a:xfrm>
              <a:prstGeom prst="rect">
                <a:avLst/>
              </a:prstGeom>
              <a:noFill/>
              <a:ln w="12700" cmpd="sng">
                <a:solidFill>
                  <a:schemeClr val="accent1">
                    <a:shade val="50000"/>
                  </a:schemeClr>
                </a:solidFill>
                <a:prstDash val="solid"/>
              </a:ln>
            </p:spPr>
            <p:txBody>
              <a:bodyPr wrap="square" rtlCol="0">
                <a:noAutofit/>
              </a:bodyPr>
              <a:p>
                <a:pPr indent="0" algn="just" fontAlgn="auto">
                  <a:lnSpc>
                    <a:spcPts val="2400"/>
                  </a:lnSpc>
                </a:pPr>
                <a:r>
                  <a:rPr lang="zh-CN" altLang="en-US" sz="2400">
                    <a:solidFill>
                      <a:schemeClr val="tx1"/>
                    </a:solidFill>
                    <a:uFillTx/>
                    <a:latin typeface="Times New Roman" panose="02020603050405020304" pitchFamily="18" charset="0"/>
                    <a:ea typeface="宋体" charset="0"/>
                    <a:cs typeface="宋体" charset="0"/>
                  </a:rPr>
                  <a:t>下层子网络（时变参数</a:t>
                </a:r>
                <a:r>
                  <a:rPr lang="zh-CN" altLang="en-US" sz="2400">
                    <a:solidFill>
                      <a:schemeClr val="tx1"/>
                    </a:solidFill>
                    <a:uFillTx/>
                    <a:latin typeface="Times New Roman" panose="02020603050405020304" pitchFamily="18" charset="0"/>
                    <a:ea typeface="宋体" charset="0"/>
                    <a:cs typeface="宋体" charset="0"/>
                  </a:rPr>
                  <a:t>估计）</a:t>
                </a:r>
                <a:endParaRPr lang="zh-CN" altLang="en-US" sz="2400">
                  <a:solidFill>
                    <a:schemeClr val="tx1"/>
                  </a:solidFill>
                  <a:uFillTx/>
                  <a:latin typeface="Times New Roman" panose="02020603050405020304" pitchFamily="18" charset="0"/>
                  <a:ea typeface="宋体" charset="0"/>
                  <a:cs typeface="宋体" charset="0"/>
                </a:endParaRPr>
              </a:p>
              <a:p>
                <a:pPr indent="0" algn="just" fontAlgn="auto">
                  <a:lnSpc>
                    <a:spcPts val="2400"/>
                  </a:lnSpc>
                </a:pPr>
                <a:endParaRPr lang="zh-CN" altLang="en-US" sz="2400">
                  <a:solidFill>
                    <a:schemeClr val="tx1"/>
                  </a:solidFill>
                  <a:uFillTx/>
                  <a:latin typeface="Times New Roman" panose="02020603050405020304" pitchFamily="18" charset="0"/>
                  <a:ea typeface="宋体" charset="0"/>
                  <a:cs typeface="宋体" charset="0"/>
                </a:endParaRPr>
              </a:p>
              <a:p>
                <a:pPr indent="0" algn="just" fontAlgn="auto">
                  <a:lnSpc>
                    <a:spcPts val="2400"/>
                  </a:lnSpc>
                </a:pPr>
                <a:r>
                  <a:rPr lang="zh-CN" altLang="en-US" sz="2400">
                    <a:solidFill>
                      <a:schemeClr val="tx1"/>
                    </a:solidFill>
                    <a:uFillTx/>
                    <a:latin typeface="Times New Roman" panose="02020603050405020304" pitchFamily="18" charset="0"/>
                    <a:ea typeface="宋体" charset="0"/>
                    <a:cs typeface="宋体" charset="0"/>
                  </a:rPr>
                  <a:t>输入时间</a:t>
                </a:r>
                <a:r>
                  <a:rPr lang="en-US" altLang="zh-CN" sz="2400">
                    <a:solidFill>
                      <a:schemeClr val="tx1"/>
                    </a:solidFill>
                    <a:uFillTx/>
                    <a:latin typeface="Times New Roman" panose="02020603050405020304" pitchFamily="18" charset="0"/>
                    <a:ea typeface="宋体" charset="0"/>
                    <a:cs typeface="宋体" charset="0"/>
                  </a:rPr>
                  <a:t>t</a:t>
                </a:r>
                <a:r>
                  <a:rPr lang="zh-CN" altLang="en-US" sz="2400">
                    <a:solidFill>
                      <a:schemeClr val="tx1"/>
                    </a:solidFill>
                    <a:uFillTx/>
                    <a:latin typeface="Times New Roman" panose="02020603050405020304" pitchFamily="18" charset="0"/>
                    <a:ea typeface="宋体" charset="0"/>
                    <a:cs typeface="宋体" charset="0"/>
                  </a:rPr>
                  <a:t>，3个隐藏层，每层50个神经元，输出</a:t>
                </a:r>
                <a:r>
                  <a:rPr lang="en-US" sz="2400">
                    <a:solidFill>
                      <a:schemeClr val="tx1"/>
                    </a:solidFill>
                    <a:uFillTx/>
                    <a:latin typeface="Times New Roman" panose="02020603050405020304" pitchFamily="18" charset="0"/>
                    <a:ea typeface="宋体" charset="0"/>
                    <a:cs typeface="宋体" charset="0"/>
                  </a:rPr>
                  <a:t>3</a:t>
                </a:r>
                <a:r>
                  <a:rPr lang="zh-CN" altLang="en-US" sz="2400">
                    <a:solidFill>
                      <a:schemeClr val="tx1"/>
                    </a:solidFill>
                    <a:uFillTx/>
                    <a:latin typeface="Times New Roman" panose="02020603050405020304" pitchFamily="18" charset="0"/>
                    <a:ea typeface="宋体" charset="0"/>
                    <a:cs typeface="宋体" charset="0"/>
                  </a:rPr>
                  <a:t>个时变参数，传染率</a:t>
                </a:r>
                <a:r>
                  <a:rPr lang="zh-CN" altLang="en-US" sz="2400">
                    <a:uFillTx/>
                    <a:latin typeface="Times New Roman" panose="02020603050405020304" pitchFamily="18" charset="0"/>
                    <a:ea typeface="宋体" charset="0"/>
                    <a:cs typeface="宋体" charset="0"/>
                    <a:sym typeface="+mn-ea"/>
                  </a:rPr>
                  <a:t>参与计算ODE损失</a:t>
                </a:r>
                <a14:m>
                  <m:oMath xmlns:m="http://schemas.openxmlformats.org/officeDocument/2006/math">
                    <m:sSub>
                      <m:sSubPr>
                        <m:ctrlPr>
                          <a:rPr lang="en-US" altLang="zh-CN" sz="2400" i="1">
                            <a:solidFill>
                              <a:schemeClr val="tx1"/>
                            </a:solidFill>
                            <a:uFillTx/>
                            <a:latin typeface="DejaVu Math TeX Gyre" panose="02000503000000000000" charset="0"/>
                            <a:ea typeface="宋体" charset="0"/>
                            <a:cs typeface="DejaVu Math TeX Gyre" panose="02000503000000000000" charset="0"/>
                          </a:rPr>
                        </m:ctrlPr>
                      </m:sSubPr>
                      <m:e>
                        <m:r>
                          <a:rPr lang="en-US" altLang="zh-CN" sz="2400" i="1">
                            <a:solidFill>
                              <a:schemeClr val="tx1"/>
                            </a:solidFill>
                            <a:uFillTx/>
                            <a:latin typeface="DejaVu Math TeX Gyre" panose="02000503000000000000" charset="0"/>
                            <a:ea typeface="宋体" charset="0"/>
                            <a:cs typeface="DejaVu Math TeX Gyre" panose="02000503000000000000" charset="0"/>
                          </a:rPr>
                          <m:t>𝐿</m:t>
                        </m:r>
                      </m:e>
                      <m:sub>
                        <m:r>
                          <a:rPr lang="en-US" altLang="zh-CN" sz="2400" i="1">
                            <a:solidFill>
                              <a:schemeClr val="tx1"/>
                            </a:solidFill>
                            <a:uFillTx/>
                            <a:latin typeface="DejaVu Math TeX Gyre" panose="02000503000000000000" charset="0"/>
                            <a:ea typeface="宋体" charset="0"/>
                            <a:cs typeface="DejaVu Math TeX Gyre" panose="02000503000000000000" charset="0"/>
                          </a:rPr>
                          <m:t>𝑂𝐷𝐸</m:t>
                        </m:r>
                      </m:sub>
                    </m:sSub>
                  </m:oMath>
                </a14:m>
                <a:r>
                  <a:rPr lang="zh-CN" altLang="en-US" sz="2400">
                    <a:solidFill>
                      <a:schemeClr val="tx1"/>
                    </a:solidFill>
                    <a:uFillTx/>
                    <a:latin typeface="DejaVu Math TeX Gyre" panose="02000503000000000000" charset="0"/>
                    <a:ea typeface="宋体" charset="0"/>
                    <a:cs typeface="DejaVu Math TeX Gyre" panose="02000503000000000000" charset="0"/>
                  </a:rPr>
                  <a:t>，移动性、累积疫苗接种参与数据损失</a:t>
                </a:r>
                <a14:m>
                  <m:oMath xmlns:m="http://schemas.openxmlformats.org/officeDocument/2006/math">
                    <m:sSub>
                      <m:sSubPr>
                        <m:ctrlPr>
                          <a:rPr lang="en-US" altLang="zh-CN" sz="2400" i="1">
                            <a:solidFill>
                              <a:schemeClr val="tx1"/>
                            </a:solidFill>
                            <a:uFillTx/>
                            <a:latin typeface="DejaVu Math TeX Gyre" panose="02000503000000000000" charset="0"/>
                            <a:ea typeface="宋体" charset="0"/>
                            <a:cs typeface="DejaVu Math TeX Gyre" panose="02000503000000000000" charset="0"/>
                          </a:rPr>
                        </m:ctrlPr>
                      </m:sSubPr>
                      <m:e>
                        <m:r>
                          <a:rPr lang="en-US" altLang="zh-CN" sz="2400" i="1">
                            <a:solidFill>
                              <a:schemeClr val="tx1"/>
                            </a:solidFill>
                            <a:uFillTx/>
                            <a:latin typeface="DejaVu Math TeX Gyre" panose="02000503000000000000" charset="0"/>
                            <a:ea typeface="宋体" charset="0"/>
                            <a:cs typeface="DejaVu Math TeX Gyre" panose="02000503000000000000" charset="0"/>
                          </a:rPr>
                          <m:t>𝐿</m:t>
                        </m:r>
                      </m:e>
                      <m:sub>
                        <m:r>
                          <a:rPr lang="en-US" altLang="zh-CN" sz="2400" i="1">
                            <a:solidFill>
                              <a:schemeClr val="tx1"/>
                            </a:solidFill>
                            <a:uFillTx/>
                            <a:latin typeface="DejaVu Math TeX Gyre" panose="02000503000000000000" charset="0"/>
                            <a:ea typeface="宋体" charset="0"/>
                            <a:cs typeface="DejaVu Math TeX Gyre" panose="02000503000000000000" charset="0"/>
                          </a:rPr>
                          <m:t>𝑑𝑎𝑡𝑎</m:t>
                        </m:r>
                      </m:sub>
                    </m:sSub>
                  </m:oMath>
                </a14:m>
                <a:endParaRPr lang="zh-CN" altLang="en-US" sz="2400">
                  <a:solidFill>
                    <a:schemeClr val="tx1"/>
                  </a:solidFill>
                  <a:uFillTx/>
                  <a:latin typeface="DejaVu Math TeX Gyre" panose="02000503000000000000" charset="0"/>
                  <a:ea typeface="宋体" charset="0"/>
                  <a:cs typeface="DejaVu Math TeX Gyre" panose="02000503000000000000" charset="0"/>
                </a:endParaRPr>
              </a:p>
              <a:p>
                <a:pPr indent="0" algn="just" fontAlgn="auto">
                  <a:lnSpc>
                    <a:spcPts val="2400"/>
                  </a:lnSpc>
                </a:pPr>
                <a:endParaRPr lang="en-US" altLang="zh-CN" sz="2400" i="1">
                  <a:solidFill>
                    <a:schemeClr val="tx1"/>
                  </a:solidFill>
                  <a:uFillTx/>
                  <a:latin typeface="DejaVu Math TeX Gyre" panose="02000503000000000000" charset="0"/>
                  <a:ea typeface="宋体" charset="0"/>
                  <a:cs typeface="DejaVu Math TeX Gyre" panose="02000503000000000000" charset="0"/>
                </a:endParaRPr>
              </a:p>
            </p:txBody>
          </p:sp>
        </mc:Choice>
        <mc:Fallback>
          <p:sp>
            <p:nvSpPr>
              <p:cNvPr id="6" name="文本框 5"/>
              <p:cNvSpPr txBox="1">
                <a:spLocks noRot="1" noChangeAspect="1" noMove="1" noResize="1" noEditPoints="1" noAdjustHandles="1" noChangeArrowheads="1" noChangeShapeType="1" noTextEdit="1"/>
              </p:cNvSpPr>
              <p:nvPr>
                <p:custDataLst>
                  <p:tags r:id="rId5"/>
                </p:custDataLst>
              </p:nvPr>
            </p:nvSpPr>
            <p:spPr>
              <a:xfrm>
                <a:off x="7733030" y="4093210"/>
                <a:ext cx="4199255" cy="2254885"/>
              </a:xfrm>
              <a:prstGeom prst="rect">
                <a:avLst/>
              </a:prstGeom>
              <a:blipFill rotWithShape="1">
                <a:blip r:embed="rId6"/>
                <a:stretch>
                  <a:fillRect l="-151" t="-282" r="-151" b="-10166"/>
                </a:stretch>
              </a:blipFill>
              <a:ln w="12700" cmpd="sng">
                <a:solidFill>
                  <a:schemeClr val="accent1">
                    <a:shade val="50000"/>
                  </a:schemeClr>
                </a:solidFill>
                <a:prstDash val="solid"/>
              </a:ln>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3"/>
          </p:nvPr>
        </p:nvSpPr>
        <p:spPr/>
        <p:txBody>
          <a:bodyPr/>
          <a:p>
            <a:r>
              <a:rPr lang="zh-CN" altLang="en-US" sz="3200">
                <a:latin typeface="宋体" charset="0"/>
                <a:ea typeface="宋体" charset="0"/>
              </a:rPr>
              <a:t>损失函数</a:t>
            </a:r>
            <a:endParaRPr lang="zh-CN" altLang="en-US" sz="3200">
              <a:latin typeface="宋体" charset="0"/>
              <a:ea typeface="宋体" charset="0"/>
            </a:endParaRPr>
          </a:p>
        </p:txBody>
      </p:sp>
      <p:sp>
        <p:nvSpPr>
          <p:cNvPr id="3" name="文本框 2"/>
          <p:cNvSpPr txBox="1"/>
          <p:nvPr/>
        </p:nvSpPr>
        <p:spPr>
          <a:xfrm>
            <a:off x="537845" y="1106805"/>
            <a:ext cx="11539220" cy="829945"/>
          </a:xfrm>
          <a:prstGeom prst="rect">
            <a:avLst/>
          </a:prstGeom>
          <a:noFill/>
        </p:spPr>
        <p:txBody>
          <a:bodyPr wrap="square" rtlCol="0">
            <a:spAutoFit/>
          </a:bodyPr>
          <a:p>
            <a:r>
              <a:rPr lang="zh-CN" altLang="en-US" sz="2400">
                <a:solidFill>
                  <a:schemeClr val="tx1"/>
                </a:solidFill>
                <a:uFillTx/>
                <a:latin typeface="Times New Roman" panose="02020603050405020304" pitchFamily="18" charset="0"/>
                <a:ea typeface="宋体" charset="0"/>
                <a:cs typeface="宋体" charset="0"/>
              </a:rPr>
              <a:t>通过将ODE损失与数据损失相结合，将仓室模型施加的约束集成到PINNs训练过程中。具体地，总损失被定义为数据损失和ODE损失的加权和：</a:t>
            </a:r>
            <a:endParaRPr lang="zh-CN" altLang="en-US" sz="2400">
              <a:solidFill>
                <a:schemeClr val="tx1"/>
              </a:solidFill>
              <a:uFillTx/>
              <a:latin typeface="Times New Roman" panose="02020603050405020304" pitchFamily="18" charset="0"/>
              <a:ea typeface="宋体" charset="0"/>
              <a:cs typeface="宋体" charset="0"/>
            </a:endParaRPr>
          </a:p>
        </p:txBody>
      </p:sp>
      <p:pic>
        <p:nvPicPr>
          <p:cNvPr id="5" name="图片 4"/>
          <p:cNvPicPr>
            <a:picLocks noChangeAspect="1"/>
          </p:cNvPicPr>
          <p:nvPr>
            <p:custDataLst>
              <p:tags r:id="rId1"/>
            </p:custDataLst>
          </p:nvPr>
        </p:nvPicPr>
        <p:blipFill>
          <a:blip r:embed="rId2"/>
          <a:stretch>
            <a:fillRect/>
          </a:stretch>
        </p:blipFill>
        <p:spPr>
          <a:xfrm>
            <a:off x="3128010" y="1837690"/>
            <a:ext cx="5935980" cy="821055"/>
          </a:xfrm>
          <a:prstGeom prst="rect">
            <a:avLst/>
          </a:prstGeom>
        </p:spPr>
      </p:pic>
      <mc:AlternateContent xmlns:mc="http://schemas.openxmlformats.org/markup-compatibility/2006">
        <mc:Choice xmlns:a14="http://schemas.microsoft.com/office/drawing/2010/main" Requires="a14">
          <p:sp>
            <p:nvSpPr>
              <p:cNvPr id="8" name="文本占位符 1"/>
              <p:cNvSpPr>
                <a:spLocks noGrp="1"/>
              </p:cNvSpPr>
              <p:nvPr>
                <p:custDataLst>
                  <p:tags r:id="rId3"/>
                </p:custDataLst>
              </p:nvPr>
            </p:nvSpPr>
            <p:spPr>
              <a:xfrm>
                <a:off x="538480" y="2767330"/>
                <a:ext cx="2992755" cy="511175"/>
              </a:xfrm>
              <a:prstGeom prst="rect">
                <a:avLst/>
              </a:prstGeom>
            </p:spPr>
            <p:txBody>
              <a:bodyPr/>
              <a:lstStyle>
                <a:lvl1pPr marL="0" indent="0" algn="l" defTabSz="914400" rtl="0" eaLnBrk="1" latinLnBrk="0" hangingPunct="1">
                  <a:lnSpc>
                    <a:spcPct val="90000"/>
                  </a:lnSpc>
                  <a:spcBef>
                    <a:spcPts val="1000"/>
                  </a:spcBef>
                  <a:buFont typeface="Arial" panose="020B0604020202090204" pitchFamily="34" charset="0"/>
                  <a:buNone/>
                  <a:defRPr sz="2400" b="1" kern="1200">
                    <a:solidFill>
                      <a:schemeClr val="bg1"/>
                    </a:solidFill>
                    <a:latin typeface="华文行楷" panose="02010800040101010101" pitchFamily="2" charset="-122"/>
                    <a:ea typeface="华文行楷"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zh-CN" altLang="en-US" b="0">
                    <a:solidFill>
                      <a:schemeClr val="tx1"/>
                    </a:solidFill>
                    <a:latin typeface="宋体" charset="0"/>
                    <a:ea typeface="宋体" charset="0"/>
                    <a:cs typeface="宋体" charset="0"/>
                  </a:rPr>
                  <a:t>数据损失</a:t>
                </a:r>
                <a14:m>
                  <m:oMath xmlns:m="http://schemas.openxmlformats.org/officeDocument/2006/math">
                    <m:sSub>
                      <m:sSubPr>
                        <m:ctrlPr>
                          <a:rPr lang="en-US" altLang="zh-CN" b="0" i="1">
                            <a:solidFill>
                              <a:schemeClr val="tx1"/>
                            </a:solidFill>
                            <a:latin typeface="DejaVu Math TeX Gyre" panose="02000503000000000000" charset="0"/>
                            <a:ea typeface="宋体" charset="0"/>
                            <a:cs typeface="DejaVu Math TeX Gyre" panose="02000503000000000000" charset="0"/>
                          </a:rPr>
                        </m:ctrlPr>
                      </m:sSubPr>
                      <m:e>
                        <m:r>
                          <a:rPr lang="en-US" altLang="zh-CN" b="0" i="1">
                            <a:solidFill>
                              <a:schemeClr val="tx1"/>
                            </a:solidFill>
                            <a:latin typeface="DejaVu Math TeX Gyre" panose="02000503000000000000" charset="0"/>
                            <a:ea typeface="宋体" charset="0"/>
                            <a:cs typeface="DejaVu Math TeX Gyre" panose="02000503000000000000" charset="0"/>
                          </a:rPr>
                          <m:t>𝐿</m:t>
                        </m:r>
                      </m:e>
                      <m:sub>
                        <m:r>
                          <a:rPr lang="en-US" altLang="zh-CN" b="0" i="1">
                            <a:solidFill>
                              <a:schemeClr val="tx1"/>
                            </a:solidFill>
                            <a:latin typeface="DejaVu Math TeX Gyre" panose="02000503000000000000" charset="0"/>
                            <a:ea typeface="宋体" charset="0"/>
                            <a:cs typeface="DejaVu Math TeX Gyre" panose="02000503000000000000" charset="0"/>
                          </a:rPr>
                          <m:t>𝑑𝑎𝑡𝑎</m:t>
                        </m:r>
                      </m:sub>
                    </m:sSub>
                    <m:r>
                      <a:rPr lang="en-US" altLang="zh-CN" b="0" i="1">
                        <a:solidFill>
                          <a:schemeClr val="tx1"/>
                        </a:solidFill>
                        <a:latin typeface="DejaVu Math TeX Gyre" panose="02000503000000000000" charset="0"/>
                        <a:ea typeface="宋体" charset="0"/>
                        <a:cs typeface="DejaVu Math TeX Gyre" panose="02000503000000000000" charset="0"/>
                      </a:rPr>
                      <m:t>：</m:t>
                    </m:r>
                  </m:oMath>
                </a14:m>
                <a:endParaRPr lang="en-US" altLang="zh-CN" b="0" i="1">
                  <a:solidFill>
                    <a:schemeClr val="tx1"/>
                  </a:solidFill>
                  <a:latin typeface="宋体" charset="0"/>
                  <a:ea typeface="宋体" charset="0"/>
                  <a:cs typeface="宋体" charset="0"/>
                </a:endParaRPr>
              </a:p>
            </p:txBody>
          </p:sp>
        </mc:Choice>
        <mc:Fallback>
          <p:sp>
            <p:nvSpPr>
              <p:cNvPr id="8" name="文本占位符 1"/>
              <p:cNvSpPr>
                <a:spLocks noRot="1" noChangeAspect="1" noMove="1" noResize="1" noEditPoints="1" noAdjustHandles="1" noChangeArrowheads="1" noChangeShapeType="1" noTextEdit="1"/>
              </p:cNvSpPr>
              <p:nvPr>
                <p:custDataLst>
                  <p:tags r:id="rId4"/>
                </p:custDataLst>
              </p:nvPr>
            </p:nvSpPr>
            <p:spPr>
              <a:xfrm>
                <a:off x="538480" y="2767330"/>
                <a:ext cx="2992755" cy="511175"/>
              </a:xfrm>
              <a:prstGeom prst="rect">
                <a:avLst/>
              </a:prstGeom>
              <a:blipFill rotWithShape="1">
                <a:blip r:embed="rId5"/>
                <a:stretch>
                  <a:fillRect/>
                </a:stretch>
              </a:blipFill>
            </p:spPr>
            <p:txBody>
              <a:bodyPr/>
              <a:lstStyle/>
              <a:p>
                <a:r>
                  <a:rPr lang="zh-CN" altLang="en-US">
                    <a:noFill/>
                  </a:rPr>
                  <a:t> </a:t>
                </a:r>
              </a:p>
            </p:txBody>
          </p:sp>
        </mc:Fallback>
      </mc:AlternateContent>
      <p:sp>
        <p:nvSpPr>
          <p:cNvPr id="11" name="文本框 10"/>
          <p:cNvSpPr txBox="1"/>
          <p:nvPr/>
        </p:nvSpPr>
        <p:spPr>
          <a:xfrm>
            <a:off x="2747645" y="2767330"/>
            <a:ext cx="9329420" cy="460375"/>
          </a:xfrm>
          <a:prstGeom prst="rect">
            <a:avLst/>
          </a:prstGeom>
          <a:noFill/>
        </p:spPr>
        <p:txBody>
          <a:bodyPr wrap="square" rtlCol="0" anchor="t">
            <a:spAutoFit/>
          </a:bodyPr>
          <a:p>
            <a:r>
              <a:rPr lang="zh-CN" altLang="en-US" sz="2400">
                <a:latin typeface="宋体" charset="0"/>
                <a:ea typeface="宋体" charset="0"/>
                <a:sym typeface="+mn-ea"/>
              </a:rPr>
              <a:t>度量网络预测值与真实观测值之间的差距，仅针对有观测数据的变量。</a:t>
            </a:r>
            <a:endParaRPr lang="zh-CN" altLang="en-US" sz="2400">
              <a:latin typeface="宋体" charset="0"/>
              <a:ea typeface="宋体" charset="0"/>
              <a:sym typeface="+mn-ea"/>
            </a:endParaRPr>
          </a:p>
        </p:txBody>
      </p:sp>
      <p:pic>
        <p:nvPicPr>
          <p:cNvPr id="12" name="图片 11"/>
          <p:cNvPicPr>
            <a:picLocks noChangeAspect="1"/>
          </p:cNvPicPr>
          <p:nvPr>
            <p:custDataLst>
              <p:tags r:id="rId6"/>
            </p:custDataLst>
          </p:nvPr>
        </p:nvPicPr>
        <p:blipFill>
          <a:blip r:embed="rId7"/>
          <a:stretch>
            <a:fillRect/>
          </a:stretch>
        </p:blipFill>
        <p:spPr>
          <a:xfrm>
            <a:off x="1816100" y="3413125"/>
            <a:ext cx="8559800" cy="25654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2" name="文本占位符 1"/>
              <p:cNvSpPr>
                <a:spLocks noGrp="1"/>
              </p:cNvSpPr>
              <p:nvPr>
                <p:ph type="body" sz="quarter" idx="13"/>
              </p:nvPr>
            </p:nvSpPr>
            <p:spPr>
              <a:xfrm>
                <a:off x="538480" y="222250"/>
                <a:ext cx="6464300" cy="511175"/>
              </a:xfrm>
            </p:spPr>
            <p:txBody>
              <a:bodyPr/>
              <a:p>
                <a:r>
                  <a:rPr lang="zh-CN" altLang="en-US" sz="3200">
                    <a:latin typeface="宋体" charset="0"/>
                    <a:ea typeface="宋体" charset="0"/>
                  </a:rPr>
                  <a:t>数据损失</a:t>
                </a:r>
                <a14:m>
                  <m:oMath xmlns:m="http://schemas.openxmlformats.org/officeDocument/2006/math">
                    <m:sSub>
                      <m:sSubPr>
                        <m:ctrlPr>
                          <a:rPr lang="en-US" altLang="zh-CN" sz="3200" i="1">
                            <a:latin typeface="DejaVu Math TeX Gyre" panose="02000503000000000000" charset="0"/>
                            <a:ea typeface="宋体" charset="0"/>
                            <a:cs typeface="DejaVu Math TeX Gyre" panose="02000503000000000000" charset="0"/>
                          </a:rPr>
                        </m:ctrlPr>
                      </m:sSubPr>
                      <m:e>
                        <m:r>
                          <a:rPr lang="en-US" altLang="zh-CN" sz="3200" i="1">
                            <a:latin typeface="DejaVu Math TeX Gyre" panose="02000503000000000000" charset="0"/>
                            <a:ea typeface="宋体" charset="0"/>
                            <a:cs typeface="DejaVu Math TeX Gyre" panose="02000503000000000000" charset="0"/>
                          </a:rPr>
                          <m:t>𝐿</m:t>
                        </m:r>
                      </m:e>
                      <m:sub>
                        <m:r>
                          <a:rPr lang="en-US" altLang="zh-CN" sz="3200" i="1">
                            <a:latin typeface="DejaVu Math TeX Gyre" panose="02000503000000000000" charset="0"/>
                            <a:ea typeface="宋体" charset="0"/>
                            <a:cs typeface="DejaVu Math TeX Gyre" panose="02000503000000000000" charset="0"/>
                          </a:rPr>
                          <m:t>𝑂𝐷𝐸</m:t>
                        </m:r>
                      </m:sub>
                    </m:sSub>
                  </m:oMath>
                </a14:m>
                <a:endParaRPr lang="zh-CN" altLang="en-US" sz="3200">
                  <a:latin typeface="宋体" charset="0"/>
                  <a:ea typeface="宋体" charset="0"/>
                </a:endParaRPr>
              </a:p>
            </p:txBody>
          </p:sp>
        </mc:Choice>
        <mc:Fallback>
          <p:sp>
            <p:nvSpPr>
              <p:cNvPr id="2" name="文本占位符 1"/>
              <p:cNvSpPr>
                <a:spLocks noRot="1" noChangeAspect="1" noMove="1" noResize="1" noEditPoints="1" noAdjustHandles="1" noChangeArrowheads="1" noChangeShapeType="1" noTextEdit="1"/>
              </p:cNvSpPr>
              <p:nvPr>
                <p:ph type="body" sz="quarter" idx="13"/>
              </p:nvPr>
            </p:nvSpPr>
            <p:spPr>
              <a:xfrm>
                <a:off x="538480" y="222250"/>
                <a:ext cx="6464300" cy="511175"/>
              </a:xfrm>
              <a:blipFill rotWithShape="1">
                <a:blip r:embed="rId1"/>
                <a:stretch>
                  <a:fillRect/>
                </a:stretch>
              </a:blipFill>
            </p:spPr>
            <p:txBody>
              <a:bodyPr/>
              <a:lstStyle/>
              <a:p>
                <a:r>
                  <a:rPr lang="zh-CN" altLang="en-US">
                    <a:noFill/>
                  </a:rPr>
                  <a:t> </a:t>
                </a:r>
              </a:p>
            </p:txBody>
          </p:sp>
        </mc:Fallback>
      </mc:AlternateContent>
      <p:sp>
        <p:nvSpPr>
          <p:cNvPr id="6" name="文本框 5"/>
          <p:cNvSpPr txBox="1"/>
          <p:nvPr/>
        </p:nvSpPr>
        <p:spPr>
          <a:xfrm>
            <a:off x="478790" y="1077595"/>
            <a:ext cx="11233785" cy="460375"/>
          </a:xfrm>
          <a:prstGeom prst="rect">
            <a:avLst/>
          </a:prstGeom>
          <a:noFill/>
        </p:spPr>
        <p:txBody>
          <a:bodyPr wrap="square" rtlCol="0" anchor="t">
            <a:spAutoFit/>
          </a:bodyPr>
          <a:p>
            <a:r>
              <a:rPr lang="zh-CN" altLang="en-US" sz="2400">
                <a:latin typeface="宋体" charset="0"/>
                <a:ea typeface="宋体" charset="0"/>
              </a:rPr>
              <a:t>目的：强制神经网络的输出满足仓室模型的9个常微分方程，使预测在物理上合理。</a:t>
            </a:r>
            <a:endParaRPr lang="zh-CN" altLang="en-US" sz="2400">
              <a:latin typeface="宋体" charset="0"/>
              <a:ea typeface="宋体" charset="0"/>
            </a:endParaRPr>
          </a:p>
        </p:txBody>
      </p:sp>
      <p:pic>
        <p:nvPicPr>
          <p:cNvPr id="7" name="图片 6"/>
          <p:cNvPicPr>
            <a:picLocks noChangeAspect="1"/>
          </p:cNvPicPr>
          <p:nvPr>
            <p:custDataLst>
              <p:tags r:id="rId2"/>
            </p:custDataLst>
          </p:nvPr>
        </p:nvPicPr>
        <p:blipFill>
          <a:blip r:embed="rId3"/>
          <a:stretch>
            <a:fillRect/>
          </a:stretch>
        </p:blipFill>
        <p:spPr>
          <a:xfrm>
            <a:off x="3935095" y="1521460"/>
            <a:ext cx="4322445" cy="779780"/>
          </a:xfrm>
          <a:prstGeom prst="rect">
            <a:avLst/>
          </a:prstGeom>
        </p:spPr>
      </p:pic>
      <p:pic>
        <p:nvPicPr>
          <p:cNvPr id="8" name="图片 7"/>
          <p:cNvPicPr>
            <a:picLocks noChangeAspect="1"/>
          </p:cNvPicPr>
          <p:nvPr>
            <p:custDataLst>
              <p:tags r:id="rId4"/>
            </p:custDataLst>
          </p:nvPr>
        </p:nvPicPr>
        <p:blipFill>
          <a:blip r:embed="rId5"/>
          <a:stretch>
            <a:fillRect/>
          </a:stretch>
        </p:blipFill>
        <p:spPr>
          <a:xfrm>
            <a:off x="1947545" y="2404745"/>
            <a:ext cx="2124710" cy="460375"/>
          </a:xfrm>
          <a:prstGeom prst="rect">
            <a:avLst/>
          </a:prstGeom>
        </p:spPr>
      </p:pic>
      <p:pic>
        <p:nvPicPr>
          <p:cNvPr id="12" name="图片 11"/>
          <p:cNvPicPr>
            <a:picLocks noChangeAspect="1"/>
          </p:cNvPicPr>
          <p:nvPr>
            <p:custDataLst>
              <p:tags r:id="rId6"/>
            </p:custDataLst>
          </p:nvPr>
        </p:nvPicPr>
        <p:blipFill>
          <a:blip r:embed="rId7"/>
          <a:stretch>
            <a:fillRect/>
          </a:stretch>
        </p:blipFill>
        <p:spPr>
          <a:xfrm>
            <a:off x="1510665" y="3263265"/>
            <a:ext cx="2997835" cy="994410"/>
          </a:xfrm>
          <a:prstGeom prst="rect">
            <a:avLst/>
          </a:prstGeom>
        </p:spPr>
      </p:pic>
      <p:pic>
        <p:nvPicPr>
          <p:cNvPr id="13" name="图片 12"/>
          <p:cNvPicPr>
            <a:picLocks noChangeAspect="1"/>
          </p:cNvPicPr>
          <p:nvPr>
            <p:custDataLst>
              <p:tags r:id="rId8"/>
            </p:custDataLst>
          </p:nvPr>
        </p:nvPicPr>
        <p:blipFill>
          <a:blip r:embed="rId9"/>
          <a:srcRect r="83804"/>
          <a:stretch>
            <a:fillRect/>
          </a:stretch>
        </p:blipFill>
        <p:spPr>
          <a:xfrm>
            <a:off x="716915" y="4321810"/>
            <a:ext cx="1057275" cy="2032000"/>
          </a:xfrm>
          <a:prstGeom prst="rect">
            <a:avLst/>
          </a:prstGeom>
        </p:spPr>
      </p:pic>
      <p:pic>
        <p:nvPicPr>
          <p:cNvPr id="14" name="图片 13"/>
          <p:cNvPicPr>
            <a:picLocks noChangeAspect="1"/>
          </p:cNvPicPr>
          <p:nvPr>
            <p:custDataLst>
              <p:tags r:id="rId10"/>
            </p:custDataLst>
          </p:nvPr>
        </p:nvPicPr>
        <p:blipFill>
          <a:blip r:embed="rId11"/>
          <a:stretch>
            <a:fillRect/>
          </a:stretch>
        </p:blipFill>
        <p:spPr>
          <a:xfrm>
            <a:off x="8575675" y="2293620"/>
            <a:ext cx="1556385" cy="574040"/>
          </a:xfrm>
          <a:prstGeom prst="rect">
            <a:avLst/>
          </a:prstGeom>
        </p:spPr>
      </p:pic>
      <p:sp>
        <p:nvSpPr>
          <p:cNvPr id="20" name="文本框 19"/>
          <p:cNvSpPr txBox="1"/>
          <p:nvPr/>
        </p:nvSpPr>
        <p:spPr>
          <a:xfrm>
            <a:off x="478790" y="2897505"/>
            <a:ext cx="5062220" cy="368300"/>
          </a:xfrm>
          <a:prstGeom prst="rect">
            <a:avLst/>
          </a:prstGeom>
          <a:noFill/>
        </p:spPr>
        <p:txBody>
          <a:bodyPr wrap="square" rtlCol="0">
            <a:spAutoFit/>
          </a:bodyPr>
          <a:p>
            <a:r>
              <a:rPr lang="zh-CN" altLang="en-US"/>
              <a:t>作用：约束网络在起点的输出与已知初始值一致</a:t>
            </a:r>
            <a:endParaRPr lang="zh-CN" altLang="en-US"/>
          </a:p>
        </p:txBody>
      </p:sp>
      <p:pic>
        <p:nvPicPr>
          <p:cNvPr id="21" name="图片 20"/>
          <p:cNvPicPr>
            <a:picLocks noChangeAspect="1"/>
          </p:cNvPicPr>
          <p:nvPr>
            <p:custDataLst>
              <p:tags r:id="rId12"/>
            </p:custDataLst>
          </p:nvPr>
        </p:nvPicPr>
        <p:blipFill>
          <a:blip r:embed="rId9"/>
          <a:srcRect l="36663"/>
          <a:stretch>
            <a:fillRect/>
          </a:stretch>
        </p:blipFill>
        <p:spPr>
          <a:xfrm>
            <a:off x="1774190" y="4321810"/>
            <a:ext cx="4134485" cy="2032000"/>
          </a:xfrm>
          <a:prstGeom prst="rect">
            <a:avLst/>
          </a:prstGeom>
        </p:spPr>
      </p:pic>
      <p:sp>
        <p:nvSpPr>
          <p:cNvPr id="22" name="文本框 21"/>
          <p:cNvSpPr txBox="1"/>
          <p:nvPr/>
        </p:nvSpPr>
        <p:spPr>
          <a:xfrm>
            <a:off x="6816090" y="2817495"/>
            <a:ext cx="5074920" cy="645160"/>
          </a:xfrm>
          <a:prstGeom prst="rect">
            <a:avLst/>
          </a:prstGeom>
          <a:noFill/>
        </p:spPr>
        <p:txBody>
          <a:bodyPr wrap="square" rtlCol="0">
            <a:spAutoFit/>
          </a:bodyPr>
          <a:p>
            <a:r>
              <a:rPr lang="zh-CN" altLang="en-US"/>
              <a:t>作用：网络输出对ODE系统的违反程度，即方程左右两边之差的平方。</a:t>
            </a:r>
            <a:endParaRPr lang="zh-CN" altLang="en-US"/>
          </a:p>
        </p:txBody>
      </p:sp>
      <p:sp>
        <p:nvSpPr>
          <p:cNvPr id="23" name="文本框 22"/>
          <p:cNvSpPr txBox="1"/>
          <p:nvPr/>
        </p:nvSpPr>
        <p:spPr>
          <a:xfrm>
            <a:off x="215900" y="2301240"/>
            <a:ext cx="5586730" cy="4053205"/>
          </a:xfrm>
          <a:prstGeom prst="rect">
            <a:avLst/>
          </a:prstGeom>
          <a:noFill/>
          <a:ln>
            <a:solidFill>
              <a:schemeClr val="accent1"/>
            </a:solidFill>
          </a:ln>
        </p:spPr>
        <p:txBody>
          <a:bodyPr wrap="square" rtlCol="0">
            <a:noAutofit/>
          </a:bodyPr>
          <a:p>
            <a:endParaRPr lang="zh-CN" altLang="en-US"/>
          </a:p>
        </p:txBody>
      </p:sp>
      <p:pic>
        <p:nvPicPr>
          <p:cNvPr id="24" name="图片 23"/>
          <p:cNvPicPr>
            <a:picLocks noChangeAspect="1"/>
          </p:cNvPicPr>
          <p:nvPr>
            <p:custDataLst>
              <p:tags r:id="rId13"/>
            </p:custDataLst>
          </p:nvPr>
        </p:nvPicPr>
        <p:blipFill>
          <a:blip r:embed="rId14"/>
          <a:stretch>
            <a:fillRect/>
          </a:stretch>
        </p:blipFill>
        <p:spPr>
          <a:xfrm>
            <a:off x="7741285" y="3435350"/>
            <a:ext cx="3225800" cy="838200"/>
          </a:xfrm>
          <a:prstGeom prst="rect">
            <a:avLst/>
          </a:prstGeom>
        </p:spPr>
      </p:pic>
      <p:pic>
        <p:nvPicPr>
          <p:cNvPr id="27" name="图片 26"/>
          <p:cNvPicPr>
            <a:picLocks noChangeAspect="1"/>
          </p:cNvPicPr>
          <p:nvPr>
            <p:custDataLst>
              <p:tags r:id="rId15"/>
            </p:custDataLst>
          </p:nvPr>
        </p:nvPicPr>
        <p:blipFill>
          <a:blip r:embed="rId16"/>
          <a:stretch>
            <a:fillRect/>
          </a:stretch>
        </p:blipFill>
        <p:spPr>
          <a:xfrm>
            <a:off x="6816090" y="4235450"/>
            <a:ext cx="4584700" cy="406400"/>
          </a:xfrm>
          <a:prstGeom prst="rect">
            <a:avLst/>
          </a:prstGeom>
        </p:spPr>
      </p:pic>
      <p:pic>
        <p:nvPicPr>
          <p:cNvPr id="28" name="图片 27"/>
          <p:cNvPicPr>
            <a:picLocks noChangeAspect="1"/>
          </p:cNvPicPr>
          <p:nvPr>
            <p:custDataLst>
              <p:tags r:id="rId17"/>
            </p:custDataLst>
          </p:nvPr>
        </p:nvPicPr>
        <p:blipFill>
          <a:blip r:embed="rId18"/>
          <a:stretch>
            <a:fillRect/>
          </a:stretch>
        </p:blipFill>
        <p:spPr>
          <a:xfrm>
            <a:off x="6994525" y="4726305"/>
            <a:ext cx="4559300" cy="977900"/>
          </a:xfrm>
          <a:prstGeom prst="rect">
            <a:avLst/>
          </a:prstGeom>
        </p:spPr>
      </p:pic>
      <p:pic>
        <p:nvPicPr>
          <p:cNvPr id="29" name="图片 28"/>
          <p:cNvPicPr>
            <a:picLocks noChangeAspect="1"/>
          </p:cNvPicPr>
          <p:nvPr>
            <p:custDataLst>
              <p:tags r:id="rId19"/>
            </p:custDataLst>
          </p:nvPr>
        </p:nvPicPr>
        <p:blipFill>
          <a:blip r:embed="rId20"/>
          <a:stretch>
            <a:fillRect/>
          </a:stretch>
        </p:blipFill>
        <p:spPr>
          <a:xfrm>
            <a:off x="6994525" y="5788660"/>
            <a:ext cx="3367405" cy="367665"/>
          </a:xfrm>
          <a:prstGeom prst="rect">
            <a:avLst/>
          </a:prstGeom>
        </p:spPr>
      </p:pic>
      <p:sp>
        <p:nvSpPr>
          <p:cNvPr id="30" name="文本框 29"/>
          <p:cNvSpPr txBox="1"/>
          <p:nvPr>
            <p:custDataLst>
              <p:tags r:id="rId21"/>
            </p:custDataLst>
          </p:nvPr>
        </p:nvSpPr>
        <p:spPr>
          <a:xfrm>
            <a:off x="6490335" y="2293620"/>
            <a:ext cx="5586730" cy="4053205"/>
          </a:xfrm>
          <a:prstGeom prst="rect">
            <a:avLst/>
          </a:prstGeom>
          <a:noFill/>
          <a:ln>
            <a:solidFill>
              <a:schemeClr val="accent1"/>
            </a:solidFill>
          </a:ln>
        </p:spPr>
        <p:txBody>
          <a:bodyPr wrap="square" rtlCol="0">
            <a:noAutofit/>
          </a:bodyPr>
          <a:p>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3"/>
          </p:nvPr>
        </p:nvSpPr>
        <p:spPr/>
        <p:txBody>
          <a:bodyPr/>
          <a:p>
            <a:r>
              <a:rPr lang="zh-CN" altLang="en-US" sz="3200">
                <a:latin typeface="宋体" charset="0"/>
                <a:ea typeface="宋体" charset="0"/>
              </a:rPr>
              <a:t>滚动窗口</a:t>
            </a:r>
            <a:endParaRPr lang="zh-CN" altLang="en-US" sz="3200">
              <a:latin typeface="宋体" charset="0"/>
              <a:ea typeface="宋体" charset="0"/>
            </a:endParaRPr>
          </a:p>
        </p:txBody>
      </p:sp>
      <p:pic>
        <p:nvPicPr>
          <p:cNvPr id="4" name="图片 3"/>
          <p:cNvPicPr>
            <a:picLocks noChangeAspect="1"/>
          </p:cNvPicPr>
          <p:nvPr>
            <p:custDataLst>
              <p:tags r:id="rId1"/>
            </p:custDataLst>
          </p:nvPr>
        </p:nvPicPr>
        <p:blipFill>
          <a:blip r:embed="rId2"/>
          <a:stretch>
            <a:fillRect/>
          </a:stretch>
        </p:blipFill>
        <p:spPr>
          <a:xfrm>
            <a:off x="144780" y="1169035"/>
            <a:ext cx="6858000" cy="4013200"/>
          </a:xfrm>
          <a:prstGeom prst="rect">
            <a:avLst/>
          </a:prstGeom>
        </p:spPr>
      </p:pic>
      <p:pic>
        <p:nvPicPr>
          <p:cNvPr id="6" name="图片 5"/>
          <p:cNvPicPr>
            <a:picLocks noChangeAspect="1"/>
          </p:cNvPicPr>
          <p:nvPr>
            <p:custDataLst>
              <p:tags r:id="rId3"/>
            </p:custDataLst>
          </p:nvPr>
        </p:nvPicPr>
        <p:blipFill>
          <a:blip r:embed="rId4"/>
          <a:stretch>
            <a:fillRect/>
          </a:stretch>
        </p:blipFill>
        <p:spPr>
          <a:xfrm>
            <a:off x="0" y="5334000"/>
            <a:ext cx="698500" cy="508000"/>
          </a:xfrm>
          <a:prstGeom prst="rect">
            <a:avLst/>
          </a:prstGeom>
        </p:spPr>
      </p:pic>
      <p:pic>
        <p:nvPicPr>
          <p:cNvPr id="7" name="图片 6"/>
          <p:cNvPicPr>
            <a:picLocks noChangeAspect="1"/>
          </p:cNvPicPr>
          <p:nvPr>
            <p:custDataLst>
              <p:tags r:id="rId5"/>
            </p:custDataLst>
          </p:nvPr>
        </p:nvPicPr>
        <p:blipFill>
          <a:blip r:embed="rId6"/>
          <a:stretch>
            <a:fillRect/>
          </a:stretch>
        </p:blipFill>
        <p:spPr>
          <a:xfrm>
            <a:off x="538480" y="5397500"/>
            <a:ext cx="1358900" cy="381000"/>
          </a:xfrm>
          <a:prstGeom prst="rect">
            <a:avLst/>
          </a:prstGeom>
        </p:spPr>
      </p:pic>
      <p:pic>
        <p:nvPicPr>
          <p:cNvPr id="8" name="图片 7"/>
          <p:cNvPicPr>
            <a:picLocks noChangeAspect="1"/>
          </p:cNvPicPr>
          <p:nvPr>
            <p:custDataLst>
              <p:tags r:id="rId7"/>
            </p:custDataLst>
          </p:nvPr>
        </p:nvPicPr>
        <p:blipFill>
          <a:blip r:embed="rId8"/>
          <a:stretch>
            <a:fillRect/>
          </a:stretch>
        </p:blipFill>
        <p:spPr>
          <a:xfrm>
            <a:off x="1917700" y="5381625"/>
            <a:ext cx="546100" cy="419100"/>
          </a:xfrm>
          <a:prstGeom prst="rect">
            <a:avLst/>
          </a:prstGeom>
        </p:spPr>
      </p:pic>
      <p:pic>
        <p:nvPicPr>
          <p:cNvPr id="9" name="图片 8"/>
          <p:cNvPicPr>
            <a:picLocks noChangeAspect="1"/>
          </p:cNvPicPr>
          <p:nvPr>
            <p:custDataLst>
              <p:tags r:id="rId9"/>
            </p:custDataLst>
          </p:nvPr>
        </p:nvPicPr>
        <p:blipFill>
          <a:blip r:embed="rId10"/>
          <a:stretch>
            <a:fillRect/>
          </a:stretch>
        </p:blipFill>
        <p:spPr>
          <a:xfrm>
            <a:off x="2357755" y="5435600"/>
            <a:ext cx="1905000" cy="317500"/>
          </a:xfrm>
          <a:prstGeom prst="rect">
            <a:avLst/>
          </a:prstGeom>
        </p:spPr>
      </p:pic>
      <p:pic>
        <p:nvPicPr>
          <p:cNvPr id="10" name="图片 9"/>
          <p:cNvPicPr>
            <a:picLocks noChangeAspect="1"/>
          </p:cNvPicPr>
          <p:nvPr>
            <p:custDataLst>
              <p:tags r:id="rId11"/>
            </p:custDataLst>
          </p:nvPr>
        </p:nvPicPr>
        <p:blipFill>
          <a:blip r:embed="rId12"/>
          <a:stretch>
            <a:fillRect/>
          </a:stretch>
        </p:blipFill>
        <p:spPr>
          <a:xfrm>
            <a:off x="4282440" y="5400040"/>
            <a:ext cx="584200" cy="431800"/>
          </a:xfrm>
          <a:prstGeom prst="rect">
            <a:avLst/>
          </a:prstGeom>
        </p:spPr>
      </p:pic>
      <p:pic>
        <p:nvPicPr>
          <p:cNvPr id="11" name="图片 10"/>
          <p:cNvPicPr>
            <a:picLocks noChangeAspect="1"/>
          </p:cNvPicPr>
          <p:nvPr>
            <p:custDataLst>
              <p:tags r:id="rId13"/>
            </p:custDataLst>
          </p:nvPr>
        </p:nvPicPr>
        <p:blipFill>
          <a:blip r:embed="rId14"/>
          <a:stretch>
            <a:fillRect/>
          </a:stretch>
        </p:blipFill>
        <p:spPr>
          <a:xfrm>
            <a:off x="4723130" y="5413375"/>
            <a:ext cx="1955800" cy="355600"/>
          </a:xfrm>
          <a:prstGeom prst="rect">
            <a:avLst/>
          </a:prstGeom>
        </p:spPr>
      </p:pic>
      <p:pic>
        <p:nvPicPr>
          <p:cNvPr id="14" name="图片 13"/>
          <p:cNvPicPr>
            <a:picLocks noChangeAspect="1"/>
          </p:cNvPicPr>
          <p:nvPr>
            <p:custDataLst>
              <p:tags r:id="rId15"/>
            </p:custDataLst>
          </p:nvPr>
        </p:nvPicPr>
        <p:blipFill>
          <a:blip r:embed="rId16"/>
          <a:stretch>
            <a:fillRect/>
          </a:stretch>
        </p:blipFill>
        <p:spPr>
          <a:xfrm>
            <a:off x="7002780" y="1295400"/>
            <a:ext cx="5093970" cy="3162300"/>
          </a:xfrm>
          <a:prstGeom prst="rect">
            <a:avLst/>
          </a:prstGeom>
        </p:spPr>
      </p:pic>
      <p:pic>
        <p:nvPicPr>
          <p:cNvPr id="20" name="图片 19"/>
          <p:cNvPicPr>
            <a:picLocks noChangeAspect="1"/>
          </p:cNvPicPr>
          <p:nvPr>
            <p:custDataLst>
              <p:tags r:id="rId17"/>
            </p:custDataLst>
          </p:nvPr>
        </p:nvPicPr>
        <p:blipFill>
          <a:blip r:embed="rId18"/>
          <a:stretch>
            <a:fillRect/>
          </a:stretch>
        </p:blipFill>
        <p:spPr>
          <a:xfrm>
            <a:off x="6685280" y="5394325"/>
            <a:ext cx="457200" cy="406400"/>
          </a:xfrm>
          <a:prstGeom prst="rect">
            <a:avLst/>
          </a:prstGeom>
        </p:spPr>
      </p:pic>
      <p:pic>
        <p:nvPicPr>
          <p:cNvPr id="21" name="图片 20"/>
          <p:cNvPicPr>
            <a:picLocks noChangeAspect="1"/>
          </p:cNvPicPr>
          <p:nvPr>
            <p:custDataLst>
              <p:tags r:id="rId19"/>
            </p:custDataLst>
          </p:nvPr>
        </p:nvPicPr>
        <p:blipFill>
          <a:blip r:embed="rId20"/>
          <a:stretch>
            <a:fillRect/>
          </a:stretch>
        </p:blipFill>
        <p:spPr>
          <a:xfrm>
            <a:off x="7139305" y="5473700"/>
            <a:ext cx="1866900" cy="279400"/>
          </a:xfrm>
          <a:prstGeom prst="rect">
            <a:avLst/>
          </a:prstGeom>
        </p:spPr>
      </p:pic>
      <p:pic>
        <p:nvPicPr>
          <p:cNvPr id="22" name="图片 21"/>
          <p:cNvPicPr>
            <a:picLocks noChangeAspect="1"/>
          </p:cNvPicPr>
          <p:nvPr>
            <p:custDataLst>
              <p:tags r:id="rId21"/>
            </p:custDataLst>
          </p:nvPr>
        </p:nvPicPr>
        <p:blipFill>
          <a:blip r:embed="rId22"/>
          <a:stretch>
            <a:fillRect/>
          </a:stretch>
        </p:blipFill>
        <p:spPr>
          <a:xfrm>
            <a:off x="8961120" y="5381625"/>
            <a:ext cx="520700" cy="431800"/>
          </a:xfrm>
          <a:prstGeom prst="rect">
            <a:avLst/>
          </a:prstGeom>
        </p:spPr>
      </p:pic>
      <p:pic>
        <p:nvPicPr>
          <p:cNvPr id="23" name="图片 22"/>
          <p:cNvPicPr>
            <a:picLocks noChangeAspect="1"/>
          </p:cNvPicPr>
          <p:nvPr>
            <p:custDataLst>
              <p:tags r:id="rId23"/>
            </p:custDataLst>
          </p:nvPr>
        </p:nvPicPr>
        <p:blipFill>
          <a:blip r:embed="rId24"/>
          <a:stretch>
            <a:fillRect/>
          </a:stretch>
        </p:blipFill>
        <p:spPr>
          <a:xfrm>
            <a:off x="9482455" y="5435600"/>
            <a:ext cx="18669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3"/>
          </p:nvPr>
        </p:nvSpPr>
        <p:spPr/>
        <p:txBody>
          <a:bodyPr/>
          <a:p>
            <a:r>
              <a:rPr lang="zh-CN" altLang="en-US" sz="3200">
                <a:latin typeface="宋体" charset="0"/>
                <a:ea typeface="宋体" charset="0"/>
              </a:rPr>
              <a:t>评价指标</a:t>
            </a:r>
            <a:endParaRPr lang="zh-CN" altLang="en-US" sz="3200">
              <a:latin typeface="宋体" charset="0"/>
              <a:ea typeface="宋体" charset="0"/>
            </a:endParaRPr>
          </a:p>
        </p:txBody>
      </p:sp>
      <p:graphicFrame>
        <p:nvGraphicFramePr>
          <p:cNvPr id="4" name="表格 3"/>
          <p:cNvGraphicFramePr/>
          <p:nvPr>
            <p:custDataLst>
              <p:tags r:id="rId1"/>
            </p:custDataLst>
          </p:nvPr>
        </p:nvGraphicFramePr>
        <p:xfrm>
          <a:off x="497205" y="1065530"/>
          <a:ext cx="11213465" cy="1143000"/>
        </p:xfrm>
        <a:graphic>
          <a:graphicData uri="http://schemas.openxmlformats.org/drawingml/2006/table">
            <a:tbl>
              <a:tblPr firstRow="1" bandRow="1">
                <a:tableStyleId>{5C22544A-7EE6-4342-B048-85BDC9FD1C3A}</a:tableStyleId>
              </a:tblPr>
              <a:tblGrid>
                <a:gridCol w="2844165"/>
                <a:gridCol w="3027045"/>
                <a:gridCol w="5342255"/>
              </a:tblGrid>
              <a:tr h="381000">
                <a:tc>
                  <a:txBody>
                    <a:bodyPr/>
                    <a:p>
                      <a:pPr algn="ctr">
                        <a:buNone/>
                      </a:pPr>
                      <a:r>
                        <a:rPr lang="zh-CN" altLang="en-US"/>
                        <a:t>评价</a:t>
                      </a:r>
                      <a:r>
                        <a:rPr lang="zh-CN" altLang="en-US"/>
                        <a:t>类型</a:t>
                      </a:r>
                      <a:endParaRPr lang="zh-CN" altLang="en-US"/>
                    </a:p>
                  </a:txBody>
                  <a:tcPr anchor="t" anchorCtr="0"/>
                </a:tc>
                <a:tc>
                  <a:txBody>
                    <a:bodyPr/>
                    <a:p>
                      <a:pPr algn="ctr">
                        <a:buNone/>
                      </a:pPr>
                      <a:r>
                        <a:rPr lang="zh-CN" altLang="en-US"/>
                        <a:t>指标</a:t>
                      </a:r>
                      <a:endParaRPr lang="zh-CN" altLang="en-US"/>
                    </a:p>
                  </a:txBody>
                  <a:tcPr anchor="t" anchorCtr="0"/>
                </a:tc>
                <a:tc>
                  <a:txBody>
                    <a:bodyPr/>
                    <a:p>
                      <a:pPr algn="ctr">
                        <a:buNone/>
                      </a:pPr>
                      <a:r>
                        <a:rPr lang="zh-CN" altLang="en-US"/>
                        <a:t>解决</a:t>
                      </a:r>
                      <a:r>
                        <a:rPr lang="zh-CN" altLang="en-US"/>
                        <a:t>问题</a:t>
                      </a:r>
                      <a:endParaRPr lang="zh-CN" altLang="en-US"/>
                    </a:p>
                  </a:txBody>
                  <a:tcPr anchor="t" anchorCtr="0"/>
                </a:tc>
              </a:tr>
              <a:tr h="381000">
                <a:tc>
                  <a:txBody>
                    <a:bodyPr/>
                    <a:p>
                      <a:pPr algn="ctr">
                        <a:buNone/>
                      </a:pPr>
                      <a:r>
                        <a:rPr lang="zh-CN" altLang="en-US"/>
                        <a:t>点预测</a:t>
                      </a:r>
                      <a:endParaRPr lang="zh-CN" altLang="en-US"/>
                    </a:p>
                  </a:txBody>
                  <a:tcPr anchor="t" anchorCtr="0"/>
                </a:tc>
                <a:tc>
                  <a:txBody>
                    <a:bodyPr/>
                    <a:p>
                      <a:pPr algn="ctr">
                        <a:buNone/>
                      </a:pPr>
                      <a:r>
                        <a:rPr lang="en-US" altLang="zh-CN"/>
                        <a:t>MASE</a:t>
                      </a:r>
                      <a:endParaRPr lang="en-US" altLang="zh-CN"/>
                    </a:p>
                  </a:txBody>
                  <a:tcPr anchor="t" anchorCtr="0"/>
                </a:tc>
                <a:tc>
                  <a:txBody>
                    <a:bodyPr/>
                    <a:p>
                      <a:pPr algn="ctr">
                        <a:buNone/>
                      </a:pPr>
                      <a:r>
                        <a:rPr lang="zh-CN" altLang="en-US"/>
                        <a:t>模型预测的“最佳估计值”准不准</a:t>
                      </a:r>
                      <a:endParaRPr lang="zh-CN" altLang="en-US"/>
                    </a:p>
                  </a:txBody>
                  <a:tcPr anchor="t" anchorCtr="0"/>
                </a:tc>
              </a:tr>
              <a:tr h="381000">
                <a:tc>
                  <a:txBody>
                    <a:bodyPr/>
                    <a:p>
                      <a:pPr algn="ctr">
                        <a:buNone/>
                      </a:pPr>
                      <a:r>
                        <a:rPr lang="zh-CN" altLang="en-US"/>
                        <a:t>概率</a:t>
                      </a:r>
                      <a:r>
                        <a:rPr lang="zh-CN" altLang="en-US"/>
                        <a:t>预测</a:t>
                      </a:r>
                      <a:endParaRPr lang="zh-CN" altLang="en-US"/>
                    </a:p>
                  </a:txBody>
                  <a:tcPr anchor="t" anchorCtr="0"/>
                </a:tc>
                <a:tc>
                  <a:txBody>
                    <a:bodyPr/>
                    <a:p>
                      <a:pPr algn="ctr">
                        <a:buNone/>
                      </a:pPr>
                      <a:r>
                        <a:rPr lang="en-US" altLang="zh-CN"/>
                        <a:t>WIS</a:t>
                      </a:r>
                      <a:endParaRPr lang="en-US" altLang="zh-CN"/>
                    </a:p>
                  </a:txBody>
                  <a:tcPr anchor="t" anchorCtr="0"/>
                </a:tc>
                <a:tc>
                  <a:txBody>
                    <a:bodyPr/>
                    <a:p>
                      <a:pPr algn="ctr">
                        <a:buNone/>
                      </a:pPr>
                      <a:r>
                        <a:rPr lang="zh-CN" altLang="en-US"/>
                        <a:t>模型给出的“预测区间”好不好</a:t>
                      </a:r>
                      <a:endParaRPr lang="zh-CN" altLang="en-US"/>
                    </a:p>
                  </a:txBody>
                  <a:tcPr anchor="t" anchorCtr="0"/>
                </a:tc>
              </a:tr>
            </a:tbl>
          </a:graphicData>
        </a:graphic>
      </p:graphicFrame>
      <p:sp>
        <p:nvSpPr>
          <p:cNvPr id="5" name="文本框 4"/>
          <p:cNvSpPr txBox="1"/>
          <p:nvPr/>
        </p:nvSpPr>
        <p:spPr>
          <a:xfrm>
            <a:off x="353695" y="2324100"/>
            <a:ext cx="5664835" cy="3950970"/>
          </a:xfrm>
          <a:prstGeom prst="rect">
            <a:avLst/>
          </a:prstGeom>
          <a:noFill/>
        </p:spPr>
        <p:txBody>
          <a:bodyPr wrap="square" rtlCol="0">
            <a:noAutofit/>
          </a:bodyPr>
          <a:p>
            <a:pPr algn="ctr"/>
            <a:r>
              <a:rPr lang="zh-CN" altLang="en-US" sz="2400">
                <a:uFillTx/>
                <a:latin typeface="Times New Roman" panose="02020603050405020304" pitchFamily="18" charset="0"/>
                <a:ea typeface="宋体" charset="0"/>
                <a:cs typeface="宋体" charset="0"/>
              </a:rPr>
              <a:t>MASE</a:t>
            </a:r>
            <a:endParaRPr lang="zh-CN" altLang="en-US" sz="2400">
              <a:uFillTx/>
              <a:latin typeface="Times New Roman" panose="02020603050405020304" pitchFamily="18" charset="0"/>
              <a:ea typeface="宋体" charset="0"/>
              <a:cs typeface="宋体" charset="0"/>
            </a:endParaRPr>
          </a:p>
          <a:p>
            <a:pPr indent="0" algn="ctr" fontAlgn="auto">
              <a:lnSpc>
                <a:spcPts val="1800"/>
              </a:lnSpc>
            </a:pPr>
            <a:endParaRPr lang="zh-CN" altLang="en-US" sz="2400">
              <a:uFillTx/>
              <a:latin typeface="Times New Roman" panose="02020603050405020304" pitchFamily="18" charset="0"/>
              <a:ea typeface="宋体" charset="0"/>
              <a:cs typeface="宋体" charset="0"/>
            </a:endParaRPr>
          </a:p>
          <a:p>
            <a:r>
              <a:rPr lang="zh-CN" altLang="en-US" sz="2000">
                <a:uFillTx/>
                <a:latin typeface="Times New Roman" panose="02020603050405020304" pitchFamily="18" charset="0"/>
                <a:ea typeface="宋体" charset="0"/>
                <a:cs typeface="宋体" charset="0"/>
              </a:rPr>
              <a:t>把模型的MAE除以一个“朴素基线模型”的MAE</a:t>
            </a:r>
            <a:endParaRPr lang="zh-CN" altLang="en-US" sz="2000">
              <a:uFillTx/>
              <a:latin typeface="Times New Roman" panose="02020603050405020304" pitchFamily="18" charset="0"/>
              <a:ea typeface="宋体" charset="0"/>
              <a:cs typeface="宋体" charset="0"/>
            </a:endParaRPr>
          </a:p>
          <a:p>
            <a:endParaRPr lang="zh-CN" altLang="en-US" sz="2000">
              <a:uFillTx/>
              <a:latin typeface="Times New Roman" panose="02020603050405020304" pitchFamily="18" charset="0"/>
              <a:ea typeface="宋体" charset="0"/>
              <a:cs typeface="宋体" charset="0"/>
            </a:endParaRPr>
          </a:p>
        </p:txBody>
      </p:sp>
      <p:pic>
        <p:nvPicPr>
          <p:cNvPr id="6" name="图片 5"/>
          <p:cNvPicPr>
            <a:picLocks noChangeAspect="1"/>
          </p:cNvPicPr>
          <p:nvPr>
            <p:custDataLst>
              <p:tags r:id="rId2"/>
            </p:custDataLst>
          </p:nvPr>
        </p:nvPicPr>
        <p:blipFill>
          <a:blip r:embed="rId3"/>
          <a:srcRect t="2721"/>
          <a:stretch>
            <a:fillRect/>
          </a:stretch>
        </p:blipFill>
        <p:spPr>
          <a:xfrm>
            <a:off x="3234690" y="3393440"/>
            <a:ext cx="2736850" cy="942975"/>
          </a:xfrm>
          <a:prstGeom prst="rect">
            <a:avLst/>
          </a:prstGeom>
        </p:spPr>
      </p:pic>
      <p:sp>
        <p:nvSpPr>
          <p:cNvPr id="7" name="文本框 6"/>
          <p:cNvSpPr txBox="1"/>
          <p:nvPr/>
        </p:nvSpPr>
        <p:spPr>
          <a:xfrm>
            <a:off x="629920" y="4336415"/>
            <a:ext cx="5030470" cy="1630045"/>
          </a:xfrm>
          <a:prstGeom prst="rect">
            <a:avLst/>
          </a:prstGeom>
          <a:noFill/>
        </p:spPr>
        <p:txBody>
          <a:bodyPr wrap="square" rtlCol="0">
            <a:spAutoFit/>
          </a:bodyPr>
          <a:p>
            <a:pPr algn="just" fontAlgn="auto">
              <a:lnSpc>
                <a:spcPts val="2400"/>
              </a:lnSpc>
            </a:pPr>
            <a:r>
              <a:rPr lang="zh-CN" altLang="en-US" sz="2000">
                <a:solidFill>
                  <a:schemeClr val="tx1"/>
                </a:solidFill>
                <a:uFillTx/>
                <a:latin typeface="Times New Roman" panose="02020603050405020304" pitchFamily="18" charset="0"/>
                <a:ea typeface="宋体" charset="0"/>
                <a:cs typeface="宋体" charset="0"/>
              </a:rPr>
              <a:t>朴素模型：前几周的值对应后</a:t>
            </a:r>
            <a:r>
              <a:rPr lang="zh-CN" altLang="en-US" sz="2000">
                <a:solidFill>
                  <a:schemeClr val="tx1"/>
                </a:solidFill>
                <a:uFillTx/>
                <a:latin typeface="Times New Roman" panose="02020603050405020304" pitchFamily="18" charset="0"/>
                <a:ea typeface="宋体" charset="0"/>
                <a:cs typeface="宋体" charset="0"/>
              </a:rPr>
              <a:t>几周的预测值</a:t>
            </a:r>
            <a:endParaRPr lang="zh-CN" altLang="en-US" sz="2000">
              <a:solidFill>
                <a:schemeClr val="tx1"/>
              </a:solidFill>
              <a:uFillTx/>
              <a:latin typeface="Times New Roman" panose="02020603050405020304" pitchFamily="18" charset="0"/>
              <a:ea typeface="宋体" charset="0"/>
              <a:cs typeface="宋体" charset="0"/>
            </a:endParaRPr>
          </a:p>
          <a:p>
            <a:pPr marL="285750" indent="-285750" algn="just" fontAlgn="auto">
              <a:lnSpc>
                <a:spcPts val="2400"/>
              </a:lnSpc>
              <a:buFont typeface="Arial" panose="020B0604020202090204" pitchFamily="34" charset="0"/>
              <a:buChar char="•"/>
            </a:pPr>
            <a:r>
              <a:rPr lang="en-US" altLang="zh-CN" sz="2000">
                <a:solidFill>
                  <a:schemeClr val="tx1"/>
                </a:solidFill>
                <a:uFillTx/>
                <a:latin typeface="Times New Roman" panose="02020603050405020304" pitchFamily="18" charset="0"/>
                <a:ea typeface="宋体" charset="0"/>
                <a:cs typeface="宋体" charset="0"/>
              </a:rPr>
              <a:t>MASE&lt;1:</a:t>
            </a:r>
            <a:r>
              <a:rPr lang="zh-CN" altLang="en-US" sz="2000">
                <a:solidFill>
                  <a:schemeClr val="tx1"/>
                </a:solidFill>
                <a:uFillTx/>
                <a:latin typeface="Times New Roman" panose="02020603050405020304" pitchFamily="18" charset="0"/>
                <a:ea typeface="宋体" charset="0"/>
                <a:cs typeface="宋体" charset="0"/>
              </a:rPr>
              <a:t>模型优于基线</a:t>
            </a:r>
            <a:endParaRPr lang="zh-CN" altLang="en-US" sz="2000">
              <a:solidFill>
                <a:schemeClr val="tx1"/>
              </a:solidFill>
              <a:uFillTx/>
              <a:latin typeface="Times New Roman" panose="02020603050405020304" pitchFamily="18" charset="0"/>
              <a:ea typeface="宋体" charset="0"/>
              <a:cs typeface="宋体" charset="0"/>
            </a:endParaRPr>
          </a:p>
          <a:p>
            <a:pPr marL="285750" indent="-285750" algn="just" fontAlgn="auto">
              <a:lnSpc>
                <a:spcPts val="2400"/>
              </a:lnSpc>
              <a:buFont typeface="Arial" panose="020B0604020202090204" pitchFamily="34" charset="0"/>
              <a:buChar char="•"/>
            </a:pPr>
            <a:r>
              <a:rPr lang="en-US" altLang="zh-CN" sz="2000">
                <a:solidFill>
                  <a:schemeClr val="tx1"/>
                </a:solidFill>
                <a:uFillTx/>
                <a:latin typeface="Times New Roman" panose="02020603050405020304" pitchFamily="18" charset="0"/>
                <a:ea typeface="宋体" charset="0"/>
                <a:cs typeface="宋体" charset="0"/>
              </a:rPr>
              <a:t>MASE=1:</a:t>
            </a:r>
            <a:r>
              <a:rPr lang="zh-CN" altLang="en-US" sz="2000">
                <a:solidFill>
                  <a:schemeClr val="tx1"/>
                </a:solidFill>
                <a:uFillTx/>
                <a:latin typeface="Times New Roman" panose="02020603050405020304" pitchFamily="18" charset="0"/>
                <a:ea typeface="宋体" charset="0"/>
                <a:cs typeface="宋体" charset="0"/>
              </a:rPr>
              <a:t>模型与基线持平</a:t>
            </a:r>
            <a:endParaRPr lang="zh-CN" altLang="en-US" sz="2000">
              <a:solidFill>
                <a:schemeClr val="tx1"/>
              </a:solidFill>
              <a:uFillTx/>
              <a:latin typeface="Times New Roman" panose="02020603050405020304" pitchFamily="18" charset="0"/>
              <a:ea typeface="宋体" charset="0"/>
              <a:cs typeface="宋体" charset="0"/>
            </a:endParaRPr>
          </a:p>
          <a:p>
            <a:pPr marL="285750" indent="-285750" algn="just" fontAlgn="auto">
              <a:lnSpc>
                <a:spcPts val="2400"/>
              </a:lnSpc>
              <a:buFont typeface="Arial" panose="020B0604020202090204" pitchFamily="34" charset="0"/>
              <a:buChar char="•"/>
            </a:pPr>
            <a:r>
              <a:rPr lang="en-US" altLang="zh-CN" sz="2000">
                <a:solidFill>
                  <a:schemeClr val="tx1"/>
                </a:solidFill>
                <a:uFillTx/>
                <a:latin typeface="Times New Roman" panose="02020603050405020304" pitchFamily="18" charset="0"/>
                <a:ea typeface="宋体" charset="0"/>
                <a:cs typeface="宋体" charset="0"/>
              </a:rPr>
              <a:t>MASE&gt;1:</a:t>
            </a:r>
            <a:r>
              <a:rPr lang="zh-CN" altLang="en-US" sz="2000">
                <a:solidFill>
                  <a:schemeClr val="tx1"/>
                </a:solidFill>
                <a:uFillTx/>
                <a:latin typeface="Times New Roman" panose="02020603050405020304" pitchFamily="18" charset="0"/>
                <a:ea typeface="宋体" charset="0"/>
                <a:cs typeface="宋体" charset="0"/>
              </a:rPr>
              <a:t>模型不如基线</a:t>
            </a:r>
            <a:endParaRPr lang="zh-CN" altLang="en-US" sz="2000">
              <a:solidFill>
                <a:schemeClr val="tx1"/>
              </a:solidFill>
              <a:uFillTx/>
              <a:latin typeface="Times New Roman" panose="02020603050405020304" pitchFamily="18" charset="0"/>
              <a:ea typeface="宋体" charset="0"/>
              <a:cs typeface="宋体" charset="0"/>
            </a:endParaRPr>
          </a:p>
          <a:p>
            <a:pPr indent="0" algn="just" fontAlgn="auto">
              <a:lnSpc>
                <a:spcPts val="2400"/>
              </a:lnSpc>
              <a:buFont typeface="Arial" panose="020B0604020202090204" pitchFamily="34" charset="0"/>
              <a:buNone/>
            </a:pPr>
            <a:r>
              <a:rPr lang="en-US" altLang="zh-CN" sz="2000">
                <a:solidFill>
                  <a:schemeClr val="tx1"/>
                </a:solidFill>
                <a:uFillTx/>
                <a:latin typeface="Times New Roman" panose="02020603050405020304" pitchFamily="18" charset="0"/>
                <a:ea typeface="宋体" charset="0"/>
                <a:cs typeface="宋体" charset="0"/>
              </a:rPr>
              <a:t>MASE</a:t>
            </a:r>
            <a:r>
              <a:rPr lang="zh-CN" altLang="en-US" sz="2000">
                <a:solidFill>
                  <a:schemeClr val="tx1"/>
                </a:solidFill>
                <a:uFillTx/>
                <a:latin typeface="Times New Roman" panose="02020603050405020304" pitchFamily="18" charset="0"/>
                <a:ea typeface="宋体" charset="0"/>
                <a:cs typeface="宋体" charset="0"/>
              </a:rPr>
              <a:t>越小，模型越好</a:t>
            </a:r>
            <a:endParaRPr lang="zh-CN" altLang="en-US" sz="2000">
              <a:solidFill>
                <a:schemeClr val="tx1"/>
              </a:solidFill>
              <a:uFillTx/>
              <a:latin typeface="Times New Roman" panose="02020603050405020304" pitchFamily="18" charset="0"/>
              <a:ea typeface="宋体" charset="0"/>
              <a:cs typeface="宋体" charset="0"/>
            </a:endParaRPr>
          </a:p>
        </p:txBody>
      </p:sp>
      <p:pic>
        <p:nvPicPr>
          <p:cNvPr id="8" name="图片 7"/>
          <p:cNvPicPr>
            <a:picLocks noChangeAspect="1"/>
          </p:cNvPicPr>
          <p:nvPr>
            <p:custDataLst>
              <p:tags r:id="rId4"/>
            </p:custDataLst>
          </p:nvPr>
        </p:nvPicPr>
        <p:blipFill>
          <a:blip r:embed="rId5"/>
          <a:stretch>
            <a:fillRect/>
          </a:stretch>
        </p:blipFill>
        <p:spPr>
          <a:xfrm>
            <a:off x="353695" y="3496945"/>
            <a:ext cx="2604770" cy="839470"/>
          </a:xfrm>
          <a:prstGeom prst="rect">
            <a:avLst/>
          </a:prstGeom>
        </p:spPr>
      </p:pic>
      <p:sp>
        <p:nvSpPr>
          <p:cNvPr id="10" name="文本框 9"/>
          <p:cNvSpPr txBox="1"/>
          <p:nvPr>
            <p:custDataLst>
              <p:tags r:id="rId6"/>
            </p:custDataLst>
          </p:nvPr>
        </p:nvSpPr>
        <p:spPr>
          <a:xfrm>
            <a:off x="275590" y="2354580"/>
            <a:ext cx="5790565" cy="3839210"/>
          </a:xfrm>
          <a:prstGeom prst="rect">
            <a:avLst/>
          </a:prstGeom>
          <a:noFill/>
          <a:ln>
            <a:solidFill>
              <a:schemeClr val="accent1"/>
            </a:solidFill>
          </a:ln>
        </p:spPr>
        <p:txBody>
          <a:bodyPr wrap="square" rtlCol="0">
            <a:noAutofit/>
          </a:bodyPr>
          <a:p>
            <a:endParaRPr lang="zh-CN" altLang="en-US"/>
          </a:p>
        </p:txBody>
      </p:sp>
      <p:sp>
        <p:nvSpPr>
          <p:cNvPr id="12" name="文本框 11"/>
          <p:cNvSpPr txBox="1"/>
          <p:nvPr>
            <p:custDataLst>
              <p:tags r:id="rId7"/>
            </p:custDataLst>
          </p:nvPr>
        </p:nvSpPr>
        <p:spPr>
          <a:xfrm>
            <a:off x="6209030" y="2371090"/>
            <a:ext cx="5790565" cy="3838575"/>
          </a:xfrm>
          <a:prstGeom prst="rect">
            <a:avLst/>
          </a:prstGeom>
          <a:noFill/>
          <a:ln>
            <a:solidFill>
              <a:schemeClr val="accent1"/>
            </a:solidFill>
          </a:ln>
        </p:spPr>
        <p:txBody>
          <a:bodyPr wrap="square" rtlCol="0">
            <a:noAutofit/>
          </a:bodyPr>
          <a:p>
            <a:endParaRPr lang="zh-CN" altLang="en-US"/>
          </a:p>
        </p:txBody>
      </p:sp>
      <mc:AlternateContent xmlns:mc="http://schemas.openxmlformats.org/markup-compatibility/2006">
        <mc:Choice xmlns:a14="http://schemas.microsoft.com/office/drawing/2010/main" Requires="a14">
          <p:sp>
            <p:nvSpPr>
              <p:cNvPr id="14" name="文本框 13"/>
              <p:cNvSpPr txBox="1"/>
              <p:nvPr/>
            </p:nvSpPr>
            <p:spPr>
              <a:xfrm>
                <a:off x="6680200" y="2324100"/>
                <a:ext cx="5030470" cy="3642360"/>
              </a:xfrm>
              <a:prstGeom prst="rect">
                <a:avLst/>
              </a:prstGeom>
              <a:noFill/>
            </p:spPr>
            <p:txBody>
              <a:bodyPr wrap="square" rtlCol="0">
                <a:noAutofit/>
              </a:bodyPr>
              <a:p>
                <a:pPr algn="ctr">
                  <a:buClrTx/>
                  <a:buSzTx/>
                  <a:buFontTx/>
                </a:pPr>
                <a:r>
                  <a:rPr lang="zh-CN" altLang="en-US" sz="2400">
                    <a:uFillTx/>
                    <a:latin typeface="Times New Roman" panose="02020603050405020304" pitchFamily="18" charset="0"/>
                    <a:ea typeface="宋体" charset="0"/>
                    <a:cs typeface="宋体" charset="0"/>
                  </a:rPr>
                  <a:t>WIS</a:t>
                </a:r>
                <a:endParaRPr lang="zh-CN" altLang="en-US" sz="2400">
                  <a:uFillTx/>
                  <a:latin typeface="Times New Roman" panose="02020603050405020304" pitchFamily="18" charset="0"/>
                  <a:ea typeface="宋体" charset="0"/>
                  <a:cs typeface="宋体" charset="0"/>
                </a:endParaRPr>
              </a:p>
              <a:p>
                <a:pPr algn="ctr">
                  <a:lnSpc>
                    <a:spcPts val="1800"/>
                  </a:lnSpc>
                  <a:buClrTx/>
                  <a:buSzTx/>
                  <a:buFontTx/>
                </a:pPr>
                <a:endParaRPr lang="zh-CN" altLang="en-US" sz="2400">
                  <a:uFillTx/>
                  <a:latin typeface="Times New Roman" panose="02020603050405020304" pitchFamily="18" charset="0"/>
                  <a:ea typeface="宋体" charset="0"/>
                  <a:cs typeface="宋体" charset="0"/>
                </a:endParaRPr>
              </a:p>
              <a:p>
                <a:pPr algn="l">
                  <a:lnSpc>
                    <a:spcPct val="100000"/>
                  </a:lnSpc>
                  <a:buClrTx/>
                  <a:buSzTx/>
                  <a:buFontTx/>
                </a:pPr>
                <a:r>
                  <a:rPr lang="zh-CN" altLang="en-US" sz="2000">
                    <a:uFillTx/>
                    <a:latin typeface="Times New Roman" panose="02020603050405020304" pitchFamily="18" charset="0"/>
                    <a:ea typeface="宋体" charset="0"/>
                    <a:cs typeface="宋体" charset="0"/>
                    <a:sym typeface="+mn-ea"/>
                  </a:rPr>
                  <a:t>假设预测结果符合正态分布</a:t>
                </a:r>
                <a:endParaRPr lang="zh-CN" altLang="en-US" sz="2000">
                  <a:uFillTx/>
                  <a:latin typeface="Times New Roman" panose="02020603050405020304" pitchFamily="18" charset="0"/>
                  <a:ea typeface="宋体" charset="0"/>
                  <a:cs typeface="宋体" charset="0"/>
                </a:endParaRPr>
              </a:p>
              <a:p>
                <a:pPr algn="ctr">
                  <a:lnSpc>
                    <a:spcPts val="1800"/>
                  </a:lnSpc>
                  <a:buClrTx/>
                  <a:buSzTx/>
                  <a:buFontTx/>
                </a:pPr>
                <a:endParaRPr lang="zh-CN" altLang="en-US" sz="2400">
                  <a:uFillTx/>
                  <a:latin typeface="Times New Roman" panose="02020603050405020304" pitchFamily="18" charset="0"/>
                  <a:ea typeface="宋体" charset="0"/>
                  <a:cs typeface="宋体" charset="0"/>
                </a:endParaRPr>
              </a:p>
              <a:p>
                <a:pPr algn="ctr">
                  <a:lnSpc>
                    <a:spcPts val="1800"/>
                  </a:lnSpc>
                  <a:buClrTx/>
                  <a:buSzTx/>
                  <a:buFontTx/>
                </a:pPr>
                <a:endParaRPr lang="zh-CN" altLang="en-US" sz="2400">
                  <a:uFillTx/>
                  <a:latin typeface="Times New Roman" panose="02020603050405020304" pitchFamily="18" charset="0"/>
                  <a:ea typeface="宋体" charset="0"/>
                  <a:cs typeface="宋体" charset="0"/>
                </a:endParaRPr>
              </a:p>
              <a:p>
                <a:pPr algn="ctr">
                  <a:lnSpc>
                    <a:spcPts val="1800"/>
                  </a:lnSpc>
                  <a:buClrTx/>
                  <a:buSzTx/>
                  <a:buFontTx/>
                </a:pPr>
                <a:endParaRPr lang="zh-CN" altLang="en-US" sz="2400">
                  <a:uFillTx/>
                  <a:latin typeface="Times New Roman" panose="02020603050405020304" pitchFamily="18" charset="0"/>
                  <a:ea typeface="宋体" charset="0"/>
                  <a:cs typeface="宋体" charset="0"/>
                </a:endParaRPr>
              </a:p>
              <a:p>
                <a:pPr indent="0" algn="just" fontAlgn="auto">
                  <a:lnSpc>
                    <a:spcPts val="2400"/>
                  </a:lnSpc>
                  <a:buClrTx/>
                  <a:buSzTx/>
                  <a:buFontTx/>
                </a:pPr>
                <a:r>
                  <a:rPr lang="zh-CN" altLang="en-US" sz="2000">
                    <a:uFillTx/>
                    <a:latin typeface="Times New Roman" panose="02020603050405020304" pitchFamily="18" charset="0"/>
                    <a:ea typeface="宋体" charset="0"/>
                    <a:cs typeface="宋体" charset="0"/>
                  </a:rPr>
                  <a:t>对于给定的预测区间[L,U]，置信区间是（1-</a:t>
                </a:r>
                <a14:m>
                  <m:oMath xmlns:m="http://schemas.openxmlformats.org/officeDocument/2006/math">
                    <m:r>
                      <a:rPr lang="zh-CN" altLang="en-US" sz="2000">
                        <a:uFillTx/>
                        <a:latin typeface="Times New Roman" panose="02020603050405020304" pitchFamily="18" charset="0"/>
                        <a:ea typeface="宋体" charset="0"/>
                        <a:cs typeface="宋体" charset="0"/>
                      </a:rPr>
                      <m:t>𝛼</m:t>
                    </m:r>
                  </m:oMath>
                </a14:m>
                <a:r>
                  <a:rPr lang="zh-CN" altLang="en-US" sz="2000">
                    <a:uFillTx/>
                    <a:latin typeface="Times New Roman" panose="02020603050405020304" pitchFamily="18" charset="0"/>
                    <a:ea typeface="宋体" charset="0"/>
                    <a:cs typeface="宋体" charset="0"/>
                  </a:rPr>
                  <a:t>），预测值的得分</a:t>
                </a:r>
                <a:r>
                  <a:rPr lang="en-US" altLang="zh-CN" sz="2000">
                    <a:uFillTx/>
                    <a:latin typeface="Times New Roman" panose="02020603050405020304" pitchFamily="18" charset="0"/>
                    <a:ea typeface="宋体" charset="0"/>
                    <a:cs typeface="宋体" charset="0"/>
                  </a:rPr>
                  <a:t>U-L+</a:t>
                </a:r>
                <a:r>
                  <a:rPr lang="zh-CN" altLang="en-US" sz="2000">
                    <a:uFillTx/>
                    <a:latin typeface="Times New Roman" panose="02020603050405020304" pitchFamily="18" charset="0"/>
                    <a:ea typeface="宋体" charset="0"/>
                    <a:cs typeface="宋体" charset="0"/>
                  </a:rPr>
                  <a:t>超界</a:t>
                </a:r>
                <a:r>
                  <a:rPr lang="zh-CN" altLang="en-US" sz="2000">
                    <a:uFillTx/>
                    <a:latin typeface="Times New Roman" panose="02020603050405020304" pitchFamily="18" charset="0"/>
                    <a:ea typeface="宋体" charset="0"/>
                    <a:cs typeface="宋体" charset="0"/>
                  </a:rPr>
                  <a:t>惩罚</a:t>
                </a:r>
                <a:endParaRPr lang="zh-CN" altLang="en-US" sz="2000">
                  <a:uFillTx/>
                  <a:latin typeface="Times New Roman" panose="02020603050405020304" pitchFamily="18" charset="0"/>
                  <a:ea typeface="宋体" charset="0"/>
                  <a:cs typeface="宋体" charset="0"/>
                </a:endParaRPr>
              </a:p>
              <a:p>
                <a:pPr indent="0" algn="just" fontAlgn="auto">
                  <a:lnSpc>
                    <a:spcPts val="2400"/>
                  </a:lnSpc>
                  <a:buClrTx/>
                  <a:buSzTx/>
                  <a:buFontTx/>
                </a:pPr>
                <a:endParaRPr lang="zh-CN" altLang="en-US" sz="2000">
                  <a:uFillTx/>
                  <a:latin typeface="Times New Roman" panose="02020603050405020304" pitchFamily="18" charset="0"/>
                  <a:ea typeface="宋体" charset="0"/>
                  <a:cs typeface="宋体" charset="0"/>
                </a:endParaRPr>
              </a:p>
              <a:p>
                <a:pPr indent="0" algn="just" fontAlgn="auto">
                  <a:lnSpc>
                    <a:spcPts val="2400"/>
                  </a:lnSpc>
                  <a:buClrTx/>
                  <a:buSzTx/>
                  <a:buFontTx/>
                </a:pPr>
                <a:endParaRPr lang="zh-CN" altLang="en-US" sz="2000">
                  <a:uFillTx/>
                  <a:latin typeface="Times New Roman" panose="02020603050405020304" pitchFamily="18" charset="0"/>
                  <a:ea typeface="宋体" charset="0"/>
                  <a:cs typeface="宋体" charset="0"/>
                </a:endParaRPr>
              </a:p>
              <a:p>
                <a:pPr indent="0" algn="just" fontAlgn="auto">
                  <a:lnSpc>
                    <a:spcPts val="2400"/>
                  </a:lnSpc>
                  <a:buClrTx/>
                  <a:buSzTx/>
                  <a:buFontTx/>
                </a:pPr>
                <a:r>
                  <a:rPr lang="en-US" altLang="zh-CN" sz="2000">
                    <a:uFillTx/>
                    <a:latin typeface="Times New Roman" panose="02020603050405020304" pitchFamily="18" charset="0"/>
                    <a:ea typeface="宋体" charset="0"/>
                    <a:cs typeface="宋体" charset="0"/>
                  </a:rPr>
                  <a:t>WIS</a:t>
                </a:r>
                <a:r>
                  <a:rPr lang="zh-CN" altLang="en-US" sz="2000">
                    <a:uFillTx/>
                    <a:latin typeface="Times New Roman" panose="02020603050405020304" pitchFamily="18" charset="0"/>
                    <a:ea typeface="宋体" charset="0"/>
                    <a:cs typeface="宋体" charset="0"/>
                  </a:rPr>
                  <a:t>计算所有区间的得分为模型的</a:t>
                </a:r>
                <a:r>
                  <a:rPr lang="zh-CN" altLang="en-US" sz="2000">
                    <a:uFillTx/>
                    <a:latin typeface="Times New Roman" panose="02020603050405020304" pitchFamily="18" charset="0"/>
                    <a:ea typeface="宋体" charset="0"/>
                    <a:cs typeface="宋体" charset="0"/>
                  </a:rPr>
                  <a:t>得分</a:t>
                </a:r>
                <a:endParaRPr lang="zh-CN" altLang="en-US" sz="2000">
                  <a:uFillTx/>
                  <a:latin typeface="Times New Roman" panose="02020603050405020304" pitchFamily="18" charset="0"/>
                  <a:ea typeface="宋体" charset="0"/>
                  <a:cs typeface="宋体" charset="0"/>
                </a:endParaRPr>
              </a:p>
              <a:p>
                <a:pPr indent="0" algn="just" fontAlgn="auto">
                  <a:lnSpc>
                    <a:spcPts val="2400"/>
                  </a:lnSpc>
                  <a:buClrTx/>
                  <a:buSzTx/>
                  <a:buFontTx/>
                </a:pPr>
                <a:r>
                  <a:rPr lang="zh-CN" altLang="en-US" sz="2000">
                    <a:uFillTx/>
                    <a:latin typeface="Times New Roman" panose="02020603050405020304" pitchFamily="18" charset="0"/>
                    <a:ea typeface="宋体" charset="0"/>
                    <a:cs typeface="宋体" charset="0"/>
                  </a:rPr>
                  <a:t>使用模型的</a:t>
                </a:r>
                <a:r>
                  <a:rPr lang="en-US" altLang="zh-CN" sz="2000">
                    <a:uFillTx/>
                    <a:latin typeface="Times New Roman" panose="02020603050405020304" pitchFamily="18" charset="0"/>
                    <a:ea typeface="宋体" charset="0"/>
                    <a:cs typeface="宋体" charset="0"/>
                  </a:rPr>
                  <a:t>WIS</a:t>
                </a:r>
                <a:r>
                  <a:rPr lang="zh-CN" altLang="en-US" sz="2000">
                    <a:uFillTx/>
                    <a:latin typeface="Times New Roman" panose="02020603050405020304" pitchFamily="18" charset="0"/>
                    <a:ea typeface="宋体" charset="0"/>
                    <a:cs typeface="宋体" charset="0"/>
                  </a:rPr>
                  <a:t>除以朴素基线模型的</a:t>
                </a:r>
                <a:r>
                  <a:rPr lang="en-US" altLang="zh-CN" sz="2000">
                    <a:uFillTx/>
                    <a:latin typeface="Times New Roman" panose="02020603050405020304" pitchFamily="18" charset="0"/>
                    <a:ea typeface="宋体" charset="0"/>
                    <a:cs typeface="宋体" charset="0"/>
                  </a:rPr>
                  <a:t>WIS</a:t>
                </a:r>
                <a:endParaRPr lang="en-US" altLang="zh-CN" sz="2000">
                  <a:uFillTx/>
                  <a:latin typeface="Times New Roman" panose="02020603050405020304" pitchFamily="18" charset="0"/>
                  <a:ea typeface="宋体" charset="0"/>
                  <a:cs typeface="宋体" charset="0"/>
                </a:endParaRPr>
              </a:p>
              <a:p>
                <a:pPr indent="0" algn="just" fontAlgn="auto">
                  <a:lnSpc>
                    <a:spcPts val="2400"/>
                  </a:lnSpc>
                  <a:buClrTx/>
                  <a:buSzTx/>
                  <a:buFontTx/>
                </a:pPr>
                <a:r>
                  <a:rPr lang="en-US" altLang="zh-CN" sz="2000">
                    <a:uFillTx/>
                    <a:latin typeface="Times New Roman" panose="02020603050405020304" pitchFamily="18" charset="0"/>
                    <a:ea typeface="宋体" charset="0"/>
                    <a:cs typeface="宋体" charset="0"/>
                  </a:rPr>
                  <a:t>WIS</a:t>
                </a:r>
                <a:r>
                  <a:rPr lang="zh-CN" altLang="en-US" sz="2000">
                    <a:uFillTx/>
                    <a:latin typeface="Times New Roman" panose="02020603050405020304" pitchFamily="18" charset="0"/>
                    <a:ea typeface="宋体" charset="0"/>
                    <a:cs typeface="宋体" charset="0"/>
                  </a:rPr>
                  <a:t>越小，模型效果</a:t>
                </a:r>
                <a:r>
                  <a:rPr lang="zh-CN" altLang="en-US" sz="2000">
                    <a:uFillTx/>
                    <a:latin typeface="Times New Roman" panose="02020603050405020304" pitchFamily="18" charset="0"/>
                    <a:ea typeface="宋体" charset="0"/>
                    <a:cs typeface="宋体" charset="0"/>
                  </a:rPr>
                  <a:t>越好</a:t>
                </a:r>
                <a:endParaRPr lang="zh-CN" altLang="en-US" sz="2000">
                  <a:uFillTx/>
                  <a:latin typeface="Times New Roman" panose="02020603050405020304" pitchFamily="18" charset="0"/>
                  <a:ea typeface="宋体" charset="0"/>
                  <a:cs typeface="宋体" charset="0"/>
                </a:endParaRPr>
              </a:p>
              <a:p>
                <a:pPr algn="ctr">
                  <a:lnSpc>
                    <a:spcPts val="1800"/>
                  </a:lnSpc>
                  <a:buClrTx/>
                  <a:buSzTx/>
                  <a:buFontTx/>
                </a:pPr>
                <a:endParaRPr lang="zh-CN" altLang="en-US" sz="2400">
                  <a:uFillTx/>
                  <a:latin typeface="Times New Roman" panose="02020603050405020304" pitchFamily="18" charset="0"/>
                  <a:ea typeface="宋体" charset="0"/>
                  <a:cs typeface="宋体" charset="0"/>
                </a:endParaRPr>
              </a:p>
            </p:txBody>
          </p:sp>
        </mc:Choice>
        <mc:Fallback>
          <p:sp>
            <p:nvSpPr>
              <p:cNvPr id="14" name="文本框 13"/>
              <p:cNvSpPr txBox="1">
                <a:spLocks noRot="1" noChangeAspect="1" noMove="1" noResize="1" noEditPoints="1" noAdjustHandles="1" noChangeArrowheads="1" noChangeShapeType="1" noTextEdit="1"/>
              </p:cNvSpPr>
              <p:nvPr/>
            </p:nvSpPr>
            <p:spPr>
              <a:xfrm>
                <a:off x="6680200" y="2324100"/>
                <a:ext cx="5030470" cy="3642360"/>
              </a:xfrm>
              <a:prstGeom prst="rect">
                <a:avLst/>
              </a:prstGeom>
              <a:blipFill rotWithShape="1">
                <a:blip r:embed="rId8"/>
                <a:stretch>
                  <a:fillRect b="-9623"/>
                </a:stretch>
              </a:blipFill>
            </p:spPr>
            <p:txBody>
              <a:bodyPr/>
              <a:lstStyle/>
              <a:p>
                <a:r>
                  <a:rPr lang="zh-CN" altLang="en-US">
                    <a:noFill/>
                  </a:rPr>
                  <a:t> </a:t>
                </a:r>
              </a:p>
            </p:txBody>
          </p:sp>
        </mc:Fallback>
      </mc:AlternateContent>
      <p:pic>
        <p:nvPicPr>
          <p:cNvPr id="19" name="图片 18"/>
          <p:cNvPicPr>
            <a:picLocks noChangeAspect="1"/>
          </p:cNvPicPr>
          <p:nvPr>
            <p:custDataLst>
              <p:tags r:id="rId9"/>
            </p:custDataLst>
          </p:nvPr>
        </p:nvPicPr>
        <p:blipFill>
          <a:blip r:embed="rId10"/>
          <a:stretch>
            <a:fillRect/>
          </a:stretch>
        </p:blipFill>
        <p:spPr>
          <a:xfrm>
            <a:off x="7309485" y="3393440"/>
            <a:ext cx="3771900" cy="510540"/>
          </a:xfrm>
          <a:prstGeom prst="rect">
            <a:avLst/>
          </a:prstGeom>
        </p:spPr>
      </p:pic>
      <p:pic>
        <p:nvPicPr>
          <p:cNvPr id="21" name="图片 20"/>
          <p:cNvPicPr>
            <a:picLocks noChangeAspect="1"/>
          </p:cNvPicPr>
          <p:nvPr>
            <p:custDataLst>
              <p:tags r:id="rId11"/>
            </p:custDataLst>
          </p:nvPr>
        </p:nvPicPr>
        <p:blipFill>
          <a:blip r:embed="rId12"/>
          <a:stretch>
            <a:fillRect/>
          </a:stretch>
        </p:blipFill>
        <p:spPr>
          <a:xfrm>
            <a:off x="7677785" y="4646295"/>
            <a:ext cx="1189355" cy="511810"/>
          </a:xfrm>
          <a:prstGeom prst="rect">
            <a:avLst/>
          </a:prstGeom>
        </p:spPr>
      </p:pic>
      <p:pic>
        <p:nvPicPr>
          <p:cNvPr id="22" name="图片 21"/>
          <p:cNvPicPr>
            <a:picLocks noChangeAspect="1"/>
          </p:cNvPicPr>
          <p:nvPr>
            <p:custDataLst>
              <p:tags r:id="rId13"/>
            </p:custDataLst>
          </p:nvPr>
        </p:nvPicPr>
        <p:blipFill>
          <a:blip r:embed="rId14"/>
          <a:stretch>
            <a:fillRect/>
          </a:stretch>
        </p:blipFill>
        <p:spPr>
          <a:xfrm>
            <a:off x="9215120" y="4646295"/>
            <a:ext cx="1358265" cy="5118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3"/>
          </p:nvPr>
        </p:nvSpPr>
        <p:spPr/>
        <p:txBody>
          <a:bodyPr/>
          <a:p>
            <a:pPr algn="l">
              <a:buClrTx/>
              <a:buSzTx/>
            </a:pPr>
            <a:r>
              <a:rPr lang="zh-CN" altLang="en-US" sz="3200">
                <a:latin typeface="宋体" charset="0"/>
                <a:ea typeface="宋体" charset="0"/>
              </a:rPr>
              <a:t>消融实验</a:t>
            </a:r>
            <a:endParaRPr lang="zh-CN" altLang="en-US" sz="3200">
              <a:latin typeface="宋体" charset="0"/>
              <a:ea typeface="宋体" charset="0"/>
            </a:endParaRPr>
          </a:p>
        </p:txBody>
      </p:sp>
      <p:sp>
        <p:nvSpPr>
          <p:cNvPr id="3" name="文本框 2"/>
          <p:cNvSpPr txBox="1"/>
          <p:nvPr/>
        </p:nvSpPr>
        <p:spPr>
          <a:xfrm>
            <a:off x="268605" y="867410"/>
            <a:ext cx="11807825" cy="829945"/>
          </a:xfrm>
          <a:prstGeom prst="rect">
            <a:avLst/>
          </a:prstGeom>
          <a:noFill/>
        </p:spPr>
        <p:txBody>
          <a:bodyPr wrap="square" rtlCol="0">
            <a:spAutoFit/>
          </a:bodyPr>
          <a:p>
            <a:r>
              <a:rPr lang="zh-CN" altLang="en-US" sz="2400">
                <a:latin typeface="Times New Roman Regular" panose="02020603050405020304" charset="0"/>
                <a:ea typeface="宋体" charset="0"/>
                <a:cs typeface="Times New Roman Regular" panose="02020603050405020304" charset="0"/>
              </a:rPr>
              <a:t>Ablation Study</a:t>
            </a:r>
            <a:r>
              <a:rPr lang="zh-CN" altLang="en-US" sz="2400">
                <a:latin typeface="宋体" charset="0"/>
                <a:ea typeface="宋体" charset="0"/>
                <a:cs typeface="宋体" charset="0"/>
              </a:rPr>
              <a:t>是控制变量法，每次移除模型的一个组件，观察性能变化，从而理解每个组件的贡献</a:t>
            </a:r>
            <a:r>
              <a:rPr lang="zh-CN" altLang="en-US"/>
              <a:t>。</a:t>
            </a:r>
            <a:endParaRPr lang="zh-CN" altLang="en-US"/>
          </a:p>
        </p:txBody>
      </p:sp>
      <p:pic>
        <p:nvPicPr>
          <p:cNvPr id="5" name="图片 4"/>
          <p:cNvPicPr>
            <a:picLocks noChangeAspect="1"/>
          </p:cNvPicPr>
          <p:nvPr>
            <p:custDataLst>
              <p:tags r:id="rId1"/>
            </p:custDataLst>
          </p:nvPr>
        </p:nvPicPr>
        <p:blipFill>
          <a:blip r:embed="rId2"/>
          <a:stretch>
            <a:fillRect/>
          </a:stretch>
        </p:blipFill>
        <p:spPr>
          <a:xfrm>
            <a:off x="2904490" y="1593850"/>
            <a:ext cx="9172575" cy="4720590"/>
          </a:xfrm>
          <a:prstGeom prst="rect">
            <a:avLst/>
          </a:prstGeom>
        </p:spPr>
      </p:pic>
      <p:sp>
        <p:nvSpPr>
          <p:cNvPr id="6" name="文本框 5"/>
          <p:cNvSpPr txBox="1"/>
          <p:nvPr/>
        </p:nvSpPr>
        <p:spPr>
          <a:xfrm>
            <a:off x="156845" y="1831340"/>
            <a:ext cx="3287395" cy="4570095"/>
          </a:xfrm>
          <a:prstGeom prst="rect">
            <a:avLst/>
          </a:prstGeom>
          <a:noFill/>
        </p:spPr>
        <p:txBody>
          <a:bodyPr wrap="square" rtlCol="0">
            <a:noAutofit/>
          </a:bodyPr>
          <a:p>
            <a:r>
              <a:rPr lang="zh-CN" altLang="en-US" sz="2400">
                <a:latin typeface="宋体" charset="0"/>
                <a:ea typeface="宋体" charset="0"/>
                <a:cs typeface="宋体" charset="0"/>
              </a:rPr>
              <a:t>实验一</a:t>
            </a:r>
            <a:endParaRPr lang="zh-CN" altLang="en-US" sz="2400">
              <a:latin typeface="宋体" charset="0"/>
              <a:ea typeface="宋体" charset="0"/>
              <a:cs typeface="宋体" charset="0"/>
            </a:endParaRPr>
          </a:p>
          <a:p>
            <a:r>
              <a:rPr lang="zh-CN" altLang="en-US" sz="2400">
                <a:latin typeface="宋体" charset="0"/>
                <a:ea typeface="宋体" charset="0"/>
                <a:cs typeface="宋体" charset="0"/>
              </a:rPr>
              <a:t>对比</a:t>
            </a:r>
            <a:r>
              <a:rPr lang="en-US" altLang="zh-CN" sz="2400">
                <a:latin typeface="宋体" charset="0"/>
                <a:ea typeface="宋体" charset="0"/>
                <a:cs typeface="宋体" charset="0"/>
              </a:rPr>
              <a:t>PINNs</a:t>
            </a:r>
            <a:r>
              <a:rPr lang="zh-CN" altLang="en-US" sz="2400">
                <a:latin typeface="宋体" charset="0"/>
                <a:ea typeface="宋体" charset="0"/>
                <a:cs typeface="宋体" charset="0"/>
              </a:rPr>
              <a:t>和</a:t>
            </a:r>
            <a:r>
              <a:rPr lang="en-US" altLang="zh-CN" sz="2400">
                <a:latin typeface="宋体" charset="0"/>
                <a:ea typeface="宋体" charset="0"/>
                <a:cs typeface="宋体" charset="0"/>
              </a:rPr>
              <a:t>NN</a:t>
            </a:r>
            <a:endParaRPr lang="en-US" altLang="zh-CN" sz="2400">
              <a:latin typeface="宋体" charset="0"/>
              <a:ea typeface="宋体" charset="0"/>
              <a:cs typeface="宋体" charset="0"/>
            </a:endParaRPr>
          </a:p>
          <a:p>
            <a:endParaRPr lang="en-US" altLang="zh-CN" sz="2400">
              <a:latin typeface="宋体" charset="0"/>
              <a:ea typeface="宋体" charset="0"/>
              <a:cs typeface="宋体" charset="0"/>
            </a:endParaRPr>
          </a:p>
          <a:p>
            <a:r>
              <a:rPr lang="zh-CN" altLang="en-US" sz="2400">
                <a:latin typeface="宋体" charset="0"/>
                <a:ea typeface="宋体" charset="0"/>
                <a:cs typeface="宋体" charset="0"/>
              </a:rPr>
              <a:t>实验</a:t>
            </a:r>
            <a:r>
              <a:rPr lang="zh-CN" altLang="en-US" sz="2400">
                <a:latin typeface="宋体" charset="0"/>
                <a:ea typeface="宋体" charset="0"/>
                <a:cs typeface="宋体" charset="0"/>
              </a:rPr>
              <a:t>二</a:t>
            </a:r>
            <a:endParaRPr lang="zh-CN" altLang="en-US" sz="2400">
              <a:latin typeface="宋体" charset="0"/>
              <a:ea typeface="宋体" charset="0"/>
              <a:cs typeface="宋体" charset="0"/>
            </a:endParaRPr>
          </a:p>
          <a:p>
            <a:r>
              <a:rPr lang="zh-CN" altLang="en-US" sz="2400">
                <a:latin typeface="宋体" charset="0"/>
                <a:ea typeface="宋体" charset="0"/>
                <a:cs typeface="宋体" charset="0"/>
              </a:rPr>
              <a:t>对比</a:t>
            </a:r>
            <a:r>
              <a:rPr lang="en-US" altLang="zh-CN" sz="2400">
                <a:latin typeface="宋体" charset="0"/>
                <a:ea typeface="宋体" charset="0"/>
                <a:cs typeface="宋体" charset="0"/>
              </a:rPr>
              <a:t>PINNs</a:t>
            </a:r>
            <a:r>
              <a:rPr lang="zh-CN" altLang="en-US" sz="2400">
                <a:latin typeface="宋体" charset="0"/>
                <a:ea typeface="宋体" charset="0"/>
                <a:cs typeface="宋体" charset="0"/>
              </a:rPr>
              <a:t>和</a:t>
            </a:r>
            <a:r>
              <a:rPr lang="en-US" altLang="zh-CN" sz="2400">
                <a:latin typeface="宋体" charset="0"/>
                <a:ea typeface="宋体" charset="0"/>
                <a:cs typeface="宋体" charset="0"/>
              </a:rPr>
              <a:t>GISST</a:t>
            </a:r>
            <a:endParaRPr lang="en-US" altLang="zh-CN" sz="2400">
              <a:latin typeface="宋体" charset="0"/>
              <a:ea typeface="宋体" charset="0"/>
              <a:cs typeface="宋体" charset="0"/>
            </a:endParaRPr>
          </a:p>
          <a:p>
            <a:endParaRPr lang="en-US" altLang="zh-CN" sz="2400">
              <a:latin typeface="宋体" charset="0"/>
              <a:ea typeface="宋体" charset="0"/>
              <a:cs typeface="宋体" charset="0"/>
            </a:endParaRPr>
          </a:p>
          <a:p>
            <a:r>
              <a:rPr lang="zh-CN" altLang="en-US" sz="2400">
                <a:latin typeface="宋体" charset="0"/>
                <a:ea typeface="宋体" charset="0"/>
                <a:cs typeface="宋体" charset="0"/>
              </a:rPr>
              <a:t>实验</a:t>
            </a:r>
            <a:r>
              <a:rPr lang="zh-CN" altLang="en-US" sz="2400">
                <a:latin typeface="宋体" charset="0"/>
                <a:ea typeface="宋体" charset="0"/>
                <a:cs typeface="宋体" charset="0"/>
              </a:rPr>
              <a:t>三</a:t>
            </a:r>
            <a:endParaRPr lang="zh-CN" altLang="en-US" sz="2400">
              <a:latin typeface="宋体" charset="0"/>
              <a:ea typeface="宋体" charset="0"/>
              <a:cs typeface="宋体" charset="0"/>
            </a:endParaRPr>
          </a:p>
          <a:p>
            <a:r>
              <a:rPr lang="zh-CN" altLang="en-US" sz="2400">
                <a:latin typeface="宋体" charset="0"/>
                <a:ea typeface="宋体" charset="0"/>
                <a:cs typeface="宋体" charset="0"/>
              </a:rPr>
              <a:t>对比不同时间</a:t>
            </a:r>
            <a:r>
              <a:rPr lang="zh-CN" altLang="en-US" sz="2400">
                <a:latin typeface="宋体" charset="0"/>
                <a:ea typeface="宋体" charset="0"/>
                <a:cs typeface="宋体" charset="0"/>
              </a:rPr>
              <a:t>窗口</a:t>
            </a:r>
            <a:endParaRPr lang="zh-CN" altLang="en-US" sz="2400">
              <a:latin typeface="宋体" charset="0"/>
              <a:ea typeface="宋体" charset="0"/>
              <a:cs typeface="宋体" charset="0"/>
            </a:endParaRPr>
          </a:p>
          <a:p>
            <a:r>
              <a:rPr lang="en-US" altLang="zh-CN" sz="2400">
                <a:latin typeface="宋体" charset="0"/>
                <a:ea typeface="宋体" charset="0"/>
                <a:cs typeface="宋体" charset="0"/>
              </a:rPr>
              <a:t>16</a:t>
            </a:r>
            <a:r>
              <a:rPr lang="zh-CN" altLang="en-US" sz="2400">
                <a:latin typeface="宋体" charset="0"/>
                <a:ea typeface="宋体" charset="0"/>
                <a:cs typeface="宋体" charset="0"/>
              </a:rPr>
              <a:t>周</a:t>
            </a:r>
            <a:r>
              <a:rPr lang="zh-CN" altLang="en-US" sz="2400">
                <a:latin typeface="宋体" charset="0"/>
                <a:ea typeface="宋体" charset="0"/>
                <a:cs typeface="宋体" charset="0"/>
              </a:rPr>
              <a:t>窗口最优。</a:t>
            </a:r>
            <a:endParaRPr lang="zh-CN" altLang="en-US" sz="2400">
              <a:latin typeface="宋体" charset="0"/>
              <a:ea typeface="宋体" charset="0"/>
              <a:cs typeface="宋体" charset="0"/>
            </a:endParaRPr>
          </a:p>
          <a:p>
            <a:endParaRPr lang="zh-CN" altLang="en-US" sz="2400">
              <a:latin typeface="宋体" charset="0"/>
              <a:ea typeface="宋体" charset="0"/>
              <a:cs typeface="宋体" charset="0"/>
            </a:endParaRPr>
          </a:p>
          <a:p>
            <a:r>
              <a:rPr lang="zh-CN" altLang="en-US" sz="2400">
                <a:latin typeface="宋体" charset="0"/>
                <a:ea typeface="宋体" charset="0"/>
                <a:cs typeface="宋体" charset="0"/>
              </a:rPr>
              <a:t>实验</a:t>
            </a:r>
            <a:r>
              <a:rPr lang="zh-CN" altLang="en-US" sz="2400">
                <a:latin typeface="宋体" charset="0"/>
                <a:ea typeface="宋体" charset="0"/>
                <a:cs typeface="宋体" charset="0"/>
              </a:rPr>
              <a:t>四</a:t>
            </a:r>
            <a:endParaRPr lang="zh-CN" altLang="en-US" sz="2400">
              <a:latin typeface="宋体" charset="0"/>
              <a:ea typeface="宋体" charset="0"/>
              <a:cs typeface="宋体" charset="0"/>
            </a:endParaRPr>
          </a:p>
          <a:p>
            <a:r>
              <a:rPr lang="zh-CN" altLang="en-US" sz="2400">
                <a:latin typeface="宋体" charset="0"/>
                <a:ea typeface="宋体" charset="0"/>
                <a:cs typeface="宋体" charset="0"/>
              </a:rPr>
              <a:t>正则化的</a:t>
            </a:r>
            <a:r>
              <a:rPr lang="zh-CN" altLang="en-US" sz="2400">
                <a:latin typeface="宋体" charset="0"/>
                <a:ea typeface="宋体" charset="0"/>
                <a:cs typeface="宋体" charset="0"/>
              </a:rPr>
              <a:t>作用</a:t>
            </a:r>
            <a:endParaRPr lang="zh-CN" altLang="en-US" sz="2400">
              <a:latin typeface="宋体" charset="0"/>
              <a:ea typeface="宋体" charset="0"/>
              <a:cs typeface="宋体" charset="0"/>
            </a:endParaRPr>
          </a:p>
          <a:p>
            <a:endParaRPr lang="zh-CN" altLang="en-US" sz="2400">
              <a:latin typeface="宋体" charset="0"/>
              <a:ea typeface="宋体" charset="0"/>
              <a:cs typeface="宋体"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3"/>
          </p:nvPr>
        </p:nvSpPr>
        <p:spPr/>
        <p:txBody>
          <a:bodyPr/>
          <a:p>
            <a:r>
              <a:rPr lang="zh-CN" altLang="en-US" sz="3200">
                <a:latin typeface="宋体" charset="0"/>
                <a:ea typeface="宋体" charset="0"/>
              </a:rPr>
              <a:t>实验环境</a:t>
            </a:r>
            <a:endParaRPr lang="zh-CN" altLang="en-US" sz="3200">
              <a:latin typeface="宋体" charset="0"/>
              <a:ea typeface="宋体" charset="0"/>
            </a:endParaRPr>
          </a:p>
        </p:txBody>
      </p:sp>
      <mc:AlternateContent xmlns:mc="http://schemas.openxmlformats.org/markup-compatibility/2006" xmlns:a14="http://schemas.microsoft.com/office/drawing/2010/main">
        <mc:Choice Requires="a14">
          <p:graphicFrame>
            <p:nvGraphicFramePr>
              <p:cNvPr id="3" name="表格 2"/>
              <p:cNvGraphicFramePr/>
              <p:nvPr>
                <p:custDataLst>
                  <p:tags r:id="rId1"/>
                </p:custDataLst>
              </p:nvPr>
            </p:nvGraphicFramePr>
            <p:xfrm>
              <a:off x="1400175" y="957580"/>
              <a:ext cx="9390380" cy="2397125"/>
            </p:xfrm>
            <a:graphic>
              <a:graphicData uri="http://schemas.openxmlformats.org/drawingml/2006/table">
                <a:tbl>
                  <a:tblPr firstRow="1" bandRow="1">
                    <a:tableStyleId>{5C22544A-7EE6-4342-B048-85BDC9FD1C3A}</a:tableStyleId>
                  </a:tblPr>
                  <a:tblGrid>
                    <a:gridCol w="4670425"/>
                    <a:gridCol w="4719955"/>
                  </a:tblGrid>
                  <a:tr h="365760">
                    <a:tc>
                      <a:txBody>
                        <a:bodyPr/>
                        <a:p>
                          <a:pPr algn="ctr">
                            <a:buNone/>
                          </a:pPr>
                          <a:r>
                            <a:rPr lang="zh-CN" altLang="en-US"/>
                            <a:t>项目</a:t>
                          </a:r>
                          <a:endParaRPr lang="zh-CN" altLang="en-US"/>
                        </a:p>
                      </a:txBody>
                      <a:tcPr/>
                    </a:tc>
                    <a:tc>
                      <a:txBody>
                        <a:bodyPr/>
                        <a:p>
                          <a:pPr algn="ctr">
                            <a:buNone/>
                          </a:pPr>
                          <a:r>
                            <a:rPr lang="zh-CN" altLang="en-US"/>
                            <a:t>设置</a:t>
                          </a:r>
                          <a:endParaRPr lang="zh-CN" altLang="en-US"/>
                        </a:p>
                      </a:txBody>
                      <a:tcPr/>
                    </a:tc>
                  </a:tr>
                  <a:tr h="365760">
                    <a:tc>
                      <a:txBody>
                        <a:bodyPr/>
                        <a:p>
                          <a:pPr algn="ctr">
                            <a:buNone/>
                          </a:pPr>
                          <a:r>
                            <a:rPr lang="zh-CN" altLang="en-US"/>
                            <a:t>优化</a:t>
                          </a:r>
                          <a:r>
                            <a:rPr lang="zh-CN" altLang="en-US"/>
                            <a:t>器</a:t>
                          </a:r>
                          <a:endParaRPr lang="zh-CN" altLang="en-US"/>
                        </a:p>
                      </a:txBody>
                      <a:tcPr/>
                    </a:tc>
                    <a:tc>
                      <a:txBody>
                        <a:bodyPr/>
                        <a:p>
                          <a:pPr algn="ctr">
                            <a:buNone/>
                          </a:pPr>
                          <a:r>
                            <a:rPr lang="en-US" altLang="zh-CN"/>
                            <a:t>Adam</a:t>
                          </a:r>
                          <a:endParaRPr lang="en-US" altLang="zh-CN"/>
                        </a:p>
                      </a:txBody>
                      <a:tcPr/>
                    </a:tc>
                  </a:tr>
                  <a:tr h="365760">
                    <a:tc>
                      <a:txBody>
                        <a:bodyPr/>
                        <a:p>
                          <a:pPr algn="ctr">
                            <a:buNone/>
                          </a:pPr>
                          <a:r>
                            <a:rPr lang="zh-CN" altLang="en-US"/>
                            <a:t>学习率</a:t>
                          </a:r>
                          <a:endParaRPr lang="zh-CN" altLang="en-US"/>
                        </a:p>
                      </a:txBody>
                      <a:tcPr/>
                    </a:tc>
                    <a:tc>
                      <a:txBody>
                        <a:bodyPr/>
                        <a:p>
                          <a:pPr algn="ctr">
                            <a:buNone/>
                          </a:pPr>
                          <a:r>
                            <a:rPr lang="en-US" altLang="zh-CN"/>
                            <a:t>0.001</a:t>
                          </a:r>
                          <a:endParaRPr lang="en-US" altLang="zh-CN"/>
                        </a:p>
                      </a:txBody>
                      <a:tcPr/>
                    </a:tc>
                  </a:tr>
                  <a:tr h="365760">
                    <a:tc>
                      <a:txBody>
                        <a:bodyPr/>
                        <a:p>
                          <a:pPr algn="ctr">
                            <a:buNone/>
                          </a:pPr>
                          <a:r>
                            <a:rPr lang="zh-CN" altLang="en-US"/>
                            <a:t>训练</a:t>
                          </a:r>
                          <a:r>
                            <a:rPr lang="zh-CN" altLang="en-US"/>
                            <a:t>轮数</a:t>
                          </a:r>
                          <a:endParaRPr lang="zh-CN" altLang="en-US"/>
                        </a:p>
                      </a:txBody>
                      <a:tcPr/>
                    </a:tc>
                    <a:tc>
                      <a:txBody>
                        <a:bodyPr/>
                        <a:p>
                          <a:pPr algn="ctr">
                            <a:buNone/>
                          </a:pPr>
                          <a:r>
                            <a:rPr lang="zh-CN" altLang="en-US"/>
                            <a:t>50,000</a:t>
                          </a:r>
                          <a:endParaRPr lang="zh-CN" altLang="en-US"/>
                        </a:p>
                      </a:txBody>
                      <a:tcPr/>
                    </a:tc>
                  </a:tr>
                  <a:tr h="393065">
                    <a:tc>
                      <a:txBody>
                        <a:bodyPr/>
                        <a:p>
                          <a:pPr algn="ctr">
                            <a:buNone/>
                          </a:pPr>
                          <a:r>
                            <a:rPr lang="zh-CN" altLang="en-US"/>
                            <a:t>正则化</a:t>
                          </a:r>
                          <a:r>
                            <a:rPr lang="zh-CN" altLang="en-US"/>
                            <a:t>系数</a:t>
                          </a:r>
                          <a:endParaRPr lang="zh-CN" altLang="en-US"/>
                        </a:p>
                      </a:txBody>
                      <a:tcPr/>
                    </a:tc>
                    <a:tc>
                      <a:txBody>
                        <a:bodyPr/>
                        <a:p>
                          <a:pPr algn="ctr">
                            <a:buNone/>
                          </a:pPr>
                          <a:r>
                            <a:rPr lang="zh-CN" altLang="en-US"/>
                            <a:t> </a:t>
                          </a:r>
                          <a:r>
                            <a:rPr lang="en-US" altLang="zh-CN"/>
                            <a:t>1*</a:t>
                          </a:r>
                          <a14:m>
                            <m:oMath xmlns:m="http://schemas.openxmlformats.org/officeDocument/2006/math">
                              <m:sSup>
                                <m:sSupPr>
                                  <m:ctrlPr>
                                    <a:rPr lang="en-US" altLang="zh-CN" i="1">
                                      <a:latin typeface="DejaVu Math TeX Gyre" panose="02000503000000000000" charset="0"/>
                                      <a:cs typeface="DejaVu Math TeX Gyre" panose="02000503000000000000" charset="0"/>
                                    </a:rPr>
                                  </m:ctrlPr>
                                </m:sSupPr>
                                <m:e>
                                  <m:r>
                                    <a:rPr lang="en-US" altLang="zh-CN" i="1">
                                      <a:latin typeface="DejaVu Math TeX Gyre" panose="02000503000000000000" charset="0"/>
                                      <a:cs typeface="DejaVu Math TeX Gyre" panose="02000503000000000000" charset="0"/>
                                    </a:rPr>
                                    <m:t>10</m:t>
                                  </m:r>
                                </m:e>
                                <m:sup>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5</m:t>
                                  </m:r>
                                </m:sup>
                              </m:sSup>
                            </m:oMath>
                          </a14:m>
                          <a:endParaRPr lang="zh-CN" altLang="en-US"/>
                        </a:p>
                      </a:txBody>
                      <a:tcPr/>
                    </a:tc>
                  </a:tr>
                  <a:tr h="541020">
                    <a:tc>
                      <a:txBody>
                        <a:bodyPr/>
                        <a:p>
                          <a:pPr algn="ctr">
                            <a:buNone/>
                          </a:pPr>
                          <a:r>
                            <a:rPr lang="zh-CN" altLang="en-US"/>
                            <a:t>硬件</a:t>
                          </a:r>
                          <a:endParaRPr lang="zh-CN" altLang="en-US"/>
                        </a:p>
                      </a:txBody>
                      <a:tcPr/>
                    </a:tc>
                    <a:tc>
                      <a:txBody>
                        <a:bodyPr/>
                        <a:p>
                          <a:pPr algn="ctr">
                            <a:buNone/>
                          </a:pPr>
                          <a:r>
                            <a:rPr lang="zh-CN" altLang="en-US"/>
                            <a:t>NVIDIA GeForce RTX 3090 GPU</a:t>
                          </a:r>
                          <a:endParaRPr lang="zh-CN" altLang="en-US"/>
                        </a:p>
                      </a:txBody>
                      <a:tcPr/>
                    </a:tc>
                  </a:tr>
                </a:tbl>
              </a:graphicData>
            </a:graphic>
          </p:graphicFrame>
        </mc:Choice>
        <mc:Fallback xmlns="">
          <p:graphicFrame>
            <p:nvGraphicFramePr>
              <p:cNvPr id="3" name="表格 2"/>
              <p:cNvGraphicFramePr/>
              <p:nvPr>
                <p:custDataLst>
                  <p:tags r:id="rId2"/>
                </p:custDataLst>
              </p:nvPr>
            </p:nvGraphicFramePr>
            <p:xfrm>
              <a:off x="1400175" y="957580"/>
              <a:ext cx="9390380" cy="2397125"/>
            </p:xfrm>
            <a:graphic>
              <a:graphicData uri="http://schemas.openxmlformats.org/drawingml/2006/table">
                <a:tbl>
                  <a:tblPr firstRow="1" bandRow="1">
                    <a:tableStyleId>{5C22544A-7EE6-4342-B048-85BDC9FD1C3A}</a:tableStyleId>
                  </a:tblPr>
                  <a:tblGrid>
                    <a:gridCol w="4670425"/>
                    <a:gridCol w="4719955"/>
                  </a:tblGrid>
                  <a:tr h="365760">
                    <a:tc>
                      <a:txBody>
                        <a:bodyPr/>
                        <a:p>
                          <a:pPr algn="ctr">
                            <a:buNone/>
                          </a:pPr>
                          <a:r>
                            <a:rPr lang="zh-CN" altLang="en-US"/>
                            <a:t>项目</a:t>
                          </a:r>
                          <a:endParaRPr lang="zh-CN" altLang="en-US"/>
                        </a:p>
                      </a:txBody>
                      <a:tcPr/>
                    </a:tc>
                    <a:tc>
                      <a:txBody>
                        <a:bodyPr/>
                        <a:p>
                          <a:pPr algn="ctr">
                            <a:buNone/>
                          </a:pPr>
                          <a:r>
                            <a:rPr lang="zh-CN" altLang="en-US"/>
                            <a:t>设置</a:t>
                          </a:r>
                          <a:endParaRPr lang="zh-CN" altLang="en-US"/>
                        </a:p>
                      </a:txBody>
                      <a:tcPr/>
                    </a:tc>
                  </a:tr>
                  <a:tr h="365760">
                    <a:tc>
                      <a:txBody>
                        <a:bodyPr/>
                        <a:p>
                          <a:pPr algn="ctr">
                            <a:buNone/>
                          </a:pPr>
                          <a:r>
                            <a:rPr lang="zh-CN" altLang="en-US"/>
                            <a:t>优化</a:t>
                          </a:r>
                          <a:r>
                            <a:rPr lang="zh-CN" altLang="en-US"/>
                            <a:t>器</a:t>
                          </a:r>
                          <a:endParaRPr lang="zh-CN" altLang="en-US"/>
                        </a:p>
                      </a:txBody>
                      <a:tcPr/>
                    </a:tc>
                    <a:tc>
                      <a:txBody>
                        <a:bodyPr/>
                        <a:p>
                          <a:pPr algn="ctr">
                            <a:buNone/>
                          </a:pPr>
                          <a:r>
                            <a:rPr lang="en-US" altLang="zh-CN"/>
                            <a:t>Adam</a:t>
                          </a:r>
                          <a:endParaRPr lang="en-US" altLang="zh-CN"/>
                        </a:p>
                      </a:txBody>
                      <a:tcPr/>
                    </a:tc>
                  </a:tr>
                  <a:tr h="365760">
                    <a:tc>
                      <a:txBody>
                        <a:bodyPr/>
                        <a:p>
                          <a:pPr algn="ctr">
                            <a:buNone/>
                          </a:pPr>
                          <a:r>
                            <a:rPr lang="zh-CN" altLang="en-US"/>
                            <a:t>学习率</a:t>
                          </a:r>
                          <a:endParaRPr lang="zh-CN" altLang="en-US"/>
                        </a:p>
                      </a:txBody>
                      <a:tcPr/>
                    </a:tc>
                    <a:tc>
                      <a:txBody>
                        <a:bodyPr/>
                        <a:p>
                          <a:pPr algn="ctr">
                            <a:buNone/>
                          </a:pPr>
                          <a:r>
                            <a:rPr lang="en-US" altLang="zh-CN"/>
                            <a:t>0.001</a:t>
                          </a:r>
                          <a:endParaRPr lang="en-US" altLang="zh-CN"/>
                        </a:p>
                      </a:txBody>
                      <a:tcPr/>
                    </a:tc>
                  </a:tr>
                  <a:tr h="365760">
                    <a:tc>
                      <a:txBody>
                        <a:bodyPr/>
                        <a:p>
                          <a:pPr algn="ctr">
                            <a:buNone/>
                          </a:pPr>
                          <a:r>
                            <a:rPr lang="zh-CN" altLang="en-US"/>
                            <a:t>训练</a:t>
                          </a:r>
                          <a:r>
                            <a:rPr lang="zh-CN" altLang="en-US"/>
                            <a:t>轮数</a:t>
                          </a:r>
                          <a:endParaRPr lang="zh-CN" altLang="en-US"/>
                        </a:p>
                      </a:txBody>
                      <a:tcPr/>
                    </a:tc>
                    <a:tc>
                      <a:txBody>
                        <a:bodyPr/>
                        <a:p>
                          <a:pPr algn="ctr">
                            <a:buNone/>
                          </a:pPr>
                          <a:r>
                            <a:rPr lang="zh-CN" altLang="en-US"/>
                            <a:t>50,000</a:t>
                          </a:r>
                          <a:endParaRPr lang="zh-CN" altLang="en-US"/>
                        </a:p>
                      </a:txBody>
                      <a:tcPr/>
                    </a:tc>
                  </a:tr>
                  <a:tr h="393065">
                    <a:tc>
                      <a:txBody>
                        <a:bodyPr/>
                        <a:p>
                          <a:pPr algn="ctr">
                            <a:buNone/>
                          </a:pPr>
                          <a:r>
                            <a:rPr lang="zh-CN" altLang="en-US"/>
                            <a:t>正则化</a:t>
                          </a:r>
                          <a:r>
                            <a:rPr lang="zh-CN" altLang="en-US"/>
                            <a:t>系数</a:t>
                          </a:r>
                          <a:endParaRPr lang="zh-CN" altLang="en-US"/>
                        </a:p>
                      </a:txBody>
                      <a:tcPr/>
                    </a:tc>
                    <a:tc>
                      <a:txBody>
                        <a:bodyPr/>
                        <a:lstStyle/>
                        <a:p>
                          <a:endParaRPr lang="zh-CN"/>
                        </a:p>
                      </a:txBody>
                      <a:tcPr>
                        <a:blipFill>
                          <a:blip r:embed="rId3"/>
                        </a:blipFill>
                      </a:tcPr>
                    </a:tc>
                  </a:tr>
                  <a:tr h="541020">
                    <a:tc>
                      <a:txBody>
                        <a:bodyPr/>
                        <a:p>
                          <a:pPr algn="ctr">
                            <a:buNone/>
                          </a:pPr>
                          <a:r>
                            <a:rPr lang="zh-CN" altLang="en-US"/>
                            <a:t>硬件</a:t>
                          </a:r>
                          <a:endParaRPr lang="zh-CN" altLang="en-US"/>
                        </a:p>
                      </a:txBody>
                      <a:tcPr/>
                    </a:tc>
                    <a:tc>
                      <a:txBody>
                        <a:bodyPr/>
                        <a:p>
                          <a:pPr algn="ctr">
                            <a:buNone/>
                          </a:pPr>
                          <a:r>
                            <a:rPr lang="zh-CN" altLang="en-US"/>
                            <a:t>NVIDIA GeForce RTX 3090 GPU</a:t>
                          </a:r>
                          <a:endParaRPr lang="zh-CN" altLang="en-US"/>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 name="表格 3"/>
              <p:cNvGraphicFramePr/>
              <p:nvPr/>
            </p:nvGraphicFramePr>
            <p:xfrm>
              <a:off x="1400175" y="3472180"/>
              <a:ext cx="9391650" cy="2807970"/>
            </p:xfrm>
            <a:graphic>
              <a:graphicData uri="http://schemas.openxmlformats.org/drawingml/2006/table">
                <a:tbl>
                  <a:tblPr firstRow="1" bandRow="1">
                    <a:tableStyleId>{5C22544A-7EE6-4342-B048-85BDC9FD1C3A}</a:tableStyleId>
                  </a:tblPr>
                  <a:tblGrid>
                    <a:gridCol w="3130550"/>
                    <a:gridCol w="3130550"/>
                    <a:gridCol w="3130550"/>
                  </a:tblGrid>
                  <a:tr h="391795">
                    <a:tc>
                      <a:txBody>
                        <a:bodyPr/>
                        <a:p>
                          <a:pPr algn="ctr">
                            <a:buNone/>
                          </a:pPr>
                          <a:r>
                            <a:rPr lang="zh-CN" altLang="en-US"/>
                            <a:t>超参数</a:t>
                          </a:r>
                          <a:endParaRPr lang="zh-CN" altLang="en-US"/>
                        </a:p>
                      </a:txBody>
                      <a:tcPr/>
                    </a:tc>
                    <a:tc>
                      <a:txBody>
                        <a:bodyPr/>
                        <a:p>
                          <a:pPr algn="ctr">
                            <a:buNone/>
                          </a:pPr>
                          <a:r>
                            <a:rPr lang="zh-CN" altLang="en-US"/>
                            <a:t>搜索范围</a:t>
                          </a:r>
                          <a:endParaRPr lang="zh-CN" altLang="en-US"/>
                        </a:p>
                      </a:txBody>
                      <a:tcPr/>
                    </a:tc>
                    <a:tc>
                      <a:txBody>
                        <a:bodyPr/>
                        <a:p>
                          <a:pPr algn="ctr">
                            <a:buNone/>
                          </a:pPr>
                          <a:r>
                            <a:rPr lang="zh-CN" altLang="en-US"/>
                            <a:t>最终</a:t>
                          </a:r>
                          <a:r>
                            <a:rPr lang="zh-CN" altLang="en-US"/>
                            <a:t>选择</a:t>
                          </a:r>
                          <a:endParaRPr lang="zh-CN" altLang="en-US"/>
                        </a:p>
                      </a:txBody>
                      <a:tcPr/>
                    </a:tc>
                  </a:tr>
                  <a:tr h="408305">
                    <a:tc>
                      <a:txBody>
                        <a:bodyPr/>
                        <a:p>
                          <a:pPr algn="ctr">
                            <a:buNone/>
                          </a:pPr>
                          <a:r>
                            <a:rPr lang="zh-CN" altLang="en-US"/>
                            <a:t>学习率</a:t>
                          </a:r>
                          <a:endParaRPr lang="zh-CN" altLang="en-US"/>
                        </a:p>
                      </a:txBody>
                      <a:tcPr/>
                    </a:tc>
                    <a:tc>
                      <a:txBody>
                        <a:bodyPr/>
                        <a:p>
                          <a:pPr algn="ctr">
                            <a:buNone/>
                          </a:pPr>
                          <a14:m>
                            <m:oMath xmlns:m="http://schemas.openxmlformats.org/officeDocument/2006/math">
                              <m:sSup>
                                <m:sSupPr>
                                  <m:ctrlPr>
                                    <a:rPr lang="en-US" altLang="zh-CN" i="1">
                                      <a:latin typeface="DejaVu Math TeX Gyre" panose="02000503000000000000" charset="0"/>
                                      <a:cs typeface="DejaVu Math TeX Gyre" panose="02000503000000000000" charset="0"/>
                                    </a:rPr>
                                  </m:ctrlPr>
                                </m:sSupPr>
                                <m:e>
                                  <m:r>
                                    <a:rPr lang="en-US" altLang="zh-CN" i="1">
                                      <a:latin typeface="DejaVu Math TeX Gyre" panose="02000503000000000000" charset="0"/>
                                      <a:cs typeface="DejaVu Math TeX Gyre" panose="02000503000000000000" charset="0"/>
                                    </a:rPr>
                                    <m:t>10</m:t>
                                  </m:r>
                                </m:e>
                                <m:sup>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5</m:t>
                                  </m:r>
                                </m:sup>
                              </m:sSup>
                            </m:oMath>
                          </a14:m>
                          <a:r>
                            <a:rPr lang="zh-CN" altLang="en-US" b="0">
                              <a:latin typeface="DejaVu Math TeX Gyre" panose="02000503000000000000" charset="0"/>
                              <a:cs typeface="DejaVu Math TeX Gyre" panose="02000503000000000000" charset="0"/>
                            </a:rPr>
                            <a:t>～</a:t>
                          </a:r>
                          <a14:m>
                            <m:oMath xmlns:m="http://schemas.openxmlformats.org/officeDocument/2006/math">
                              <m:sSup>
                                <m:sSupPr>
                                  <m:ctrlPr>
                                    <a:rPr lang="en-US" altLang="zh-CN" b="0" i="1">
                                      <a:latin typeface="DejaVu Math TeX Gyre" panose="02000503000000000000" charset="0"/>
                                      <a:cs typeface="DejaVu Math TeX Gyre" panose="02000503000000000000" charset="0"/>
                                    </a:rPr>
                                  </m:ctrlPr>
                                </m:sSupPr>
                                <m:e>
                                  <m:r>
                                    <a:rPr lang="en-US" altLang="zh-CN" b="0" i="1">
                                      <a:latin typeface="DejaVu Math TeX Gyre" panose="02000503000000000000" charset="0"/>
                                      <a:cs typeface="DejaVu Math TeX Gyre" panose="02000503000000000000" charset="0"/>
                                    </a:rPr>
                                    <m:t>10</m:t>
                                  </m:r>
                                </m:e>
                                <m:sup>
                                  <m:r>
                                    <a:rPr lang="en-US" altLang="zh-CN" b="0" i="1">
                                      <a:latin typeface="DejaVu Math TeX Gyre" panose="02000503000000000000" charset="0"/>
                                      <a:cs typeface="DejaVu Math TeX Gyre" panose="02000503000000000000" charset="0"/>
                                    </a:rPr>
                                    <m:t>−</m:t>
                                  </m:r>
                                  <m:r>
                                    <a:rPr lang="en-US" altLang="zh-CN" b="0" i="1">
                                      <a:latin typeface="DejaVu Math TeX Gyre" panose="02000503000000000000" charset="0"/>
                                      <a:cs typeface="DejaVu Math TeX Gyre" panose="02000503000000000000" charset="0"/>
                                    </a:rPr>
                                    <m:t>1</m:t>
                                  </m:r>
                                </m:sup>
                              </m:sSup>
                            </m:oMath>
                          </a14:m>
                          <a:endParaRPr lang="zh-CN" altLang="en-US" b="0">
                            <a:latin typeface="DejaVu Math TeX Gyre" panose="02000503000000000000" charset="0"/>
                            <a:cs typeface="DejaVu Math TeX Gyre" panose="02000503000000000000" charset="0"/>
                          </a:endParaRPr>
                        </a:p>
                      </a:txBody>
                      <a:tcPr/>
                    </a:tc>
                    <a:tc>
                      <a:txBody>
                        <a:bodyPr/>
                        <a:p>
                          <a:pPr algn="ctr">
                            <a:buNone/>
                          </a:pPr>
                          <a14:m>
                            <m:oMathPara xmlns:m="http://schemas.openxmlformats.org/officeDocument/2006/math">
                              <m:oMathParaPr>
                                <m:jc m:val="centerGroup"/>
                              </m:oMathParaPr>
                              <m:oMath xmlns:m="http://schemas.openxmlformats.org/officeDocument/2006/math">
                                <m:sSup>
                                  <m:sSupPr>
                                    <m:ctrlPr>
                                      <a:rPr lang="en-US" altLang="zh-CN" i="1">
                                        <a:latin typeface="DejaVu Math TeX Gyre" panose="02000503000000000000" charset="0"/>
                                        <a:cs typeface="DejaVu Math TeX Gyre" panose="02000503000000000000" charset="0"/>
                                      </a:rPr>
                                    </m:ctrlPr>
                                  </m:sSupPr>
                                  <m:e>
                                    <m:r>
                                      <a:rPr lang="en-US" altLang="zh-CN" i="1">
                                        <a:latin typeface="DejaVu Math TeX Gyre" panose="02000503000000000000" charset="0"/>
                                        <a:cs typeface="DejaVu Math TeX Gyre" panose="02000503000000000000" charset="0"/>
                                      </a:rPr>
                                      <m:t>10</m:t>
                                    </m:r>
                                  </m:e>
                                  <m:sup>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3</m:t>
                                    </m:r>
                                  </m:sup>
                                </m:sSup>
                              </m:oMath>
                            </m:oMathPara>
                          </a14:m>
                          <a:endParaRPr lang="zh-CN" altLang="en-US"/>
                        </a:p>
                      </a:txBody>
                      <a:tcPr/>
                    </a:tc>
                  </a:tr>
                  <a:tr h="391795">
                    <a:tc>
                      <a:txBody>
                        <a:bodyPr/>
                        <a:p>
                          <a:pPr algn="ctr">
                            <a:buNone/>
                          </a:pPr>
                          <a:r>
                            <a:rPr lang="zh-CN" altLang="en-US"/>
                            <a:t>隐藏</a:t>
                          </a:r>
                          <a:r>
                            <a:rPr lang="zh-CN" altLang="en-US"/>
                            <a:t>层数</a:t>
                          </a:r>
                          <a:endParaRPr lang="zh-CN" altLang="en-US"/>
                        </a:p>
                      </a:txBody>
                      <a:tcPr/>
                    </a:tc>
                    <a:tc>
                      <a:txBody>
                        <a:bodyPr/>
                        <a:p>
                          <a:pPr algn="ctr">
                            <a:buNone/>
                          </a:pPr>
                          <a:r>
                            <a:rPr lang="en-US" altLang="zh-CN"/>
                            <a:t>2</a:t>
                          </a:r>
                          <a:r>
                            <a:rPr lang="zh-CN" altLang="en-US"/>
                            <a:t>～</a:t>
                          </a:r>
                          <a:r>
                            <a:rPr lang="en-US" altLang="zh-CN"/>
                            <a:t>5</a:t>
                          </a:r>
                          <a:endParaRPr lang="en-US" altLang="zh-CN"/>
                        </a:p>
                      </a:txBody>
                      <a:tcPr/>
                    </a:tc>
                    <a:tc>
                      <a:txBody>
                        <a:bodyPr/>
                        <a:p>
                          <a:pPr algn="ctr">
                            <a:buNone/>
                          </a:pPr>
                          <a:r>
                            <a:rPr lang="en-US" altLang="zh-CN"/>
                            <a:t>3</a:t>
                          </a:r>
                          <a:endParaRPr lang="en-US" altLang="zh-CN"/>
                        </a:p>
                      </a:txBody>
                      <a:tcPr/>
                    </a:tc>
                  </a:tr>
                  <a:tr h="391795">
                    <a:tc>
                      <a:txBody>
                        <a:bodyPr/>
                        <a:p>
                          <a:pPr algn="ctr">
                            <a:buNone/>
                          </a:pPr>
                          <a:r>
                            <a:rPr lang="zh-CN" altLang="en-US"/>
                            <a:t>每层</a:t>
                          </a:r>
                          <a:r>
                            <a:rPr lang="zh-CN" altLang="en-US"/>
                            <a:t>神经元</a:t>
                          </a:r>
                          <a:endParaRPr lang="zh-CN" altLang="en-US"/>
                        </a:p>
                      </a:txBody>
                      <a:tcPr/>
                    </a:tc>
                    <a:tc>
                      <a:txBody>
                        <a:bodyPr/>
                        <a:p>
                          <a:pPr algn="ctr">
                            <a:buNone/>
                          </a:pPr>
                          <a:r>
                            <a:rPr lang="en-US" altLang="zh-CN"/>
                            <a:t>20</a:t>
                          </a:r>
                          <a:r>
                            <a:rPr lang="zh-CN" altLang="en-US"/>
                            <a:t>～</a:t>
                          </a:r>
                          <a:r>
                            <a:rPr lang="en-US" altLang="zh-CN"/>
                            <a:t>100</a:t>
                          </a:r>
                          <a:endParaRPr lang="en-US" altLang="zh-CN"/>
                        </a:p>
                      </a:txBody>
                      <a:tcPr/>
                    </a:tc>
                    <a:tc>
                      <a:txBody>
                        <a:bodyPr/>
                        <a:p>
                          <a:pPr algn="ctr">
                            <a:buNone/>
                          </a:pPr>
                          <a:r>
                            <a:rPr lang="en-US" altLang="zh-CN"/>
                            <a:t>50</a:t>
                          </a:r>
                          <a:endParaRPr lang="en-US" altLang="zh-CN"/>
                        </a:p>
                      </a:txBody>
                      <a:tcPr/>
                    </a:tc>
                  </a:tr>
                  <a:tr h="407670">
                    <a:tc>
                      <a:txBody>
                        <a:bodyPr/>
                        <a:p>
                          <a:pPr algn="ctr">
                            <a:buNone/>
                          </a:pPr>
                          <a:r>
                            <a:rPr lang="zh-CN" altLang="en-US"/>
                            <a:t>训练</a:t>
                          </a:r>
                          <a:r>
                            <a:rPr lang="zh-CN" altLang="en-US"/>
                            <a:t>轮数</a:t>
                          </a:r>
                          <a:endParaRPr lang="zh-CN" altLang="en-US"/>
                        </a:p>
                      </a:txBody>
                      <a:tcPr/>
                    </a:tc>
                    <a:tc>
                      <a:txBody>
                        <a:bodyPr/>
                        <a:p>
                          <a:pPr algn="ctr">
                            <a:buNone/>
                          </a:pPr>
                          <a:r>
                            <a:rPr lang="zh-CN" altLang="en-US"/>
                            <a:t>10,000 ∼ 200,000</a:t>
                          </a:r>
                          <a:endParaRPr lang="zh-CN" altLang="en-US"/>
                        </a:p>
                      </a:txBody>
                      <a:tcPr/>
                    </a:tc>
                    <a:tc>
                      <a:txBody>
                        <a:bodyPr/>
                        <a:p>
                          <a:pPr algn="ctr">
                            <a:buNone/>
                          </a:pPr>
                          <a:r>
                            <a:rPr lang="en-US" altLang="zh-CN"/>
                            <a:t>50,000</a:t>
                          </a:r>
                          <a:endParaRPr lang="en-US" altLang="zh-CN"/>
                        </a:p>
                      </a:txBody>
                      <a:tcPr/>
                    </a:tc>
                  </a:tr>
                  <a:tr h="409575">
                    <a:tc>
                      <a:txBody>
                        <a:bodyPr/>
                        <a:p>
                          <a:pPr algn="ctr">
                            <a:buNone/>
                          </a:pPr>
                          <a:r>
                            <a:rPr lang="zh-CN" altLang="en-US"/>
                            <a:t>正则化</a:t>
                          </a:r>
                          <a:r>
                            <a:rPr lang="zh-CN" altLang="en-US"/>
                            <a:t>系数</a:t>
                          </a:r>
                          <a:endParaRPr lang="zh-CN" altLang="en-US"/>
                        </a:p>
                      </a:txBody>
                      <a:tcPr/>
                    </a:tc>
                    <a:tc>
                      <a:txBody>
                        <a:bodyPr/>
                        <a:p>
                          <a:pPr algn="ctr">
                            <a:buNone/>
                          </a:pPr>
                          <a14:m>
                            <m:oMath xmlns:m="http://schemas.openxmlformats.org/officeDocument/2006/math">
                              <m:sSup>
                                <m:sSupPr>
                                  <m:ctrlPr>
                                    <a:rPr lang="en-US" altLang="zh-CN" sz="1800" i="1">
                                      <a:latin typeface="DejaVu Math TeX Gyre" panose="02000503000000000000" charset="0"/>
                                      <a:cs typeface="DejaVu Math TeX Gyre" panose="02000503000000000000" charset="0"/>
                                    </a:rPr>
                                  </m:ctrlPr>
                                </m:sSupPr>
                                <m:e>
                                  <m:r>
                                    <a:rPr lang="en-US" altLang="zh-CN" sz="1800" i="1">
                                      <a:latin typeface="DejaVu Math TeX Gyre" panose="02000503000000000000" charset="0"/>
                                      <a:cs typeface="DejaVu Math TeX Gyre" panose="02000503000000000000" charset="0"/>
                                    </a:rPr>
                                    <m:t>10</m:t>
                                  </m:r>
                                </m:e>
                                <m:sup>
                                  <m:r>
                                    <a:rPr lang="en-US" altLang="zh-CN" sz="1800" i="1">
                                      <a:latin typeface="DejaVu Math TeX Gyre" panose="02000503000000000000" charset="0"/>
                                      <a:cs typeface="DejaVu Math TeX Gyre" panose="02000503000000000000" charset="0"/>
                                    </a:rPr>
                                    <m:t>−</m:t>
                                  </m:r>
                                  <m:r>
                                    <a:rPr lang="en-US" altLang="zh-CN" sz="1800" i="1">
                                      <a:latin typeface="DejaVu Math TeX Gyre" panose="02000503000000000000" charset="0"/>
                                      <a:cs typeface="DejaVu Math TeX Gyre" panose="02000503000000000000" charset="0"/>
                                    </a:rPr>
                                    <m:t>10</m:t>
                                  </m:r>
                                </m:sup>
                              </m:sSup>
                            </m:oMath>
                          </a14:m>
                          <a:r>
                            <a:rPr lang="zh-CN" altLang="en-US" sz="1800">
                              <a:latin typeface="DejaVu Math TeX Gyre" panose="02000503000000000000" charset="0"/>
                              <a:cs typeface="DejaVu Math TeX Gyre" panose="02000503000000000000" charset="0"/>
                              <a:sym typeface="+mn-ea"/>
                            </a:rPr>
                            <a:t>～</a:t>
                          </a:r>
                          <a14:m>
                            <m:oMath xmlns:m="http://schemas.openxmlformats.org/officeDocument/2006/math">
                              <m:sSup>
                                <m:sSupPr>
                                  <m:ctrlPr>
                                    <a:rPr lang="en-US" altLang="zh-CN" sz="1800" b="0" i="1">
                                      <a:latin typeface="DejaVu Math TeX Gyre" panose="02000503000000000000" charset="0"/>
                                      <a:cs typeface="DejaVu Math TeX Gyre" panose="02000503000000000000" charset="0"/>
                                    </a:rPr>
                                  </m:ctrlPr>
                                </m:sSupPr>
                                <m:e>
                                  <m:r>
                                    <a:rPr lang="en-US" altLang="zh-CN" sz="1800" b="0" i="1">
                                      <a:latin typeface="DejaVu Math TeX Gyre" panose="02000503000000000000" charset="0"/>
                                      <a:cs typeface="DejaVu Math TeX Gyre" panose="02000503000000000000" charset="0"/>
                                    </a:rPr>
                                    <m:t>10</m:t>
                                  </m:r>
                                </m:e>
                                <m:sup>
                                  <m:r>
                                    <a:rPr lang="en-US" altLang="zh-CN" sz="1800" b="0" i="1">
                                      <a:latin typeface="DejaVu Math TeX Gyre" panose="02000503000000000000" charset="0"/>
                                      <a:cs typeface="DejaVu Math TeX Gyre" panose="02000503000000000000" charset="0"/>
                                    </a:rPr>
                                    <m:t>−</m:t>
                                  </m:r>
                                  <m:r>
                                    <a:rPr lang="en-US" altLang="zh-CN" sz="1800" b="0" i="1">
                                      <a:latin typeface="DejaVu Math TeX Gyre" panose="02000503000000000000" charset="0"/>
                                      <a:cs typeface="DejaVu Math TeX Gyre" panose="02000503000000000000" charset="0"/>
                                    </a:rPr>
                                    <m:t>1</m:t>
                                  </m:r>
                                </m:sup>
                              </m:sSup>
                            </m:oMath>
                          </a14:m>
                          <a:endParaRPr lang="zh-CN" altLang="en-US"/>
                        </a:p>
                      </a:txBody>
                      <a:tcPr/>
                    </a:tc>
                    <a:tc>
                      <a:txBody>
                        <a:bodyPr/>
                        <a:p>
                          <a:pPr algn="ctr">
                            <a:buNone/>
                          </a:pPr>
                          <a14:m>
                            <m:oMathPara xmlns:m="http://schemas.openxmlformats.org/officeDocument/2006/math">
                              <m:oMathParaPr>
                                <m:jc m:val="centerGroup"/>
                              </m:oMathParaPr>
                              <m:oMath xmlns:m="http://schemas.openxmlformats.org/officeDocument/2006/math">
                                <m:sSup>
                                  <m:sSupPr>
                                    <m:ctrlPr>
                                      <a:rPr lang="en-US" altLang="zh-CN" sz="1800" i="1">
                                        <a:latin typeface="DejaVu Math TeX Gyre" panose="02000503000000000000" charset="0"/>
                                        <a:cs typeface="DejaVu Math TeX Gyre" panose="02000503000000000000" charset="0"/>
                                      </a:rPr>
                                    </m:ctrlPr>
                                  </m:sSupPr>
                                  <m:e>
                                    <m:r>
                                      <a:rPr lang="en-US" altLang="zh-CN" sz="1800" i="1">
                                        <a:latin typeface="DejaVu Math TeX Gyre" panose="02000503000000000000" charset="0"/>
                                        <a:cs typeface="DejaVu Math TeX Gyre" panose="02000503000000000000" charset="0"/>
                                      </a:rPr>
                                      <m:t>10</m:t>
                                    </m:r>
                                  </m:e>
                                  <m:sup>
                                    <m:r>
                                      <a:rPr lang="en-US" altLang="zh-CN" sz="1800" i="1">
                                        <a:latin typeface="DejaVu Math TeX Gyre" panose="02000503000000000000" charset="0"/>
                                        <a:cs typeface="DejaVu Math TeX Gyre" panose="02000503000000000000" charset="0"/>
                                      </a:rPr>
                                      <m:t>−</m:t>
                                    </m:r>
                                    <m:r>
                                      <a:rPr lang="en-US" altLang="zh-CN" sz="1800" i="1">
                                        <a:latin typeface="DejaVu Math TeX Gyre" panose="02000503000000000000" charset="0"/>
                                        <a:cs typeface="DejaVu Math TeX Gyre" panose="02000503000000000000" charset="0"/>
                                      </a:rPr>
                                      <m:t>5</m:t>
                                    </m:r>
                                  </m:sup>
                                </m:sSup>
                              </m:oMath>
                            </m:oMathPara>
                          </a14:m>
                          <a:endParaRPr lang="zh-CN" altLang="en-US"/>
                        </a:p>
                      </a:txBody>
                      <a:tcPr/>
                    </a:tc>
                  </a:tr>
                  <a:tr h="407035">
                    <a:tc>
                      <a:txBody>
                        <a:bodyPr/>
                        <a:p>
                          <a:pPr algn="ctr">
                            <a:buNone/>
                          </a:pPr>
                          <a:r>
                            <a:rPr lang="zh-CN" altLang="en-US"/>
                            <a:t>损失</a:t>
                          </a:r>
                          <a:r>
                            <a:rPr lang="zh-CN" altLang="en-US"/>
                            <a:t>权重</a:t>
                          </a:r>
                          <a:endParaRPr lang="zh-CN" altLang="en-US"/>
                        </a:p>
                      </a:txBody>
                      <a:tcPr/>
                    </a:tc>
                    <a:tc>
                      <a:txBody>
                        <a:bodyPr/>
                        <a:p>
                          <a:pPr algn="ctr">
                            <a:buNone/>
                          </a:pPr>
                          <a14:m>
                            <m:oMath xmlns:m="http://schemas.openxmlformats.org/officeDocument/2006/math">
                              <m:sSup>
                                <m:sSupPr>
                                  <m:ctrlPr>
                                    <a:rPr lang="en-US" altLang="zh-CN" sz="1800" i="1">
                                      <a:latin typeface="DejaVu Math TeX Gyre" panose="02000503000000000000" charset="0"/>
                                      <a:cs typeface="DejaVu Math TeX Gyre" panose="02000503000000000000" charset="0"/>
                                    </a:rPr>
                                  </m:ctrlPr>
                                </m:sSupPr>
                                <m:e>
                                  <m:r>
                                    <a:rPr lang="en-US" altLang="zh-CN" sz="1800" i="1">
                                      <a:latin typeface="DejaVu Math TeX Gyre" panose="02000503000000000000" charset="0"/>
                                      <a:cs typeface="DejaVu Math TeX Gyre" panose="02000503000000000000" charset="0"/>
                                    </a:rPr>
                                    <m:t>10</m:t>
                                  </m:r>
                                </m:e>
                                <m:sup>
                                  <m:r>
                                    <a:rPr lang="en-US" altLang="zh-CN" sz="1800" i="1">
                                      <a:latin typeface="DejaVu Math TeX Gyre" panose="02000503000000000000" charset="0"/>
                                      <a:cs typeface="DejaVu Math TeX Gyre" panose="02000503000000000000" charset="0"/>
                                    </a:rPr>
                                    <m:t>−</m:t>
                                  </m:r>
                                  <m:r>
                                    <a:rPr lang="en-US" altLang="zh-CN" sz="1800" i="1">
                                      <a:latin typeface="DejaVu Math TeX Gyre" panose="02000503000000000000" charset="0"/>
                                      <a:cs typeface="DejaVu Math TeX Gyre" panose="02000503000000000000" charset="0"/>
                                    </a:rPr>
                                    <m:t>5</m:t>
                                  </m:r>
                                </m:sup>
                              </m:sSup>
                            </m:oMath>
                          </a14:m>
                          <a:r>
                            <a:rPr lang="zh-CN" altLang="en-US" sz="1800">
                              <a:latin typeface="DejaVu Math TeX Gyre" panose="02000503000000000000" charset="0"/>
                              <a:cs typeface="DejaVu Math TeX Gyre" panose="02000503000000000000" charset="0"/>
                              <a:sym typeface="+mn-ea"/>
                            </a:rPr>
                            <a:t>～</a:t>
                          </a:r>
                          <a14:m>
                            <m:oMath xmlns:m="http://schemas.openxmlformats.org/officeDocument/2006/math">
                              <m:r>
                                <a:rPr lang="en-US" altLang="zh-CN" sz="1800" b="0" i="1">
                                  <a:latin typeface="DejaVu Math TeX Gyre" panose="02000503000000000000" charset="0"/>
                                  <a:cs typeface="DejaVu Math TeX Gyre" panose="02000503000000000000" charset="0"/>
                                </a:rPr>
                                <m:t>1</m:t>
                              </m:r>
                            </m:oMath>
                          </a14:m>
                          <a:endParaRPr lang="zh-CN" altLang="en-US"/>
                        </a:p>
                      </a:txBody>
                      <a:tcPr/>
                    </a:tc>
                    <a:tc>
                      <a:txBody>
                        <a:bodyPr/>
                        <a:p>
                          <a:pPr algn="ctr">
                            <a:buNone/>
                          </a:pPr>
                          <a:r>
                            <a:rPr lang="en-US" altLang="zh-CN"/>
                            <a:t>0.1</a:t>
                          </a:r>
                          <a:endParaRPr lang="en-US" altLang="zh-CN"/>
                        </a:p>
                      </a:txBody>
                      <a:tcPr/>
                    </a:tc>
                  </a:tr>
                </a:tbl>
              </a:graphicData>
            </a:graphic>
          </p:graphicFrame>
        </mc:Choice>
        <mc:Fallback xmlns="">
          <p:graphicFrame>
            <p:nvGraphicFramePr>
              <p:cNvPr id="4" name="表格 3"/>
              <p:cNvGraphicFramePr/>
              <p:nvPr/>
            </p:nvGraphicFramePr>
            <p:xfrm>
              <a:off x="1400175" y="3472180"/>
              <a:ext cx="9391650" cy="2807970"/>
            </p:xfrm>
            <a:graphic>
              <a:graphicData uri="http://schemas.openxmlformats.org/drawingml/2006/table">
                <a:tbl>
                  <a:tblPr firstRow="1" bandRow="1">
                    <a:tableStyleId>{5C22544A-7EE6-4342-B048-85BDC9FD1C3A}</a:tableStyleId>
                  </a:tblPr>
                  <a:tblGrid>
                    <a:gridCol w="3130550"/>
                    <a:gridCol w="3130550"/>
                    <a:gridCol w="3130550"/>
                  </a:tblGrid>
                  <a:tr h="391795">
                    <a:tc>
                      <a:txBody>
                        <a:bodyPr/>
                        <a:p>
                          <a:pPr algn="ctr">
                            <a:buNone/>
                          </a:pPr>
                          <a:r>
                            <a:rPr lang="zh-CN" altLang="en-US"/>
                            <a:t>超参数</a:t>
                          </a:r>
                          <a:endParaRPr lang="zh-CN" altLang="en-US"/>
                        </a:p>
                      </a:txBody>
                      <a:tcPr/>
                    </a:tc>
                    <a:tc>
                      <a:txBody>
                        <a:bodyPr/>
                        <a:p>
                          <a:pPr algn="ctr">
                            <a:buNone/>
                          </a:pPr>
                          <a:r>
                            <a:rPr lang="zh-CN" altLang="en-US"/>
                            <a:t>搜索范围</a:t>
                          </a:r>
                          <a:endParaRPr lang="zh-CN" altLang="en-US"/>
                        </a:p>
                      </a:txBody>
                      <a:tcPr/>
                    </a:tc>
                    <a:tc>
                      <a:txBody>
                        <a:bodyPr/>
                        <a:p>
                          <a:pPr algn="ctr">
                            <a:buNone/>
                          </a:pPr>
                          <a:r>
                            <a:rPr lang="zh-CN" altLang="en-US"/>
                            <a:t>最终</a:t>
                          </a:r>
                          <a:r>
                            <a:rPr lang="zh-CN" altLang="en-US"/>
                            <a:t>选择</a:t>
                          </a:r>
                          <a:endParaRPr lang="zh-CN" altLang="en-US"/>
                        </a:p>
                      </a:txBody>
                      <a:tcPr/>
                    </a:tc>
                  </a:tr>
                  <a:tr h="408305">
                    <a:tc>
                      <a:txBody>
                        <a:bodyPr/>
                        <a:p>
                          <a:pPr algn="ctr">
                            <a:buNone/>
                          </a:pPr>
                          <a:r>
                            <a:rPr lang="zh-CN" altLang="en-US"/>
                            <a:t>学习率</a:t>
                          </a:r>
                          <a:endParaRPr lang="zh-CN" altLang="en-US"/>
                        </a:p>
                      </a:txBody>
                      <a:tcPr/>
                    </a:tc>
                    <a:tc>
                      <a:txBody>
                        <a:bodyPr/>
                        <a:lstStyle/>
                        <a:p>
                          <a:endParaRPr lang="zh-CN"/>
                        </a:p>
                      </a:txBody>
                      <a:tcPr>
                        <a:blipFill>
                          <a:blip r:embed="rId4"/>
                        </a:blipFill>
                      </a:tcPr>
                    </a:tc>
                    <a:tc>
                      <a:txBody>
                        <a:bodyPr/>
                        <a:lstStyle/>
                        <a:p>
                          <a:endParaRPr lang="zh-CN"/>
                        </a:p>
                      </a:txBody>
                      <a:tcPr>
                        <a:blipFill>
                          <a:blip r:embed="rId4"/>
                        </a:blipFill>
                      </a:tcPr>
                    </a:tc>
                  </a:tr>
                  <a:tr h="391795">
                    <a:tc>
                      <a:txBody>
                        <a:bodyPr/>
                        <a:p>
                          <a:pPr algn="ctr">
                            <a:buNone/>
                          </a:pPr>
                          <a:r>
                            <a:rPr lang="zh-CN" altLang="en-US"/>
                            <a:t>隐藏</a:t>
                          </a:r>
                          <a:r>
                            <a:rPr lang="zh-CN" altLang="en-US"/>
                            <a:t>层数</a:t>
                          </a:r>
                          <a:endParaRPr lang="zh-CN" altLang="en-US"/>
                        </a:p>
                      </a:txBody>
                      <a:tcPr/>
                    </a:tc>
                    <a:tc>
                      <a:txBody>
                        <a:bodyPr/>
                        <a:p>
                          <a:pPr algn="ctr">
                            <a:buNone/>
                          </a:pPr>
                          <a:r>
                            <a:rPr lang="en-US" altLang="zh-CN"/>
                            <a:t>2</a:t>
                          </a:r>
                          <a:r>
                            <a:rPr lang="zh-CN" altLang="en-US"/>
                            <a:t>～</a:t>
                          </a:r>
                          <a:r>
                            <a:rPr lang="en-US" altLang="zh-CN"/>
                            <a:t>5</a:t>
                          </a:r>
                          <a:endParaRPr lang="en-US" altLang="zh-CN"/>
                        </a:p>
                      </a:txBody>
                      <a:tcPr/>
                    </a:tc>
                    <a:tc>
                      <a:txBody>
                        <a:bodyPr/>
                        <a:p>
                          <a:pPr algn="ctr">
                            <a:buNone/>
                          </a:pPr>
                          <a:r>
                            <a:rPr lang="en-US" altLang="zh-CN"/>
                            <a:t>3</a:t>
                          </a:r>
                          <a:endParaRPr lang="en-US" altLang="zh-CN"/>
                        </a:p>
                      </a:txBody>
                      <a:tcPr/>
                    </a:tc>
                  </a:tr>
                  <a:tr h="391795">
                    <a:tc>
                      <a:txBody>
                        <a:bodyPr/>
                        <a:p>
                          <a:pPr algn="ctr">
                            <a:buNone/>
                          </a:pPr>
                          <a:r>
                            <a:rPr lang="zh-CN" altLang="en-US"/>
                            <a:t>每层</a:t>
                          </a:r>
                          <a:r>
                            <a:rPr lang="zh-CN" altLang="en-US"/>
                            <a:t>神经元</a:t>
                          </a:r>
                          <a:endParaRPr lang="zh-CN" altLang="en-US"/>
                        </a:p>
                      </a:txBody>
                      <a:tcPr/>
                    </a:tc>
                    <a:tc>
                      <a:txBody>
                        <a:bodyPr/>
                        <a:p>
                          <a:pPr algn="ctr">
                            <a:buNone/>
                          </a:pPr>
                          <a:r>
                            <a:rPr lang="en-US" altLang="zh-CN"/>
                            <a:t>20</a:t>
                          </a:r>
                          <a:r>
                            <a:rPr lang="zh-CN" altLang="en-US"/>
                            <a:t>～</a:t>
                          </a:r>
                          <a:r>
                            <a:rPr lang="en-US" altLang="zh-CN"/>
                            <a:t>100</a:t>
                          </a:r>
                          <a:endParaRPr lang="en-US" altLang="zh-CN"/>
                        </a:p>
                      </a:txBody>
                      <a:tcPr/>
                    </a:tc>
                    <a:tc>
                      <a:txBody>
                        <a:bodyPr/>
                        <a:p>
                          <a:pPr algn="ctr">
                            <a:buNone/>
                          </a:pPr>
                          <a:r>
                            <a:rPr lang="en-US" altLang="zh-CN"/>
                            <a:t>50</a:t>
                          </a:r>
                          <a:endParaRPr lang="en-US" altLang="zh-CN"/>
                        </a:p>
                      </a:txBody>
                      <a:tcPr/>
                    </a:tc>
                  </a:tr>
                  <a:tr h="407670">
                    <a:tc>
                      <a:txBody>
                        <a:bodyPr/>
                        <a:p>
                          <a:pPr algn="ctr">
                            <a:buNone/>
                          </a:pPr>
                          <a:r>
                            <a:rPr lang="zh-CN" altLang="en-US"/>
                            <a:t>训练</a:t>
                          </a:r>
                          <a:r>
                            <a:rPr lang="zh-CN" altLang="en-US"/>
                            <a:t>轮数</a:t>
                          </a:r>
                          <a:endParaRPr lang="zh-CN" altLang="en-US"/>
                        </a:p>
                      </a:txBody>
                      <a:tcPr/>
                    </a:tc>
                    <a:tc>
                      <a:txBody>
                        <a:bodyPr/>
                        <a:p>
                          <a:pPr algn="ctr">
                            <a:buNone/>
                          </a:pPr>
                          <a:r>
                            <a:rPr lang="zh-CN" altLang="en-US"/>
                            <a:t>10,000 ∼ 200,000</a:t>
                          </a:r>
                          <a:endParaRPr lang="zh-CN" altLang="en-US"/>
                        </a:p>
                      </a:txBody>
                      <a:tcPr/>
                    </a:tc>
                    <a:tc>
                      <a:txBody>
                        <a:bodyPr/>
                        <a:p>
                          <a:pPr algn="ctr">
                            <a:buNone/>
                          </a:pPr>
                          <a:r>
                            <a:rPr lang="en-US" altLang="zh-CN"/>
                            <a:t>50,000</a:t>
                          </a:r>
                          <a:endParaRPr lang="en-US" altLang="zh-CN"/>
                        </a:p>
                      </a:txBody>
                      <a:tcPr/>
                    </a:tc>
                  </a:tr>
                  <a:tr h="409575">
                    <a:tc>
                      <a:txBody>
                        <a:bodyPr/>
                        <a:p>
                          <a:pPr algn="ctr">
                            <a:buNone/>
                          </a:pPr>
                          <a:r>
                            <a:rPr lang="zh-CN" altLang="en-US"/>
                            <a:t>正则化</a:t>
                          </a:r>
                          <a:r>
                            <a:rPr lang="zh-CN" altLang="en-US"/>
                            <a:t>系数</a:t>
                          </a:r>
                          <a:endParaRPr lang="zh-CN" altLang="en-US"/>
                        </a:p>
                      </a:txBody>
                      <a:tcPr/>
                    </a:tc>
                    <a:tc>
                      <a:txBody>
                        <a:bodyPr/>
                        <a:lstStyle/>
                        <a:p>
                          <a:endParaRPr lang="zh-CN"/>
                        </a:p>
                      </a:txBody>
                      <a:tcPr>
                        <a:blipFill>
                          <a:blip r:embed="rId4"/>
                        </a:blipFill>
                      </a:tcPr>
                    </a:tc>
                    <a:tc>
                      <a:txBody>
                        <a:bodyPr/>
                        <a:lstStyle/>
                        <a:p>
                          <a:endParaRPr lang="zh-CN"/>
                        </a:p>
                      </a:txBody>
                      <a:tcPr>
                        <a:blipFill>
                          <a:blip r:embed="rId4"/>
                        </a:blipFill>
                      </a:tcPr>
                    </a:tc>
                  </a:tr>
                  <a:tr h="407035">
                    <a:tc>
                      <a:txBody>
                        <a:bodyPr/>
                        <a:p>
                          <a:pPr algn="ctr">
                            <a:buNone/>
                          </a:pPr>
                          <a:r>
                            <a:rPr lang="zh-CN" altLang="en-US"/>
                            <a:t>损失</a:t>
                          </a:r>
                          <a:r>
                            <a:rPr lang="zh-CN" altLang="en-US"/>
                            <a:t>权重</a:t>
                          </a:r>
                          <a:endParaRPr lang="zh-CN" altLang="en-US"/>
                        </a:p>
                      </a:txBody>
                      <a:tcPr/>
                    </a:tc>
                    <a:tc>
                      <a:txBody>
                        <a:bodyPr/>
                        <a:lstStyle/>
                        <a:p>
                          <a:endParaRPr lang="zh-CN"/>
                        </a:p>
                      </a:txBody>
                      <a:tcPr>
                        <a:blipFill>
                          <a:blip r:embed="rId4"/>
                        </a:blipFill>
                      </a:tcPr>
                    </a:tc>
                    <a:tc>
                      <a:txBody>
                        <a:bodyPr/>
                        <a:p>
                          <a:pPr algn="ctr">
                            <a:buNone/>
                          </a:pPr>
                          <a:r>
                            <a:rPr lang="en-US" altLang="zh-CN"/>
                            <a:t>0.1</a:t>
                          </a:r>
                          <a:endParaRPr lang="en-US" altLang="zh-CN"/>
                        </a:p>
                      </a:txBody>
                      <a:tcPr/>
                    </a:tc>
                  </a:tr>
                </a:tbl>
              </a:graphicData>
            </a:graphic>
          </p:graphicFrame>
        </mc:Fallback>
      </mc:AlternateContent>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占位符 1"/>
          <p:cNvSpPr>
            <a:spLocks noGrp="1"/>
          </p:cNvSpPr>
          <p:nvPr>
            <p:custDataLst>
              <p:tags r:id="rId1"/>
            </p:custDataLst>
          </p:nvPr>
        </p:nvSpPr>
        <p:spPr>
          <a:xfrm>
            <a:off x="522605" y="190703"/>
            <a:ext cx="6464300" cy="511175"/>
          </a:xfrm>
          <a:prstGeom prst="rect">
            <a:avLst/>
          </a:prstGeom>
        </p:spPr>
        <p:txBody>
          <a:bodyPr/>
          <a:lstStyle>
            <a:lvl1pPr marL="0" indent="0" algn="l" defTabSz="914400" rtl="0" eaLnBrk="1" latinLnBrk="0" hangingPunct="1">
              <a:lnSpc>
                <a:spcPct val="90000"/>
              </a:lnSpc>
              <a:spcBef>
                <a:spcPts val="1000"/>
              </a:spcBef>
              <a:buFont typeface="Arial" panose="020B0604020202090204" pitchFamily="34" charset="0"/>
              <a:buNone/>
              <a:defRPr sz="2400" b="1" kern="1200">
                <a:solidFill>
                  <a:schemeClr val="bg1"/>
                </a:solidFill>
                <a:latin typeface="华文行楷" panose="02010800040101010101" pitchFamily="2" charset="-122"/>
                <a:ea typeface="华文行楷"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zh-CN" altLang="en-US" sz="3200">
                <a:latin typeface="宋体" charset="0"/>
                <a:ea typeface="宋体" charset="0"/>
              </a:rPr>
              <a:t>结果</a:t>
            </a:r>
            <a:endParaRPr lang="zh-CN" altLang="en-US" sz="3200">
              <a:latin typeface="宋体" charset="0"/>
              <a:ea typeface="宋体" charset="0"/>
            </a:endParaRPr>
          </a:p>
        </p:txBody>
      </p:sp>
      <p:sp>
        <p:nvSpPr>
          <p:cNvPr id="4" name="文本框 3"/>
          <p:cNvSpPr txBox="1"/>
          <p:nvPr/>
        </p:nvSpPr>
        <p:spPr>
          <a:xfrm>
            <a:off x="379095" y="918210"/>
            <a:ext cx="4064000" cy="583565"/>
          </a:xfrm>
          <a:prstGeom prst="rect">
            <a:avLst/>
          </a:prstGeom>
          <a:noFill/>
        </p:spPr>
        <p:txBody>
          <a:bodyPr wrap="square" rtlCol="0">
            <a:spAutoFit/>
          </a:bodyPr>
          <a:p>
            <a:r>
              <a:rPr lang="zh-CN" altLang="en-US" sz="3200" b="1">
                <a:latin typeface="宋体" charset="0"/>
                <a:ea typeface="宋体" charset="0"/>
              </a:rPr>
              <a:t>点预测</a:t>
            </a:r>
            <a:endParaRPr lang="zh-CN" altLang="en-US" sz="3200" b="1">
              <a:latin typeface="宋体" charset="0"/>
              <a:ea typeface="宋体" charset="0"/>
            </a:endParaRPr>
          </a:p>
        </p:txBody>
      </p:sp>
      <p:sp>
        <p:nvSpPr>
          <p:cNvPr id="5" name="文本框 4"/>
          <p:cNvSpPr txBox="1"/>
          <p:nvPr/>
        </p:nvSpPr>
        <p:spPr>
          <a:xfrm>
            <a:off x="0" y="1596390"/>
            <a:ext cx="4253865" cy="4775835"/>
          </a:xfrm>
          <a:prstGeom prst="rect">
            <a:avLst/>
          </a:prstGeom>
          <a:noFill/>
        </p:spPr>
        <p:txBody>
          <a:bodyPr wrap="square" rtlCol="0">
            <a:noAutofit/>
          </a:bodyPr>
          <a:p>
            <a:pPr indent="482600" algn="just" fontAlgn="auto">
              <a:lnSpc>
                <a:spcPts val="2400"/>
              </a:lnSpc>
              <a:extLst>
                <a:ext uri="{35155182-B16C-46BC-9424-99874614C6A1}">
                  <wpsdc:indentchars xmlns:wpsdc="http://www.wps.cn/officeDocument/2017/drawingmlCustomData" val="200" checksum="2980959856"/>
                </a:ext>
              </a:extLst>
            </a:pPr>
            <a:r>
              <a:rPr lang="zh-CN" altLang="en-US" sz="1900">
                <a:latin typeface="宋体" charset="0"/>
                <a:ea typeface="宋体" charset="0"/>
                <a:cs typeface="宋体" charset="0"/>
              </a:rPr>
              <a:t>预测结果表明PINNs的输出与观察到的目标值一致，并且在所有预测范围内都比朴素模型的预测更准确。此外，PINNs在大多数时候比GISST表现更优。结果还表明，一周前的预测是最可靠的，随后两周、三周和四周的预测准确性逐渐下降。随着预测范围的增加，预测值倾向于与真实值偏差更大，同时预测曲线的波动也更大。</a:t>
            </a:r>
            <a:endParaRPr lang="zh-CN" altLang="en-US" sz="1900">
              <a:latin typeface="宋体" charset="0"/>
              <a:ea typeface="宋体" charset="0"/>
              <a:cs typeface="宋体" charset="0"/>
            </a:endParaRPr>
          </a:p>
          <a:p>
            <a:pPr indent="482600" algn="just" fontAlgn="auto">
              <a:lnSpc>
                <a:spcPts val="2400"/>
              </a:lnSpc>
              <a:extLst>
                <a:ext uri="{35155182-B16C-46BC-9424-99874614C6A1}">
                  <wpsdc:indentchars xmlns:wpsdc="http://www.wps.cn/officeDocument/2017/drawingmlCustomData" val="200" checksum="2980959856"/>
                </a:ext>
              </a:extLst>
            </a:pPr>
            <a:r>
              <a:rPr lang="zh-CN" altLang="en-US" sz="1900">
                <a:latin typeface="宋体" charset="0"/>
                <a:ea typeface="宋体" charset="0"/>
                <a:cs typeface="宋体" charset="0"/>
              </a:rPr>
              <a:t>PINNs的所有MASE分数均不超过1.0，这表明PINNs在所有预测范围内都持续优于朴素模型。在三个状态变量中，死亡数的MASE分数通常高于病例和住院数，这可能是由于原始死亡数据中变异性和大小的波动更大。</a:t>
            </a:r>
            <a:endParaRPr lang="zh-CN" altLang="en-US" sz="1900">
              <a:latin typeface="宋体" charset="0"/>
              <a:ea typeface="宋体" charset="0"/>
              <a:cs typeface="宋体" charset="0"/>
            </a:endParaRPr>
          </a:p>
        </p:txBody>
      </p:sp>
      <p:pic>
        <p:nvPicPr>
          <p:cNvPr id="6" name="图片 5"/>
          <p:cNvPicPr>
            <a:picLocks noChangeAspect="1"/>
          </p:cNvPicPr>
          <p:nvPr>
            <p:custDataLst>
              <p:tags r:id="rId2"/>
            </p:custDataLst>
          </p:nvPr>
        </p:nvPicPr>
        <p:blipFill>
          <a:blip r:embed="rId3"/>
          <a:stretch>
            <a:fillRect/>
          </a:stretch>
        </p:blipFill>
        <p:spPr>
          <a:xfrm>
            <a:off x="4290695" y="1316990"/>
            <a:ext cx="7786370" cy="48012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占位符 1"/>
          <p:cNvSpPr>
            <a:spLocks noGrp="1"/>
          </p:cNvSpPr>
          <p:nvPr>
            <p:custDataLst>
              <p:tags r:id="rId1"/>
            </p:custDataLst>
          </p:nvPr>
        </p:nvSpPr>
        <p:spPr>
          <a:xfrm>
            <a:off x="522605" y="190703"/>
            <a:ext cx="6464300" cy="511175"/>
          </a:xfrm>
          <a:prstGeom prst="rect">
            <a:avLst/>
          </a:prstGeom>
        </p:spPr>
        <p:txBody>
          <a:bodyPr/>
          <a:lstStyle>
            <a:lvl1pPr marL="0" indent="0" algn="l" defTabSz="914400" rtl="0" eaLnBrk="1" latinLnBrk="0" hangingPunct="1">
              <a:lnSpc>
                <a:spcPct val="90000"/>
              </a:lnSpc>
              <a:spcBef>
                <a:spcPts val="1000"/>
              </a:spcBef>
              <a:buFont typeface="Arial" panose="020B0604020202090204" pitchFamily="34" charset="0"/>
              <a:buNone/>
              <a:defRPr sz="2400" b="1" kern="1200">
                <a:solidFill>
                  <a:schemeClr val="bg1"/>
                </a:solidFill>
                <a:latin typeface="华文行楷" panose="02010800040101010101" pitchFamily="2" charset="-122"/>
                <a:ea typeface="华文行楷"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zh-CN" altLang="en-US" sz="3200">
                <a:latin typeface="宋体" charset="0"/>
                <a:ea typeface="宋体" charset="0"/>
              </a:rPr>
              <a:t>结果</a:t>
            </a:r>
            <a:endParaRPr lang="zh-CN" altLang="en-US" sz="3200">
              <a:latin typeface="宋体" charset="0"/>
              <a:ea typeface="宋体" charset="0"/>
            </a:endParaRPr>
          </a:p>
        </p:txBody>
      </p:sp>
      <p:sp>
        <p:nvSpPr>
          <p:cNvPr id="4" name="文本框 3"/>
          <p:cNvSpPr txBox="1"/>
          <p:nvPr/>
        </p:nvSpPr>
        <p:spPr>
          <a:xfrm>
            <a:off x="379095" y="918210"/>
            <a:ext cx="4064000" cy="583565"/>
          </a:xfrm>
          <a:prstGeom prst="rect">
            <a:avLst/>
          </a:prstGeom>
          <a:noFill/>
        </p:spPr>
        <p:txBody>
          <a:bodyPr wrap="square" rtlCol="0">
            <a:spAutoFit/>
          </a:bodyPr>
          <a:p>
            <a:r>
              <a:rPr lang="zh-CN" altLang="en-US" sz="3200" b="1">
                <a:latin typeface="宋体" charset="0"/>
                <a:ea typeface="宋体" charset="0"/>
              </a:rPr>
              <a:t>区间预测</a:t>
            </a:r>
            <a:endParaRPr lang="zh-CN" altLang="en-US" sz="3200" b="1">
              <a:latin typeface="宋体" charset="0"/>
              <a:ea typeface="宋体" charset="0"/>
            </a:endParaRPr>
          </a:p>
        </p:txBody>
      </p:sp>
      <p:sp>
        <p:nvSpPr>
          <p:cNvPr id="5" name="文本框 4"/>
          <p:cNvSpPr txBox="1"/>
          <p:nvPr/>
        </p:nvSpPr>
        <p:spPr>
          <a:xfrm>
            <a:off x="189230" y="1812925"/>
            <a:ext cx="4601845" cy="4775835"/>
          </a:xfrm>
          <a:prstGeom prst="rect">
            <a:avLst/>
          </a:prstGeom>
          <a:noFill/>
        </p:spPr>
        <p:txBody>
          <a:bodyPr wrap="square" rtlCol="0">
            <a:noAutofit/>
          </a:bodyPr>
          <a:p>
            <a:pPr indent="482600" algn="just" fontAlgn="auto">
              <a:lnSpc>
                <a:spcPts val="2400"/>
              </a:lnSpc>
              <a:extLst>
                <a:ext uri="{35155182-B16C-46BC-9424-99874614C6A1}">
                  <wpsdc:indentchars xmlns:wpsdc="http://www.wps.cn/officeDocument/2017/drawingmlCustomData" val="200" checksum="2980959856"/>
                </a:ext>
              </a:extLst>
            </a:pPr>
            <a:r>
              <a:rPr lang="zh-CN" altLang="en-US" sz="1900">
                <a:latin typeface="宋体" charset="0"/>
                <a:ea typeface="宋体" charset="0"/>
                <a:cs typeface="宋体" charset="0"/>
              </a:rPr>
              <a:t>对于每组1到4周的预测，随着预测范围的扩大，代表分位数=0.5的中位数预测点逐渐偏离真实值。相应地，代表预测不确定性的浅蓝色区域随着预测范围的延长而扩大。</a:t>
            </a:r>
            <a:r>
              <a:rPr lang="zh-CN" altLang="en-US" sz="1900">
                <a:latin typeface="宋体" charset="0"/>
                <a:ea typeface="宋体" charset="0"/>
                <a:cs typeface="宋体" charset="0"/>
              </a:rPr>
              <a:t>说明随着预测范围的增加，预测精度降低，不确定性增加。</a:t>
            </a:r>
            <a:endParaRPr lang="zh-CN" altLang="en-US" sz="1900">
              <a:latin typeface="宋体" charset="0"/>
              <a:ea typeface="宋体" charset="0"/>
              <a:cs typeface="宋体" charset="0"/>
            </a:endParaRPr>
          </a:p>
          <a:p>
            <a:pPr indent="482600" algn="just" fontAlgn="auto">
              <a:lnSpc>
                <a:spcPts val="2400"/>
              </a:lnSpc>
              <a:extLst>
                <a:ext uri="{35155182-B16C-46BC-9424-99874614C6A1}">
                  <wpsdc:indentchars xmlns:wpsdc="http://www.wps.cn/officeDocument/2017/drawingmlCustomData" val="200" checksum="2980959856"/>
                </a:ext>
              </a:extLst>
            </a:pPr>
            <a:endParaRPr lang="zh-CN" altLang="en-US" sz="1900">
              <a:latin typeface="宋体" charset="0"/>
              <a:ea typeface="宋体" charset="0"/>
              <a:cs typeface="宋体" charset="0"/>
            </a:endParaRPr>
          </a:p>
          <a:p>
            <a:pPr indent="482600" algn="just" fontAlgn="auto">
              <a:lnSpc>
                <a:spcPts val="2400"/>
              </a:lnSpc>
              <a:extLst>
                <a:ext uri="{35155182-B16C-46BC-9424-99874614C6A1}">
                  <wpsdc:indentchars xmlns:wpsdc="http://www.wps.cn/officeDocument/2017/drawingmlCustomData" val="200" checksum="2980959856"/>
                </a:ext>
              </a:extLst>
            </a:pPr>
            <a:r>
              <a:rPr lang="zh-CN" altLang="en-US" sz="1900">
                <a:latin typeface="宋体" charset="0"/>
                <a:ea typeface="宋体" charset="0"/>
                <a:cs typeface="宋体" charset="0"/>
              </a:rPr>
              <a:t>PINNs的</a:t>
            </a:r>
            <a:r>
              <a:rPr lang="en-US" altLang="zh-CN" sz="1900">
                <a:latin typeface="宋体" charset="0"/>
                <a:ea typeface="宋体" charset="0"/>
                <a:cs typeface="宋体" charset="0"/>
              </a:rPr>
              <a:t>WIS</a:t>
            </a:r>
            <a:r>
              <a:rPr lang="zh-CN" altLang="en-US" sz="1900">
                <a:latin typeface="宋体" charset="0"/>
                <a:ea typeface="宋体" charset="0"/>
                <a:cs typeface="宋体" charset="0"/>
              </a:rPr>
              <a:t>通常低于1.0，这表明在大多数预测范围内，PINNs的性能优于朴素基线。唯一的例外是在死亡预测的一周前分位数预测中，PINNs的WIS分数略高于1.0。然而，这种偏差很小，仍然显著低于其他模型的分数。</a:t>
            </a:r>
            <a:endParaRPr lang="zh-CN" altLang="en-US" sz="1900">
              <a:latin typeface="宋体" charset="0"/>
              <a:ea typeface="宋体" charset="0"/>
              <a:cs typeface="宋体" charset="0"/>
            </a:endParaRPr>
          </a:p>
        </p:txBody>
      </p:sp>
      <p:pic>
        <p:nvPicPr>
          <p:cNvPr id="2" name="图片 1"/>
          <p:cNvPicPr>
            <a:picLocks noChangeAspect="1"/>
          </p:cNvPicPr>
          <p:nvPr>
            <p:custDataLst>
              <p:tags r:id="rId2"/>
            </p:custDataLst>
          </p:nvPr>
        </p:nvPicPr>
        <p:blipFill>
          <a:blip r:embed="rId3"/>
          <a:stretch>
            <a:fillRect/>
          </a:stretch>
        </p:blipFill>
        <p:spPr>
          <a:xfrm>
            <a:off x="5014595" y="840105"/>
            <a:ext cx="6929755" cy="55905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3"/>
          </p:nvPr>
        </p:nvSpPr>
        <p:spPr/>
        <p:txBody>
          <a:bodyPr/>
          <a:p>
            <a:r>
              <a:rPr lang="zh-CN" altLang="en-US" sz="3200">
                <a:latin typeface="宋体" charset="0"/>
                <a:ea typeface="宋体" charset="0"/>
              </a:rPr>
              <a:t>结果</a:t>
            </a:r>
            <a:endParaRPr lang="zh-CN" altLang="en-US" sz="3200">
              <a:latin typeface="宋体" charset="0"/>
              <a:ea typeface="宋体" charset="0"/>
            </a:endParaRPr>
          </a:p>
        </p:txBody>
      </p:sp>
      <p:sp>
        <p:nvSpPr>
          <p:cNvPr id="4" name="文本框 3"/>
          <p:cNvSpPr txBox="1"/>
          <p:nvPr>
            <p:custDataLst>
              <p:tags r:id="rId1"/>
            </p:custDataLst>
          </p:nvPr>
        </p:nvSpPr>
        <p:spPr>
          <a:xfrm>
            <a:off x="379095" y="918210"/>
            <a:ext cx="5204460" cy="583565"/>
          </a:xfrm>
          <a:prstGeom prst="rect">
            <a:avLst/>
          </a:prstGeom>
          <a:noFill/>
        </p:spPr>
        <p:txBody>
          <a:bodyPr wrap="square" rtlCol="0">
            <a:spAutoFit/>
          </a:bodyPr>
          <a:p>
            <a:r>
              <a:rPr lang="en-US" altLang="zh-CN" sz="3200" b="1">
                <a:latin typeface="宋体" charset="0"/>
                <a:ea typeface="宋体" charset="0"/>
              </a:rPr>
              <a:t>PINNs</a:t>
            </a:r>
            <a:r>
              <a:rPr lang="zh-CN" altLang="en-US" sz="3200" b="1">
                <a:latin typeface="宋体" charset="0"/>
                <a:ea typeface="宋体" charset="0"/>
              </a:rPr>
              <a:t>与时序深度学习</a:t>
            </a:r>
            <a:r>
              <a:rPr lang="zh-CN" altLang="en-US" sz="3200" b="1">
                <a:latin typeface="宋体" charset="0"/>
                <a:ea typeface="宋体" charset="0"/>
              </a:rPr>
              <a:t>对比</a:t>
            </a:r>
            <a:endParaRPr lang="zh-CN" altLang="en-US" sz="3200" b="1">
              <a:latin typeface="宋体" charset="0"/>
              <a:ea typeface="宋体" charset="0"/>
            </a:endParaRPr>
          </a:p>
        </p:txBody>
      </p:sp>
      <p:sp>
        <p:nvSpPr>
          <p:cNvPr id="5" name="文本框 4"/>
          <p:cNvSpPr txBox="1"/>
          <p:nvPr/>
        </p:nvSpPr>
        <p:spPr>
          <a:xfrm>
            <a:off x="379095" y="1501775"/>
            <a:ext cx="4064000" cy="4855210"/>
          </a:xfrm>
          <a:prstGeom prst="rect">
            <a:avLst/>
          </a:prstGeom>
          <a:noFill/>
        </p:spPr>
        <p:txBody>
          <a:bodyPr wrap="square" rtlCol="0">
            <a:noAutofit/>
          </a:bodyPr>
          <a:p>
            <a:pPr indent="457200" algn="just" fontAlgn="auto">
              <a:lnSpc>
                <a:spcPts val="2400"/>
              </a:lnSpc>
              <a:extLst>
                <a:ext uri="{35155182-B16C-46BC-9424-99874614C6A1}">
                  <wpsdc:indentchars xmlns:wpsdc="http://www.wps.cn/officeDocument/2017/drawingmlCustomData" val="200" checksum="59296752"/>
                </a:ext>
              </a:extLst>
            </a:pPr>
            <a:r>
              <a:rPr lang="zh-CN" altLang="en-US">
                <a:latin typeface="宋体" charset="0"/>
                <a:ea typeface="宋体" charset="0"/>
                <a:cs typeface="宋体" charset="0"/>
              </a:rPr>
              <a:t>PINNs的MASE和WIS得分在每个预测时域上均低于NN的相应得分，这证明了PINNs在点预测和分位数预测方面相对于NN的绝对优势。这可能是由于分室模型的正则化效应。</a:t>
            </a:r>
            <a:endParaRPr lang="zh-CN" altLang="en-US">
              <a:latin typeface="宋体" charset="0"/>
              <a:ea typeface="宋体" charset="0"/>
              <a:cs typeface="宋体" charset="0"/>
            </a:endParaRPr>
          </a:p>
          <a:p>
            <a:pPr indent="457200" algn="just" fontAlgn="auto">
              <a:lnSpc>
                <a:spcPts val="2400"/>
              </a:lnSpc>
              <a:extLst>
                <a:ext uri="{35155182-B16C-46BC-9424-99874614C6A1}">
                  <wpsdc:indentchars xmlns:wpsdc="http://www.wps.cn/officeDocument/2017/drawingmlCustomData" val="200" checksum="59296752"/>
                </a:ext>
              </a:extLst>
            </a:pPr>
            <a:r>
              <a:rPr lang="zh-CN" altLang="en-US">
                <a:latin typeface="宋体" charset="0"/>
                <a:ea typeface="宋体" charset="0"/>
                <a:cs typeface="宋体" charset="0"/>
              </a:rPr>
              <a:t>与PINNs相比，RNN、LSTM、GRU和transformer生成的预测显示出明显的波动，表明过拟合的程度更高。这种对比突出了将物理信息纳入PINNs的优PINNs在点预测的MASE和分位数预测的WIS方面，始终优于所有其他常用的用于时间序列预测的突出NN模型。这些发现强调了将基于物理的领域知识整合到NN模型中对于提高泛化能力和预测准确性的重要性。</a:t>
            </a:r>
            <a:endParaRPr lang="zh-CN" altLang="en-US">
              <a:latin typeface="宋体" charset="0"/>
              <a:ea typeface="宋体" charset="0"/>
              <a:cs typeface="宋体" charset="0"/>
            </a:endParaRPr>
          </a:p>
          <a:p>
            <a:pPr indent="457200" algn="just" fontAlgn="auto">
              <a:lnSpc>
                <a:spcPts val="2400"/>
              </a:lnSpc>
              <a:extLst>
                <a:ext uri="{35155182-B16C-46BC-9424-99874614C6A1}">
                  <wpsdc:indentchars xmlns:wpsdc="http://www.wps.cn/officeDocument/2017/drawingmlCustomData" val="200" checksum="59296752"/>
                </a:ext>
              </a:extLst>
            </a:pPr>
            <a:endParaRPr lang="zh-CN" altLang="en-US">
              <a:latin typeface="宋体" charset="0"/>
              <a:ea typeface="宋体" charset="0"/>
              <a:cs typeface="宋体" charset="0"/>
            </a:endParaRPr>
          </a:p>
        </p:txBody>
      </p:sp>
      <p:pic>
        <p:nvPicPr>
          <p:cNvPr id="6" name="图片 5"/>
          <p:cNvPicPr>
            <a:picLocks noChangeAspect="1"/>
          </p:cNvPicPr>
          <p:nvPr>
            <p:custDataLst>
              <p:tags r:id="rId2"/>
            </p:custDataLst>
          </p:nvPr>
        </p:nvPicPr>
        <p:blipFill>
          <a:blip r:embed="rId3"/>
          <a:stretch>
            <a:fillRect/>
          </a:stretch>
        </p:blipFill>
        <p:spPr>
          <a:xfrm>
            <a:off x="4575810" y="3589655"/>
            <a:ext cx="7501255" cy="2767330"/>
          </a:xfrm>
          <a:prstGeom prst="rect">
            <a:avLst/>
          </a:prstGeom>
        </p:spPr>
      </p:pic>
      <p:pic>
        <p:nvPicPr>
          <p:cNvPr id="7" name="图片 6"/>
          <p:cNvPicPr>
            <a:picLocks noChangeAspect="1"/>
          </p:cNvPicPr>
          <p:nvPr>
            <p:custDataLst>
              <p:tags r:id="rId4"/>
            </p:custDataLst>
          </p:nvPr>
        </p:nvPicPr>
        <p:blipFill>
          <a:blip r:embed="rId5"/>
          <a:stretch>
            <a:fillRect/>
          </a:stretch>
        </p:blipFill>
        <p:spPr>
          <a:xfrm>
            <a:off x="4710430" y="1501775"/>
            <a:ext cx="7240270" cy="48545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443230" y="1539875"/>
            <a:ext cx="11305540" cy="4127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3"/>
          </p:nvPr>
        </p:nvSpPr>
        <p:spPr/>
        <p:txBody>
          <a:bodyPr/>
          <a:p>
            <a:r>
              <a:rPr lang="zh-CN" altLang="en-US" sz="3200">
                <a:latin typeface="宋体" charset="0"/>
                <a:ea typeface="宋体" charset="0"/>
              </a:rPr>
              <a:t>讨论与总结</a:t>
            </a:r>
            <a:endParaRPr lang="zh-CN" altLang="en-US" sz="3200">
              <a:latin typeface="宋体" charset="0"/>
              <a:ea typeface="宋体" charset="0"/>
            </a:endParaRPr>
          </a:p>
        </p:txBody>
      </p:sp>
      <p:graphicFrame>
        <p:nvGraphicFramePr>
          <p:cNvPr id="3" name="表格 2"/>
          <p:cNvGraphicFramePr/>
          <p:nvPr>
            <p:custDataLst>
              <p:tags r:id="rId1"/>
            </p:custDataLst>
          </p:nvPr>
        </p:nvGraphicFramePr>
        <p:xfrm>
          <a:off x="380365" y="860425"/>
          <a:ext cx="11301730" cy="2567940"/>
        </p:xfrm>
        <a:graphic>
          <a:graphicData uri="http://schemas.openxmlformats.org/drawingml/2006/table">
            <a:tbl>
              <a:tblPr firstRow="1" bandRow="1">
                <a:tableStyleId>{5C22544A-7EE6-4342-B048-85BDC9FD1C3A}</a:tableStyleId>
              </a:tblPr>
              <a:tblGrid>
                <a:gridCol w="2671445"/>
                <a:gridCol w="2831465"/>
                <a:gridCol w="2545080"/>
                <a:gridCol w="3253740"/>
              </a:tblGrid>
              <a:tr h="548005">
                <a:tc>
                  <a:txBody>
                    <a:bodyPr/>
                    <a:p>
                      <a:pPr algn="ctr">
                        <a:buNone/>
                      </a:pPr>
                      <a:r>
                        <a:rPr lang="zh-CN" altLang="en-US" sz="2400">
                          <a:latin typeface="宋体" charset="0"/>
                          <a:ea typeface="宋体" charset="0"/>
                        </a:rPr>
                        <a:t>模型</a:t>
                      </a:r>
                      <a:endParaRPr lang="zh-CN" altLang="en-US" sz="2400">
                        <a:latin typeface="宋体" charset="0"/>
                        <a:ea typeface="宋体" charset="0"/>
                      </a:endParaRPr>
                    </a:p>
                  </a:txBody>
                  <a:tcPr anchor="ctr" anchorCtr="0"/>
                </a:tc>
                <a:tc>
                  <a:txBody>
                    <a:bodyPr/>
                    <a:p>
                      <a:pPr algn="ctr">
                        <a:buNone/>
                      </a:pPr>
                      <a:r>
                        <a:rPr lang="zh-CN" altLang="en-US" sz="2400">
                          <a:latin typeface="宋体" charset="0"/>
                          <a:ea typeface="宋体" charset="0"/>
                        </a:rPr>
                        <a:t>方法</a:t>
                      </a:r>
                      <a:endParaRPr lang="zh-CN" altLang="en-US" sz="2400">
                        <a:latin typeface="宋体" charset="0"/>
                        <a:ea typeface="宋体" charset="0"/>
                      </a:endParaRPr>
                    </a:p>
                  </a:txBody>
                  <a:tcPr anchor="ctr" anchorCtr="0"/>
                </a:tc>
                <a:tc>
                  <a:txBody>
                    <a:bodyPr/>
                    <a:p>
                      <a:pPr algn="ctr">
                        <a:buNone/>
                      </a:pPr>
                      <a:r>
                        <a:rPr lang="zh-CN" altLang="en-US" sz="2400">
                          <a:latin typeface="宋体" charset="0"/>
                          <a:ea typeface="宋体" charset="0"/>
                        </a:rPr>
                        <a:t>优势</a:t>
                      </a:r>
                      <a:endParaRPr lang="zh-CN" altLang="en-US" sz="2400">
                        <a:latin typeface="宋体" charset="0"/>
                        <a:ea typeface="宋体" charset="0"/>
                      </a:endParaRPr>
                    </a:p>
                  </a:txBody>
                  <a:tcPr anchor="ctr" anchorCtr="0"/>
                </a:tc>
                <a:tc>
                  <a:txBody>
                    <a:bodyPr/>
                    <a:p>
                      <a:pPr algn="ctr">
                        <a:buNone/>
                      </a:pPr>
                      <a:r>
                        <a:rPr lang="zh-CN" altLang="en-US" sz="2400">
                          <a:latin typeface="宋体" charset="0"/>
                          <a:ea typeface="宋体" charset="0"/>
                        </a:rPr>
                        <a:t>局限</a:t>
                      </a:r>
                      <a:endParaRPr lang="zh-CN" altLang="en-US" sz="2400">
                        <a:latin typeface="宋体" charset="0"/>
                        <a:ea typeface="宋体" charset="0"/>
                      </a:endParaRPr>
                    </a:p>
                  </a:txBody>
                  <a:tcPr anchor="ctr" anchorCtr="0"/>
                </a:tc>
              </a:tr>
              <a:tr h="955675">
                <a:tc>
                  <a:txBody>
                    <a:bodyPr/>
                    <a:p>
                      <a:pPr algn="ctr">
                        <a:buNone/>
                      </a:pPr>
                      <a:r>
                        <a:rPr lang="zh-CN" altLang="en-US" sz="2000">
                          <a:latin typeface="宋体" charset="0"/>
                          <a:ea typeface="宋体" charset="0"/>
                        </a:rPr>
                        <a:t>传统机制模型</a:t>
                      </a:r>
                      <a:endParaRPr lang="zh-CN" altLang="en-US" sz="2000">
                        <a:latin typeface="宋体" charset="0"/>
                        <a:ea typeface="宋体" charset="0"/>
                      </a:endParaRPr>
                    </a:p>
                  </a:txBody>
                  <a:tcPr anchor="ctr" anchorCtr="0"/>
                </a:tc>
                <a:tc>
                  <a:txBody>
                    <a:bodyPr/>
                    <a:p>
                      <a:pPr algn="ctr">
                        <a:buNone/>
                      </a:pPr>
                      <a:r>
                        <a:rPr lang="zh-CN" altLang="en-US" sz="2000">
                          <a:latin typeface="宋体" charset="0"/>
                          <a:ea typeface="宋体" charset="0"/>
                          <a:cs typeface="宋体" charset="0"/>
                        </a:rPr>
                        <a:t>仓室模型</a:t>
                      </a:r>
                      <a:r>
                        <a:rPr lang="en-US" altLang="zh-CN" sz="2000">
                          <a:latin typeface="宋体" charset="0"/>
                          <a:ea typeface="宋体" charset="0"/>
                          <a:cs typeface="宋体" charset="0"/>
                        </a:rPr>
                        <a:t>+</a:t>
                      </a:r>
                      <a:r>
                        <a:rPr lang="zh-CN" altLang="en-US" sz="2000">
                          <a:latin typeface="宋体" charset="0"/>
                          <a:ea typeface="宋体" charset="0"/>
                          <a:cs typeface="宋体" charset="0"/>
                        </a:rPr>
                        <a:t>参数估计</a:t>
                      </a:r>
                      <a:endParaRPr lang="zh-CN" altLang="en-US" sz="2000">
                        <a:latin typeface="宋体" charset="0"/>
                        <a:ea typeface="宋体" charset="0"/>
                        <a:cs typeface="宋体" charset="0"/>
                      </a:endParaRPr>
                    </a:p>
                  </a:txBody>
                  <a:tcPr anchor="ctr" anchorCtr="0"/>
                </a:tc>
                <a:tc>
                  <a:txBody>
                    <a:bodyPr/>
                    <a:p>
                      <a:pPr algn="ctr">
                        <a:buNone/>
                      </a:pPr>
                      <a:r>
                        <a:rPr lang="zh-CN" altLang="en-US" sz="2000">
                          <a:latin typeface="宋体" charset="0"/>
                          <a:ea typeface="宋体" charset="0"/>
                        </a:rPr>
                        <a:t>可解释性强，</a:t>
                      </a:r>
                      <a:endParaRPr lang="zh-CN" altLang="en-US" sz="2000">
                        <a:latin typeface="宋体" charset="0"/>
                        <a:ea typeface="宋体" charset="0"/>
                      </a:endParaRPr>
                    </a:p>
                    <a:p>
                      <a:pPr algn="ctr">
                        <a:buNone/>
                      </a:pPr>
                      <a:r>
                        <a:rPr lang="zh-CN" altLang="en-US" sz="2000">
                          <a:latin typeface="宋体" charset="0"/>
                          <a:ea typeface="宋体" charset="0"/>
                        </a:rPr>
                        <a:t>物理意义明确</a:t>
                      </a:r>
                      <a:endParaRPr lang="zh-CN" altLang="en-US" sz="2000">
                        <a:latin typeface="宋体" charset="0"/>
                        <a:ea typeface="宋体" charset="0"/>
                      </a:endParaRPr>
                    </a:p>
                  </a:txBody>
                  <a:tcPr anchor="ctr" anchorCtr="0"/>
                </a:tc>
                <a:tc>
                  <a:txBody>
                    <a:bodyPr/>
                    <a:p>
                      <a:pPr algn="ctr">
                        <a:buNone/>
                      </a:pPr>
                      <a:r>
                        <a:rPr lang="zh-CN" altLang="en-US" sz="2000">
                          <a:latin typeface="宋体" charset="0"/>
                          <a:ea typeface="宋体" charset="0"/>
                        </a:rPr>
                        <a:t>参数参数常假设固定，</a:t>
                      </a:r>
                      <a:endParaRPr lang="zh-CN" altLang="en-US" sz="2000">
                        <a:latin typeface="宋体" charset="0"/>
                        <a:ea typeface="宋体" charset="0"/>
                      </a:endParaRPr>
                    </a:p>
                    <a:p>
                      <a:pPr algn="ctr">
                        <a:buNone/>
                      </a:pPr>
                      <a:r>
                        <a:rPr lang="zh-CN" altLang="en-US" sz="2000">
                          <a:latin typeface="宋体" charset="0"/>
                          <a:ea typeface="宋体" charset="0"/>
                        </a:rPr>
                        <a:t>难以适应真实变化</a:t>
                      </a:r>
                      <a:endParaRPr lang="zh-CN" altLang="en-US" sz="2000">
                        <a:latin typeface="宋体" charset="0"/>
                        <a:ea typeface="宋体" charset="0"/>
                      </a:endParaRPr>
                    </a:p>
                  </a:txBody>
                  <a:tcPr anchor="ctr" anchorCtr="0"/>
                </a:tc>
              </a:tr>
              <a:tr h="1064260">
                <a:tc>
                  <a:txBody>
                    <a:bodyPr/>
                    <a:p>
                      <a:pPr algn="ctr">
                        <a:buNone/>
                      </a:pPr>
                      <a:r>
                        <a:rPr lang="zh-CN" altLang="en-US" sz="2000">
                          <a:latin typeface="宋体" charset="0"/>
                          <a:ea typeface="宋体" charset="0"/>
                        </a:rPr>
                        <a:t>数据驱动模型</a:t>
                      </a:r>
                      <a:endParaRPr lang="zh-CN" altLang="en-US" sz="2000">
                        <a:latin typeface="宋体" charset="0"/>
                        <a:ea typeface="宋体" charset="0"/>
                      </a:endParaRPr>
                    </a:p>
                  </a:txBody>
                  <a:tcPr anchor="ctr" anchorCtr="0"/>
                </a:tc>
                <a:tc>
                  <a:txBody>
                    <a:bodyPr/>
                    <a:p>
                      <a:pPr algn="ctr">
                        <a:buNone/>
                      </a:pPr>
                      <a:r>
                        <a:rPr lang="en-US" altLang="zh-CN" sz="2000">
                          <a:latin typeface="宋体" charset="0"/>
                          <a:ea typeface="宋体" charset="0"/>
                          <a:cs typeface="宋体" charset="0"/>
                        </a:rPr>
                        <a:t>LSTM</a:t>
                      </a:r>
                      <a:r>
                        <a:rPr lang="zh-CN" altLang="en-US" sz="2000">
                          <a:latin typeface="宋体" charset="0"/>
                          <a:ea typeface="宋体" charset="0"/>
                          <a:cs typeface="宋体" charset="0"/>
                        </a:rPr>
                        <a:t>、</a:t>
                      </a:r>
                      <a:r>
                        <a:rPr lang="en-US" altLang="zh-CN" sz="2000">
                          <a:latin typeface="宋体" charset="0"/>
                          <a:ea typeface="宋体" charset="0"/>
                          <a:cs typeface="宋体" charset="0"/>
                        </a:rPr>
                        <a:t>Transformer</a:t>
                      </a:r>
                      <a:endParaRPr lang="en-US" altLang="zh-CN" sz="2000">
                        <a:latin typeface="宋体" charset="0"/>
                        <a:ea typeface="宋体" charset="0"/>
                        <a:cs typeface="宋体" charset="0"/>
                      </a:endParaRPr>
                    </a:p>
                  </a:txBody>
                  <a:tcPr anchor="ctr" anchorCtr="0"/>
                </a:tc>
                <a:tc>
                  <a:txBody>
                    <a:bodyPr/>
                    <a:p>
                      <a:pPr algn="ctr">
                        <a:buNone/>
                      </a:pPr>
                      <a:r>
                        <a:rPr lang="zh-CN" altLang="en-US" sz="2000">
                          <a:latin typeface="宋体" charset="0"/>
                          <a:ea typeface="宋体" charset="0"/>
                        </a:rPr>
                        <a:t>灵活、能捕捉复杂非线性</a:t>
                      </a:r>
                      <a:endParaRPr lang="zh-CN" altLang="en-US" sz="2000">
                        <a:latin typeface="宋体" charset="0"/>
                        <a:ea typeface="宋体" charset="0"/>
                      </a:endParaRPr>
                    </a:p>
                  </a:txBody>
                  <a:tcPr anchor="ctr" anchorCtr="0"/>
                </a:tc>
                <a:tc>
                  <a:txBody>
                    <a:bodyPr/>
                    <a:p>
                      <a:pPr algn="ctr">
                        <a:buNone/>
                      </a:pPr>
                      <a:r>
                        <a:rPr lang="zh-CN" altLang="en-US" sz="2000">
                          <a:latin typeface="宋体" charset="0"/>
                          <a:ea typeface="宋体" charset="0"/>
                        </a:rPr>
                        <a:t>需要大量数据，</a:t>
                      </a:r>
                      <a:endParaRPr lang="zh-CN" altLang="en-US" sz="2000">
                        <a:latin typeface="宋体" charset="0"/>
                        <a:ea typeface="宋体" charset="0"/>
                      </a:endParaRPr>
                    </a:p>
                    <a:p>
                      <a:pPr algn="ctr">
                        <a:buNone/>
                      </a:pPr>
                      <a:r>
                        <a:rPr lang="zh-CN" altLang="en-US" sz="2000">
                          <a:latin typeface="宋体" charset="0"/>
                          <a:ea typeface="宋体" charset="0"/>
                        </a:rPr>
                        <a:t>可解释性差，</a:t>
                      </a:r>
                      <a:endParaRPr lang="zh-CN" altLang="en-US" sz="2000">
                        <a:latin typeface="宋体" charset="0"/>
                        <a:ea typeface="宋体" charset="0"/>
                      </a:endParaRPr>
                    </a:p>
                    <a:p>
                      <a:pPr algn="ctr">
                        <a:buNone/>
                      </a:pPr>
                      <a:r>
                        <a:rPr lang="zh-CN" altLang="en-US" sz="2000">
                          <a:latin typeface="宋体" charset="0"/>
                          <a:ea typeface="宋体" charset="0"/>
                        </a:rPr>
                        <a:t>预测可能不合理</a:t>
                      </a:r>
                      <a:endParaRPr lang="zh-CN" altLang="en-US" sz="2000">
                        <a:latin typeface="宋体" charset="0"/>
                        <a:ea typeface="宋体" charset="0"/>
                      </a:endParaRPr>
                    </a:p>
                  </a:txBody>
                  <a:tcPr anchor="ctr" anchorCtr="0"/>
                </a:tc>
              </a:tr>
            </a:tbl>
          </a:graphicData>
        </a:graphic>
      </p:graphicFrame>
      <p:sp>
        <p:nvSpPr>
          <p:cNvPr id="4" name="文本框 3"/>
          <p:cNvSpPr txBox="1"/>
          <p:nvPr/>
        </p:nvSpPr>
        <p:spPr>
          <a:xfrm>
            <a:off x="460375" y="3618865"/>
            <a:ext cx="11221720" cy="2745740"/>
          </a:xfrm>
          <a:prstGeom prst="rect">
            <a:avLst/>
          </a:prstGeom>
          <a:noFill/>
        </p:spPr>
        <p:txBody>
          <a:bodyPr wrap="square" rtlCol="0">
            <a:noAutofit/>
          </a:bodyPr>
          <a:p>
            <a:pPr indent="609600" algn="just" fontAlgn="auto">
              <a:lnSpc>
                <a:spcPts val="2600"/>
              </a:lnSpc>
              <a:extLst>
                <a:ext uri="{35155182-B16C-46BC-9424-99874614C6A1}">
                  <wpsdc:indentchars xmlns:wpsdc="http://www.wps.cn/officeDocument/2017/drawingmlCustomData" val="200" checksum="4158780845"/>
                </a:ext>
              </a:extLst>
            </a:pPr>
            <a:r>
              <a:rPr lang="zh-CN" altLang="en-US" sz="2400">
                <a:latin typeface="宋体" charset="0"/>
                <a:ea typeface="宋体" charset="0"/>
                <a:cs typeface="宋体" charset="0"/>
                <a:sym typeface="+mn-ea"/>
              </a:rPr>
              <a:t>PINN通过将仓室模型嵌入损失函数来整合特定领域的知识，有助于减轻过度拟合，在灵活性和可推广性之间实现了平衡。</a:t>
            </a:r>
            <a:endParaRPr lang="zh-CN" altLang="en-US" sz="2400">
              <a:latin typeface="宋体" charset="0"/>
              <a:ea typeface="宋体" charset="0"/>
              <a:cs typeface="宋体" charset="0"/>
              <a:sym typeface="+mn-ea"/>
            </a:endParaRPr>
          </a:p>
          <a:p>
            <a:pPr indent="609600" algn="just" fontAlgn="auto">
              <a:lnSpc>
                <a:spcPts val="2600"/>
              </a:lnSpc>
              <a:extLst>
                <a:ext uri="{35155182-B16C-46BC-9424-99874614C6A1}">
                  <wpsdc:indentchars xmlns:wpsdc="http://www.wps.cn/officeDocument/2017/drawingmlCustomData" val="200" checksum="4158780845"/>
                </a:ext>
              </a:extLst>
            </a:pPr>
            <a:r>
              <a:rPr lang="zh-CN" altLang="en-US" sz="2400">
                <a:latin typeface="宋体" charset="0"/>
                <a:ea typeface="宋体" charset="0"/>
                <a:cs typeface="宋体" charset="0"/>
                <a:sym typeface="+mn-ea"/>
              </a:rPr>
              <a:t>PINNs可以用来直接从数据中估计关键流行病学参数，如传播率和恢复率，捕捉传播行为的时间变化，从而增强模型对疾病动态变化的适应性。</a:t>
            </a:r>
            <a:endParaRPr lang="zh-CN" altLang="en-US" sz="2400">
              <a:latin typeface="宋体" charset="0"/>
              <a:ea typeface="宋体" charset="0"/>
              <a:cs typeface="宋体" charset="0"/>
              <a:sym typeface="+mn-ea"/>
            </a:endParaRPr>
          </a:p>
          <a:p>
            <a:pPr indent="609600" algn="just" fontAlgn="auto">
              <a:lnSpc>
                <a:spcPts val="2600"/>
              </a:lnSpc>
              <a:extLst>
                <a:ext uri="{35155182-B16C-46BC-9424-99874614C6A1}">
                  <wpsdc:indentchars xmlns:wpsdc="http://www.wps.cn/officeDocument/2017/drawingmlCustomData" val="200" checksum="4158780845"/>
                </a:ext>
              </a:extLst>
            </a:pPr>
            <a:r>
              <a:rPr lang="zh-CN" altLang="en-US" sz="2400">
                <a:latin typeface="宋体" charset="0"/>
                <a:ea typeface="宋体" charset="0"/>
                <a:cs typeface="宋体" charset="0"/>
                <a:sym typeface="+mn-ea"/>
              </a:rPr>
              <a:t>此外，PINNs能够持续整合新获得的数据，允许实时模型更新，并在更多信息在持续爆发期间变得可用时，逐步提高预测的准确性。</a:t>
            </a:r>
            <a:endParaRPr lang="zh-CN" altLang="en-US" sz="2400">
              <a:latin typeface="宋体" charset="0"/>
              <a:ea typeface="宋体" charset="0"/>
              <a:cs typeface="宋体" charset="0"/>
              <a:sym typeface="+mn-ea"/>
            </a:endParaRPr>
          </a:p>
          <a:p>
            <a:pPr indent="609600" algn="just" fontAlgn="auto">
              <a:lnSpc>
                <a:spcPts val="2600"/>
              </a:lnSpc>
              <a:extLst>
                <a:ext uri="{35155182-B16C-46BC-9424-99874614C6A1}">
                  <wpsdc:indentchars xmlns:wpsdc="http://www.wps.cn/officeDocument/2017/drawingmlCustomData" val="200" checksum="4158780845"/>
                </a:ext>
              </a:extLst>
            </a:pPr>
            <a:r>
              <a:rPr lang="zh-CN" altLang="en-US" sz="2400">
                <a:latin typeface="宋体" charset="0"/>
                <a:ea typeface="宋体" charset="0"/>
                <a:cs typeface="宋体" charset="0"/>
                <a:sym typeface="+mn-ea"/>
              </a:rPr>
              <a:t>PINNs可以整合异构数据源，包括社会、环境和人口因素，为传染病预测提供一个更全面和整体性的框架。</a:t>
            </a:r>
            <a:endParaRPr lang="zh-CN" altLang="en-US" sz="2400">
              <a:latin typeface="宋体" charset="0"/>
              <a:ea typeface="宋体" charset="0"/>
              <a:cs typeface="宋体" charset="0"/>
            </a:endParaRPr>
          </a:p>
          <a:p>
            <a:endParaRPr lang="zh-CN" altLang="en-US" sz="2000">
              <a:latin typeface="宋体" charset="0"/>
              <a:ea typeface="宋体" charset="0"/>
              <a:cs typeface="宋体" charset="0"/>
            </a:endParaRPr>
          </a:p>
          <a:p>
            <a:endParaRPr lang="zh-CN" altLang="en-US" sz="2000">
              <a:latin typeface="宋体" charset="0"/>
              <a:ea typeface="宋体" charset="0"/>
              <a:cs typeface="宋体"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3"/>
          </p:nvPr>
        </p:nvSpPr>
        <p:spPr/>
        <p:txBody>
          <a:bodyPr/>
          <a:p>
            <a:r>
              <a:rPr lang="zh-CN" altLang="en-US" sz="3200">
                <a:latin typeface="宋体" charset="0"/>
                <a:ea typeface="宋体" charset="0"/>
              </a:rPr>
              <a:t>与现有工作的对比</a:t>
            </a:r>
            <a:endParaRPr lang="zh-CN" altLang="en-US" sz="3200">
              <a:latin typeface="宋体" charset="0"/>
              <a:ea typeface="宋体" charset="0"/>
            </a:endParaRPr>
          </a:p>
        </p:txBody>
      </p:sp>
      <p:graphicFrame>
        <p:nvGraphicFramePr>
          <p:cNvPr id="3" name="表格 2"/>
          <p:cNvGraphicFramePr/>
          <p:nvPr>
            <p:custDataLst>
              <p:tags r:id="rId1"/>
            </p:custDataLst>
          </p:nvPr>
        </p:nvGraphicFramePr>
        <p:xfrm>
          <a:off x="445770" y="1691005"/>
          <a:ext cx="11300460" cy="3476625"/>
        </p:xfrm>
        <a:graphic>
          <a:graphicData uri="http://schemas.openxmlformats.org/drawingml/2006/table">
            <a:tbl>
              <a:tblPr firstRow="1" bandRow="1">
                <a:tableStyleId>{5C22544A-7EE6-4342-B048-85BDC9FD1C3A}</a:tableStyleId>
              </a:tblPr>
              <a:tblGrid>
                <a:gridCol w="3735070"/>
                <a:gridCol w="3735070"/>
                <a:gridCol w="3830320"/>
              </a:tblGrid>
              <a:tr h="695325">
                <a:tc>
                  <a:txBody>
                    <a:bodyPr/>
                    <a:p>
                      <a:pPr algn="ctr">
                        <a:buNone/>
                      </a:pPr>
                      <a:r>
                        <a:rPr lang="zh-CN" altLang="en-US" sz="2400">
                          <a:latin typeface="宋体" charset="0"/>
                          <a:ea typeface="宋体" charset="0"/>
                        </a:rPr>
                        <a:t>维度</a:t>
                      </a:r>
                      <a:endParaRPr lang="zh-CN" altLang="en-US" sz="2400">
                        <a:latin typeface="宋体" charset="0"/>
                        <a:ea typeface="宋体" charset="0"/>
                      </a:endParaRPr>
                    </a:p>
                  </a:txBody>
                  <a:tcPr anchor="ctr" anchorCtr="0"/>
                </a:tc>
                <a:tc>
                  <a:txBody>
                    <a:bodyPr/>
                    <a:p>
                      <a:pPr algn="ctr">
                        <a:buNone/>
                      </a:pPr>
                      <a:r>
                        <a:rPr lang="zh-CN" altLang="en-US" sz="2400">
                          <a:latin typeface="宋体" charset="0"/>
                          <a:ea typeface="宋体" charset="0"/>
                        </a:rPr>
                        <a:t>现有工作</a:t>
                      </a:r>
                      <a:endParaRPr lang="zh-CN" altLang="en-US" sz="2400">
                        <a:latin typeface="宋体" charset="0"/>
                        <a:ea typeface="宋体" charset="0"/>
                      </a:endParaRPr>
                    </a:p>
                  </a:txBody>
                  <a:tcPr anchor="ctr" anchorCtr="0"/>
                </a:tc>
                <a:tc>
                  <a:txBody>
                    <a:bodyPr/>
                    <a:p>
                      <a:pPr algn="ctr">
                        <a:buNone/>
                      </a:pPr>
                      <a:r>
                        <a:rPr lang="zh-CN" altLang="en-US" sz="2400">
                          <a:latin typeface="宋体" charset="0"/>
                          <a:ea typeface="宋体" charset="0"/>
                        </a:rPr>
                        <a:t>本文工作</a:t>
                      </a:r>
                      <a:endParaRPr lang="zh-CN" altLang="en-US" sz="2400">
                        <a:latin typeface="宋体" charset="0"/>
                        <a:ea typeface="宋体" charset="0"/>
                      </a:endParaRPr>
                    </a:p>
                  </a:txBody>
                  <a:tcPr anchor="ctr" anchorCtr="0"/>
                </a:tc>
              </a:tr>
              <a:tr h="695325">
                <a:tc>
                  <a:txBody>
                    <a:bodyPr/>
                    <a:p>
                      <a:pPr algn="ctr">
                        <a:buNone/>
                      </a:pPr>
                      <a:r>
                        <a:rPr lang="zh-CN" altLang="en-US" sz="2400">
                          <a:latin typeface="宋体" charset="0"/>
                          <a:ea typeface="宋体" charset="0"/>
                        </a:rPr>
                        <a:t>仓室模型复杂度</a:t>
                      </a:r>
                      <a:endParaRPr lang="zh-CN" altLang="en-US" sz="2400">
                        <a:latin typeface="宋体" charset="0"/>
                        <a:ea typeface="宋体" charset="0"/>
                      </a:endParaRPr>
                    </a:p>
                  </a:txBody>
                  <a:tcPr anchor="ctr" anchorCtr="0"/>
                </a:tc>
                <a:tc>
                  <a:txBody>
                    <a:bodyPr/>
                    <a:p>
                      <a:pPr algn="ctr">
                        <a:buNone/>
                      </a:pPr>
                      <a:r>
                        <a:rPr lang="zh-CN" altLang="en-US" sz="2400">
                          <a:latin typeface="宋体" charset="0"/>
                          <a:ea typeface="宋体" charset="0"/>
                        </a:rPr>
                        <a:t>较简单</a:t>
                      </a:r>
                      <a:endParaRPr lang="zh-CN" altLang="en-US" sz="2400">
                        <a:latin typeface="宋体" charset="0"/>
                        <a:ea typeface="宋体" charset="0"/>
                      </a:endParaRPr>
                    </a:p>
                  </a:txBody>
                  <a:tcPr anchor="ctr" anchorCtr="0"/>
                </a:tc>
                <a:tc>
                  <a:txBody>
                    <a:bodyPr/>
                    <a:p>
                      <a:pPr algn="ctr">
                        <a:buNone/>
                      </a:pPr>
                      <a:r>
                        <a:rPr lang="zh-CN" altLang="en-US" sz="2400">
                          <a:latin typeface="宋体" charset="0"/>
                          <a:ea typeface="宋体" charset="0"/>
                          <a:cs typeface="宋体" charset="0"/>
                        </a:rPr>
                        <a:t>高维</a:t>
                      </a:r>
                      <a:r>
                        <a:rPr lang="en-US" altLang="zh-CN" sz="2400">
                          <a:latin typeface="宋体" charset="0"/>
                          <a:ea typeface="宋体" charset="0"/>
                          <a:cs typeface="宋体" charset="0"/>
                        </a:rPr>
                        <a:t>ODE</a:t>
                      </a:r>
                      <a:endParaRPr lang="en-US" altLang="zh-CN" sz="2400">
                        <a:latin typeface="宋体" charset="0"/>
                        <a:ea typeface="宋体" charset="0"/>
                        <a:cs typeface="宋体" charset="0"/>
                      </a:endParaRPr>
                    </a:p>
                  </a:txBody>
                  <a:tcPr anchor="ctr" anchorCtr="0"/>
                </a:tc>
              </a:tr>
              <a:tr h="695325">
                <a:tc>
                  <a:txBody>
                    <a:bodyPr/>
                    <a:p>
                      <a:pPr algn="ctr">
                        <a:buNone/>
                      </a:pPr>
                      <a:r>
                        <a:rPr lang="zh-CN" altLang="en-US" sz="2400">
                          <a:latin typeface="宋体" charset="0"/>
                          <a:ea typeface="宋体" charset="0"/>
                        </a:rPr>
                        <a:t>预测目标数量</a:t>
                      </a:r>
                      <a:endParaRPr lang="zh-CN" altLang="en-US" sz="2400">
                        <a:latin typeface="宋体" charset="0"/>
                        <a:ea typeface="宋体" charset="0"/>
                      </a:endParaRPr>
                    </a:p>
                  </a:txBody>
                  <a:tcPr anchor="ctr" anchorCtr="0"/>
                </a:tc>
                <a:tc>
                  <a:txBody>
                    <a:bodyPr/>
                    <a:p>
                      <a:pPr algn="ctr">
                        <a:buNone/>
                      </a:pPr>
                      <a:r>
                        <a:rPr lang="zh-CN" altLang="en-US" sz="2400">
                          <a:latin typeface="宋体" charset="0"/>
                          <a:ea typeface="宋体" charset="0"/>
                        </a:rPr>
                        <a:t>通常预测一个变量</a:t>
                      </a:r>
                      <a:endParaRPr lang="zh-CN" altLang="en-US" sz="2400">
                        <a:latin typeface="宋体" charset="0"/>
                        <a:ea typeface="宋体" charset="0"/>
                      </a:endParaRPr>
                    </a:p>
                  </a:txBody>
                  <a:tcPr anchor="ctr" anchorCtr="0"/>
                </a:tc>
                <a:tc>
                  <a:txBody>
                    <a:bodyPr/>
                    <a:p>
                      <a:pPr algn="ctr">
                        <a:buNone/>
                      </a:pPr>
                      <a:r>
                        <a:rPr lang="zh-CN" altLang="en-US" sz="2400">
                          <a:latin typeface="宋体" charset="0"/>
                          <a:ea typeface="宋体" charset="0"/>
                        </a:rPr>
                        <a:t>同时预测三个变量</a:t>
                      </a:r>
                      <a:endParaRPr lang="zh-CN" altLang="en-US" sz="2400">
                        <a:latin typeface="宋体" charset="0"/>
                        <a:ea typeface="宋体" charset="0"/>
                      </a:endParaRPr>
                    </a:p>
                  </a:txBody>
                  <a:tcPr anchor="ctr" anchorCtr="0"/>
                </a:tc>
              </a:tr>
              <a:tr h="695325">
                <a:tc>
                  <a:txBody>
                    <a:bodyPr/>
                    <a:p>
                      <a:pPr algn="ctr">
                        <a:buNone/>
                      </a:pPr>
                      <a:r>
                        <a:rPr lang="zh-CN" altLang="en-US" sz="2400">
                          <a:latin typeface="宋体" charset="0"/>
                          <a:ea typeface="宋体" charset="0"/>
                        </a:rPr>
                        <a:t>评价指标</a:t>
                      </a:r>
                      <a:endParaRPr lang="zh-CN" altLang="en-US" sz="2400">
                        <a:latin typeface="宋体" charset="0"/>
                        <a:ea typeface="宋体" charset="0"/>
                      </a:endParaRPr>
                    </a:p>
                  </a:txBody>
                  <a:tcPr anchor="ctr" anchorCtr="0"/>
                </a:tc>
                <a:tc>
                  <a:txBody>
                    <a:bodyPr/>
                    <a:p>
                      <a:pPr algn="ctr">
                        <a:buNone/>
                      </a:pPr>
                      <a:r>
                        <a:rPr lang="zh-CN" altLang="en-US" sz="2400">
                          <a:latin typeface="宋体" charset="0"/>
                          <a:ea typeface="宋体" charset="0"/>
                        </a:rPr>
                        <a:t>点预测</a:t>
                      </a:r>
                      <a:endParaRPr lang="zh-CN" altLang="en-US" sz="2400">
                        <a:latin typeface="宋体" charset="0"/>
                        <a:ea typeface="宋体" charset="0"/>
                      </a:endParaRPr>
                    </a:p>
                  </a:txBody>
                  <a:tcPr anchor="ctr" anchorCtr="0"/>
                </a:tc>
                <a:tc>
                  <a:txBody>
                    <a:bodyPr/>
                    <a:p>
                      <a:pPr algn="ctr">
                        <a:buNone/>
                      </a:pPr>
                      <a:r>
                        <a:rPr lang="zh-CN" altLang="en-US" sz="2400">
                          <a:latin typeface="宋体" charset="0"/>
                          <a:ea typeface="宋体" charset="0"/>
                          <a:cs typeface="宋体" charset="0"/>
                        </a:rPr>
                        <a:t>点预测</a:t>
                      </a:r>
                      <a:r>
                        <a:rPr lang="en-US" altLang="zh-CN" sz="2400">
                          <a:latin typeface="宋体" charset="0"/>
                          <a:ea typeface="宋体" charset="0"/>
                          <a:cs typeface="宋体" charset="0"/>
                        </a:rPr>
                        <a:t>+</a:t>
                      </a:r>
                      <a:r>
                        <a:rPr lang="zh-CN" altLang="en-US" sz="2400">
                          <a:latin typeface="宋体" charset="0"/>
                          <a:ea typeface="宋体" charset="0"/>
                          <a:cs typeface="宋体" charset="0"/>
                        </a:rPr>
                        <a:t>区间预测</a:t>
                      </a:r>
                      <a:endParaRPr lang="zh-CN" altLang="en-US" sz="2400">
                        <a:latin typeface="宋体" charset="0"/>
                        <a:ea typeface="宋体" charset="0"/>
                        <a:cs typeface="宋体" charset="0"/>
                      </a:endParaRPr>
                    </a:p>
                  </a:txBody>
                  <a:tcPr anchor="ctr" anchorCtr="0"/>
                </a:tc>
              </a:tr>
              <a:tr h="695325">
                <a:tc>
                  <a:txBody>
                    <a:bodyPr/>
                    <a:p>
                      <a:pPr algn="ctr">
                        <a:buNone/>
                      </a:pPr>
                      <a:r>
                        <a:rPr lang="zh-CN" altLang="en-US" sz="2400">
                          <a:latin typeface="宋体" charset="0"/>
                          <a:ea typeface="宋体" charset="0"/>
                        </a:rPr>
                        <a:t>性能对比</a:t>
                      </a:r>
                      <a:endParaRPr lang="zh-CN" altLang="en-US" sz="2400">
                        <a:latin typeface="宋体" charset="0"/>
                        <a:ea typeface="宋体" charset="0"/>
                      </a:endParaRPr>
                    </a:p>
                  </a:txBody>
                  <a:tcPr anchor="ctr" anchorCtr="0"/>
                </a:tc>
                <a:tc gridSpan="2">
                  <a:txBody>
                    <a:bodyPr/>
                    <a:p>
                      <a:pPr algn="ctr">
                        <a:buNone/>
                      </a:pPr>
                      <a:r>
                        <a:rPr lang="zh-CN" altLang="en-US" sz="2400">
                          <a:latin typeface="宋体" charset="0"/>
                          <a:ea typeface="宋体" charset="0"/>
                        </a:rPr>
                        <a:t>本研究模型性能更好</a:t>
                      </a:r>
                      <a:endParaRPr lang="zh-CN" altLang="en-US" sz="2400">
                        <a:latin typeface="宋体" charset="0"/>
                        <a:ea typeface="宋体" charset="0"/>
                      </a:endParaRPr>
                    </a:p>
                  </a:txBody>
                  <a:tcPr anchor="ctr" anchorCtr="0"/>
                </a:tc>
                <a:tc hMerge="1">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3"/>
          </p:nvPr>
        </p:nvSpPr>
        <p:spPr/>
        <p:txBody>
          <a:bodyPr/>
          <a:p>
            <a:r>
              <a:rPr lang="zh-CN" altLang="en-US" sz="3200">
                <a:latin typeface="宋体" charset="0"/>
                <a:ea typeface="宋体" charset="0"/>
              </a:rPr>
              <a:t>研究的局限</a:t>
            </a:r>
            <a:endParaRPr lang="zh-CN" altLang="en-US" sz="3200">
              <a:latin typeface="宋体" charset="0"/>
              <a:ea typeface="宋体" charset="0"/>
            </a:endParaRPr>
          </a:p>
        </p:txBody>
      </p:sp>
      <p:pic>
        <p:nvPicPr>
          <p:cNvPr id="3" name="图片 2"/>
          <p:cNvPicPr>
            <a:picLocks noChangeAspect="1"/>
          </p:cNvPicPr>
          <p:nvPr>
            <p:custDataLst>
              <p:tags r:id="rId1"/>
            </p:custDataLst>
          </p:nvPr>
        </p:nvPicPr>
        <p:blipFill>
          <a:blip r:embed="rId2"/>
          <a:stretch>
            <a:fillRect/>
          </a:stretch>
        </p:blipFill>
        <p:spPr>
          <a:xfrm>
            <a:off x="1016635" y="2049145"/>
            <a:ext cx="4320540" cy="4345940"/>
          </a:xfrm>
          <a:prstGeom prst="rect">
            <a:avLst/>
          </a:prstGeom>
        </p:spPr>
      </p:pic>
      <p:pic>
        <p:nvPicPr>
          <p:cNvPr id="4" name="图片 3"/>
          <p:cNvPicPr>
            <a:picLocks noChangeAspect="1"/>
          </p:cNvPicPr>
          <p:nvPr>
            <p:custDataLst>
              <p:tags r:id="rId3"/>
            </p:custDataLst>
          </p:nvPr>
        </p:nvPicPr>
        <p:blipFill>
          <a:blip r:embed="rId4"/>
          <a:stretch>
            <a:fillRect/>
          </a:stretch>
        </p:blipFill>
        <p:spPr>
          <a:xfrm>
            <a:off x="6236970" y="2083435"/>
            <a:ext cx="4722495" cy="4311650"/>
          </a:xfrm>
          <a:prstGeom prst="rect">
            <a:avLst/>
          </a:prstGeom>
        </p:spPr>
      </p:pic>
      <p:sp>
        <p:nvSpPr>
          <p:cNvPr id="5" name="文本框 4"/>
          <p:cNvSpPr txBox="1"/>
          <p:nvPr/>
        </p:nvSpPr>
        <p:spPr>
          <a:xfrm>
            <a:off x="537845" y="864235"/>
            <a:ext cx="11023600" cy="1054100"/>
          </a:xfrm>
          <a:prstGeom prst="rect">
            <a:avLst/>
          </a:prstGeom>
          <a:noFill/>
        </p:spPr>
        <p:txBody>
          <a:bodyPr wrap="square" rtlCol="0">
            <a:noAutofit/>
          </a:bodyPr>
          <a:p>
            <a:r>
              <a:rPr lang="zh-CN" altLang="en-US" sz="2000">
                <a:latin typeface="宋体" charset="0"/>
                <a:ea typeface="宋体" charset="0"/>
                <a:cs typeface="宋体" charset="0"/>
              </a:rPr>
              <a:t>尽管估计的传播率在观测数据的合理范围内，但趋势与真实参考值不吻合。这可能是由于常微分方程系统包括九个状态变量，但其中只有三个与观测数据相关。这三个观测数据不会直接影响包含传播率的常微分方程。</a:t>
            </a:r>
            <a:r>
              <a:rPr lang="zh-CN" altLang="en-US" sz="2000">
                <a:latin typeface="宋体" charset="0"/>
                <a:ea typeface="宋体" charset="0"/>
                <a:cs typeface="宋体" charset="0"/>
              </a:rPr>
              <a:t>但加入少量真实传播率观测点后，模型即可捕捉其动态趋势。</a:t>
            </a:r>
            <a:endParaRPr lang="zh-CN" altLang="en-US" sz="2000">
              <a:latin typeface="宋体" charset="0"/>
              <a:ea typeface="宋体" charset="0"/>
              <a:cs typeface="宋体"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3"/>
          </p:nvPr>
        </p:nvSpPr>
        <p:spPr/>
        <p:txBody>
          <a:bodyPr/>
          <a:p>
            <a:r>
              <a:rPr lang="zh-CN" altLang="en-US" sz="3200">
                <a:latin typeface="宋体" charset="0"/>
                <a:ea typeface="宋体" charset="0"/>
              </a:rPr>
              <a:t>未来研究方向</a:t>
            </a:r>
            <a:endParaRPr lang="zh-CN" altLang="en-US" sz="3200">
              <a:latin typeface="宋体" charset="0"/>
              <a:ea typeface="宋体" charset="0"/>
            </a:endParaRPr>
          </a:p>
        </p:txBody>
      </p:sp>
      <p:pic>
        <p:nvPicPr>
          <p:cNvPr id="3" name="图片 2"/>
          <p:cNvPicPr>
            <a:picLocks noChangeAspect="1"/>
          </p:cNvPicPr>
          <p:nvPr>
            <p:custDataLst>
              <p:tags r:id="rId1"/>
            </p:custDataLst>
          </p:nvPr>
        </p:nvPicPr>
        <p:blipFill>
          <a:blip r:embed="rId2"/>
          <a:stretch>
            <a:fillRect/>
          </a:stretch>
        </p:blipFill>
        <p:spPr>
          <a:xfrm>
            <a:off x="769620" y="1599565"/>
            <a:ext cx="10652760" cy="4787900"/>
          </a:xfrm>
          <a:prstGeom prst="rect">
            <a:avLst/>
          </a:prstGeom>
        </p:spPr>
      </p:pic>
      <p:sp>
        <p:nvSpPr>
          <p:cNvPr id="4" name="文本框 3"/>
          <p:cNvSpPr txBox="1"/>
          <p:nvPr/>
        </p:nvSpPr>
        <p:spPr>
          <a:xfrm>
            <a:off x="538480" y="934085"/>
            <a:ext cx="7435215" cy="561975"/>
          </a:xfrm>
          <a:prstGeom prst="rect">
            <a:avLst/>
          </a:prstGeom>
          <a:noFill/>
        </p:spPr>
        <p:txBody>
          <a:bodyPr wrap="square" rtlCol="0">
            <a:noAutofit/>
          </a:bodyPr>
          <a:p>
            <a:r>
              <a:rPr lang="zh-CN" altLang="en-US" sz="3200">
                <a:latin typeface="Times New Roman Regular" panose="02020603050405020304" charset="0"/>
                <a:cs typeface="Times New Roman Regular" panose="02020603050405020304" charset="0"/>
              </a:rPr>
              <a:t>Bayesian physics-informed neural networks</a:t>
            </a:r>
            <a:endParaRPr lang="zh-CN" altLang="en-US" sz="3200">
              <a:latin typeface="Times New Roman Regular" panose="02020603050405020304" charset="0"/>
              <a:cs typeface="Times New Roman Regular"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TABLE_ENDDRAG_ORIGIN_RECT" val="882*130"/>
  <p:tag name="TABLE_ENDDRAG_RECT" val="39*225*882*130"/>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TABLE_ENDDRAG_ORIGIN_RECT" val="739*219"/>
  <p:tag name="TABLE_ENDDRAG_RECT" val="110*281*739*219"/>
</p:tagLst>
</file>

<file path=ppt/tags/tag49.xml><?xml version="1.0" encoding="utf-8"?>
<p:tagLst xmlns:p="http://schemas.openxmlformats.org/presentationml/2006/main">
  <p:tag name="TABLE_ENDDRAG_ORIGIN_RECT" val="739*219"/>
  <p:tag name="TABLE_ENDDRAG_RECT" val="110*281*739*219"/>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TABLE_ENDDRAG_ORIGIN_RECT" val="889*202"/>
  <p:tag name="TABLE_ENDDRAG_RECT" val="29*67*889*202"/>
</p:tagLst>
</file>

<file path=ppt/tags/tag59.xml><?xml version="1.0" encoding="utf-8"?>
<p:tagLst xmlns:p="http://schemas.openxmlformats.org/presentationml/2006/main">
  <p:tag name="TABLE_ENDDRAG_ORIGIN_RECT" val="882*273"/>
  <p:tag name="TABLE_ENDDRAG_RECT" val="42*90*882*273"/>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AS_NET" val="4.0.30319.42000"/>
  <p:tag name="AS_OS" val="Microsoft Windows NT 6.1.7601 Service Pack 1"/>
  <p:tag name="AS_RELEASE_DATE" val="2022.11.14"/>
  <p:tag name="AS_TITLE" val="Aspose.Slides for .NET 4.0 Client Profile"/>
  <p:tag name="AS_VERSION" val="22.11"/>
  <p:tag name="COMMONDATA" val="eyJjb3VudCI6MiwiaGRpZCI6IjJjMTc2ODc5YjgyZjhmMzFhMmQ3ZDgwNDFiNDU3Yjg3IiwidXNlckNvdW50IjoxfQ=="/>
  <p:tag name="ISLIDE.GUIDESSETTING" val="{&quot;Id&quot;:null,&quot;Name&quot;:&quot;适中&quot;,&quot;HeaderHeight&quot;:10.0,&quot;FooterHeight&quot;:5.0,&quot;SideMargin&quot;:5.0,&quot;TopMargin&quot;:0.0,&quot;BottomMargin&quot;:0.0,&quot;IntervalMargin&quot;:1.5,&quot;SettingType&quot;:&quot;System&quot;}"/>
</p:tagLst>
</file>

<file path=ppt/theme/theme1.xml><?xml version="1.0" encoding="utf-8"?>
<a:theme xmlns:a="http://schemas.openxmlformats.org/drawingml/2006/main" name="第一PPT，www.1ppt.com">
  <a:themeElements>
    <a:clrScheme name="00纯蓝色">
      <a:dk1>
        <a:srgbClr val="262626"/>
      </a:dk1>
      <a:lt1>
        <a:srgbClr val="FFFFFF"/>
      </a:lt1>
      <a:dk2>
        <a:srgbClr val="262626"/>
      </a:dk2>
      <a:lt2>
        <a:srgbClr val="E7E6E6"/>
      </a:lt2>
      <a:accent1>
        <a:srgbClr val="0D57A2"/>
      </a:accent1>
      <a:accent2>
        <a:srgbClr val="0D57A2"/>
      </a:accent2>
      <a:accent3>
        <a:srgbClr val="0D57A2"/>
      </a:accent3>
      <a:accent4>
        <a:srgbClr val="0D57A2"/>
      </a:accent4>
      <a:accent5>
        <a:srgbClr val="0D57A2"/>
      </a:accent5>
      <a:accent6>
        <a:srgbClr val="0D57A2"/>
      </a:accent6>
      <a:hlink>
        <a:srgbClr val="0563C1"/>
      </a:hlink>
      <a:folHlink>
        <a:srgbClr val="954F72"/>
      </a:folHlink>
    </a:clrScheme>
    <a:fontScheme name="自定义 19">
      <a:majorFont>
        <a:latin typeface="汉仪雅酷黑 65W"/>
        <a:ea typeface="汉仪雅酷黑 65W"/>
        <a:cs typeface="Arial"/>
      </a:majorFont>
      <a:minorFont>
        <a:latin typeface="汉仪旗黑-45S"/>
        <a:ea typeface="汉仪旗黑-45S"/>
        <a:cs typeface="Arial"/>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Template>
  <TotalTime>0</TotalTime>
  <Words>3985</Words>
  <Application>WPS 演示</Application>
  <PresentationFormat>宽屏</PresentationFormat>
  <Paragraphs>333</Paragraphs>
  <Slides>22</Slides>
  <Notes>27</Notes>
  <HiddenSlides>0</HiddenSlides>
  <MMClips>0</MMClips>
  <ScaleCrop>false</ScaleCrop>
  <HeadingPairs>
    <vt:vector size="6" baseType="variant">
      <vt:variant>
        <vt:lpstr>已用的字体</vt:lpstr>
      </vt:variant>
      <vt:variant>
        <vt:i4>32</vt:i4>
      </vt:variant>
      <vt:variant>
        <vt:lpstr>主题</vt:lpstr>
      </vt:variant>
      <vt:variant>
        <vt:i4>2</vt:i4>
      </vt:variant>
      <vt:variant>
        <vt:lpstr>幻灯片标题</vt:lpstr>
      </vt:variant>
      <vt:variant>
        <vt:i4>22</vt:i4>
      </vt:variant>
    </vt:vector>
  </HeadingPairs>
  <TitlesOfParts>
    <vt:vector size="56" baseType="lpstr">
      <vt:lpstr>Arial</vt:lpstr>
      <vt:lpstr>宋体</vt:lpstr>
      <vt:lpstr>Wingdings</vt:lpstr>
      <vt:lpstr>微软雅黑</vt:lpstr>
      <vt:lpstr>汉仪旗黑</vt:lpstr>
      <vt:lpstr>Wingdings</vt:lpstr>
      <vt:lpstr>Arial</vt:lpstr>
      <vt:lpstr>华文行楷</vt:lpstr>
      <vt:lpstr>行楷-简</vt:lpstr>
      <vt:lpstr>Times New Roman Regular</vt:lpstr>
      <vt:lpstr>汉仪书宋二KW</vt:lpstr>
      <vt:lpstr>Segoe UI</vt:lpstr>
      <vt:lpstr>宋体</vt:lpstr>
      <vt:lpstr>Times New Roman</vt:lpstr>
      <vt:lpstr>DejaVu Math TeX Gyre</vt:lpstr>
      <vt:lpstr>汉仪旗黑-45S</vt:lpstr>
      <vt:lpstr>汉仪中黑KW</vt:lpstr>
      <vt:lpstr>Arial Unicode MS</vt:lpstr>
      <vt:lpstr>Calibri</vt:lpstr>
      <vt:lpstr>Helvetica Neue</vt:lpstr>
      <vt:lpstr>苹方-简</vt:lpstr>
      <vt:lpstr>等线</vt:lpstr>
      <vt:lpstr>汉仪中等线KW</vt:lpstr>
      <vt:lpstr>quote-cjk-patch</vt:lpstr>
      <vt:lpstr>Wingdings</vt:lpstr>
      <vt:lpstr>Cambria Math</vt:lpstr>
      <vt:lpstr>Kingsoft Math</vt:lpstr>
      <vt:lpstr>MS Mincho</vt:lpstr>
      <vt:lpstr>黑体</vt:lpstr>
      <vt:lpstr>宋体-简</vt:lpstr>
      <vt:lpstr>Thonburi</vt:lpstr>
      <vt:lpstr>Hiragino Sans</vt:lpstr>
      <vt:lpstr>第一PPT，www.1ppt.com</vt:lpstr>
      <vt:lpstr>第一PPT，www.1ppt.com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Manager>第一PPT</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博士入学</dc:title>
  <dc:creator>第一PPT</dc:creator>
  <cp:keywords>www.1ppt.com</cp:keywords>
  <dc:description>www.1ppt.com</dc:description>
  <cp:lastModifiedBy></cp:lastModifiedBy>
  <cp:revision>56</cp:revision>
  <dcterms:created xsi:type="dcterms:W3CDTF">2026-05-08T08:14:03Z</dcterms:created>
  <dcterms:modified xsi:type="dcterms:W3CDTF">2026-05-08T08:14:03Z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483D898E00304114D0A6F969E0B85284_43</vt:lpwstr>
  </property>
  <property fmtid="{D5CDD505-2E9C-101B-9397-08002B2CF9AE}" pid="3" name="KSOProductBuildVer">
    <vt:lpwstr>2052-6.7.1.8828</vt:lpwstr>
  </property>
  <property fmtid="{D5CDD505-2E9C-101B-9397-08002B2CF9AE}" pid="4" name="KSOTemplateUUID">
    <vt:lpwstr>v1.0_mb_8b76695Nd3GDujFPNvAOlg==</vt:lpwstr>
  </property>
</Properties>
</file>